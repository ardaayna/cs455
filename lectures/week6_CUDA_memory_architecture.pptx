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12192000"/>
  <p:embeddedFontLst>
    <p:embeddedFont>
      <p:font typeface="Play"/>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ekQ8PATB8dpzRCA3i+Vffbgq0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lay-regular.fntdata"/><Relationship Id="rId30" Type="http://schemas.openxmlformats.org/officeDocument/2006/relationships/slide" Target="slides/slide26.xml"/><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Play-bold.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Block is basically divided into a lot of warps and these warps become resident on SMs. (DRAW THE 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block scheduling is basically which blocks get executed on which SMs.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Naturally, block size &lt; SM having number of warps , so one or more than one blocks can be resident on the same SMs.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block can be split across multiple warps available on a SM but a block can’t be split among two SMs.</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5b5df217b602b3c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5b5df217b602b3c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There is no fixed order of block execution , any block can be executed on any SMs given that SMs have enough resources like threads having enough registers. </a:t>
            </a:r>
            <a:br>
              <a:rPr lang="en-US"/>
            </a:br>
            <a:br>
              <a:rPr lang="en-US"/>
            </a:br>
            <a:r>
              <a:rPr lang="en-US"/>
              <a:t>In this example, one possible explanation of B1 not being assigned to SM0 is that SM0 didn’t have enough registers or resources simply to have block 1 because block B1 consumed a lot of resources. so , theoretically, SMs can have two </a:t>
            </a:r>
            <a:r>
              <a:rPr lang="en-US"/>
              <a:t>resident blocks at maximum but the number of blocks that can be resident on any SMs is dependent on the consumption of resident block</a:t>
            </a:r>
            <a:endParaRPr/>
          </a:p>
        </p:txBody>
      </p:sp>
      <p:sp>
        <p:nvSpPr>
          <p:cNvPr id="152" name="Google Shape;152;h5b5df217b602b3c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one level deeper than the SMs =&gt; blocks. </a:t>
            </a:r>
            <a:br>
              <a:rPr lang="en-US"/>
            </a:br>
            <a:br>
              <a:rPr lang="en-US"/>
            </a:br>
            <a:r>
              <a:rPr lang="en-US"/>
              <a:t>So we know one block can have </a:t>
            </a:r>
            <a:r>
              <a:rPr lang="en-US"/>
              <a:t>multiple</a:t>
            </a:r>
            <a:r>
              <a:rPr lang="en-US"/>
              <a:t> warps.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Since the threads have independent tasks , one warp waiting on accessing global memory load doesn’t affect execution of another warps. Some warps may be stalled while other warps are executing instructions or doing computation. That’s why there is the concept of occupancy. </a:t>
            </a:r>
            <a:endParaRPr/>
          </a:p>
        </p:txBody>
      </p:sp>
      <p:sp>
        <p:nvSpPr>
          <p:cNvPr id="208" name="Google Shape;2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1 EXPLANATION: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you have more warps resident on SM referring to same block, then SMs can choose </a:t>
            </a:r>
            <a:r>
              <a:rPr lang="en-US"/>
              <a:t>between multiple warps.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POINT 3 EXPLANATION: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organization is like this grid =&gt; blocks =&gt; threads =&gt; registers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you give a lot of registers to threads then you would have to reduce the number of threads and blocks and eventually warps. </a:t>
            </a:r>
            <a:endParaRPr/>
          </a:p>
        </p:txBody>
      </p:sp>
      <p:sp>
        <p:nvSpPr>
          <p:cNvPr id="243" name="Google Shape;2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Control divergence is the problem when threads inside a particular warp takes on different branch or simply put different instructions. Then the efficiency of that warp drops.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EXPLAIN THIS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THREADS</a:t>
            </a:r>
            <a:endParaRPr/>
          </a:p>
        </p:txBody>
      </p:sp>
      <p:sp>
        <p:nvSpPr>
          <p:cNvPr id="256" name="Google Shape;25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Parallelization is effective only when warps which have multiple threads are able to execute instructions immediately. But there are other </a:t>
            </a:r>
            <a:r>
              <a:rPr lang="en-US"/>
              <a:t>factors</a:t>
            </a:r>
            <a:r>
              <a:rPr lang="en-US"/>
              <a:t> which can </a:t>
            </a:r>
            <a:r>
              <a:rPr lang="en-US"/>
              <a:t>determine how long a task takes on GPU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DATA DEPENDENCY EXAMPLE: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int a = 5;</a:t>
            </a:r>
            <a:endParaRPr/>
          </a:p>
          <a:p>
            <a:pPr indent="0" lvl="0" marL="0" rtl="0" algn="l">
              <a:spcBef>
                <a:spcPts val="0"/>
              </a:spcBef>
              <a:spcAft>
                <a:spcPts val="0"/>
              </a:spcAft>
              <a:buClr>
                <a:schemeClr val="dk1"/>
              </a:buClr>
              <a:buSzPts val="1100"/>
              <a:buFont typeface="Arial"/>
              <a:buNone/>
            </a:pPr>
            <a:r>
              <a:rPr lang="en-US"/>
              <a:t>int b = a + 3;</a:t>
            </a:r>
            <a:endParaRPr/>
          </a:p>
          <a:p>
            <a:pPr indent="0" lvl="0" marL="0" rtl="0" algn="l">
              <a:spcBef>
                <a:spcPts val="0"/>
              </a:spcBef>
              <a:spcAft>
                <a:spcPts val="0"/>
              </a:spcAft>
              <a:buNone/>
            </a:pPr>
            <a:r>
              <a:rPr lang="en-US"/>
              <a:t>int c = b *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EXPLAIN THE SWAP EXAMPLE</a:t>
            </a:r>
            <a:endParaRPr/>
          </a:p>
        </p:txBody>
      </p:sp>
      <p:sp>
        <p:nvSpPr>
          <p:cNvPr id="356" name="Google Shape;35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5b5df217b602b3c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0" name="Google Shape;380;h5b5df217b602b3c7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h5b5df217b602b3c7_0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GPU registers = CPU registers in term of size and speed.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GLOBAL MEMORY:</a:t>
            </a:r>
            <a:endParaRPr/>
          </a:p>
          <a:p>
            <a:pPr indent="0" lvl="0" marL="0" rtl="0" algn="l">
              <a:spcBef>
                <a:spcPts val="0"/>
              </a:spcBef>
              <a:spcAft>
                <a:spcPts val="0"/>
              </a:spcAft>
              <a:buNone/>
            </a:pPr>
            <a:r>
              <a:rPr lang="en-US"/>
              <a:t>APIs like cudaMemCpy(d_A);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GPU threads don’t share address space and registers. </a:t>
            </a:r>
            <a:endParaRPr/>
          </a:p>
        </p:txBody>
      </p:sp>
      <p:sp>
        <p:nvSpPr>
          <p:cNvPr id="453" name="Google Shape;4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GPU has large number of threads and all threads accessing the same memory can cause a lot of synchronization and overhead issues. So GPU wants to batch requests from threads which don’t cause synchronization issues or overhead 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left, all threads accessing the neighouring data </a:t>
            </a:r>
            <a:r>
              <a:rPr lang="en-US"/>
              <a:t>location</a:t>
            </a:r>
            <a:r>
              <a:rPr lang="en-US"/>
              <a:t> , so GPU can batch their requests and execute at once. This would save time in terms of accessing the data.</a:t>
            </a:r>
            <a:br>
              <a:rPr lang="en-US"/>
            </a:br>
            <a:br>
              <a:rPr lang="en-US"/>
            </a:br>
            <a:r>
              <a:rPr lang="en-US"/>
              <a:t>On the right, different threads access </a:t>
            </a:r>
            <a:r>
              <a:rPr lang="en-US"/>
              <a:t>data</a:t>
            </a:r>
            <a:r>
              <a:rPr lang="en-US"/>
              <a:t> at different locations which are ver fary from each other. in this case, GPU executes their requests serially or takes a lot of memory transaction to fulfuill each thread request.</a:t>
            </a:r>
            <a:endParaRPr/>
          </a:p>
        </p:txBody>
      </p:sp>
      <p:sp>
        <p:nvSpPr>
          <p:cNvPr id="532" name="Google Shape;53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xi and yi values will be stored in registers as they are frequently used adn have scalar values like a single value opposed to array, vector,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Increasing register per thread can scarce warps i.e. # warps will reduce, so is the occupancy.</a:t>
            </a:r>
            <a:endParaRPr/>
          </a:p>
        </p:txBody>
      </p:sp>
      <p:sp>
        <p:nvSpPr>
          <p:cNvPr id="629" name="Google Shape;62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In CUDA, a thread has two important kinds of private storage:</a:t>
            </a:r>
            <a:br>
              <a:rPr lang="en-US"/>
            </a:br>
            <a:br>
              <a:rPr lang="en-US"/>
            </a:br>
            <a:r>
              <a:rPr lang="en-US"/>
              <a:t>Registers</a:t>
            </a:r>
            <a:endParaRPr/>
          </a:p>
          <a:p>
            <a:pPr indent="0" lvl="0" marL="0" rtl="0" algn="l">
              <a:spcBef>
                <a:spcPts val="0"/>
              </a:spcBef>
              <a:spcAft>
                <a:spcPts val="0"/>
              </a:spcAft>
              <a:buClr>
                <a:schemeClr val="dk1"/>
              </a:buClr>
              <a:buSzPts val="1100"/>
              <a:buFont typeface="Arial"/>
              <a:buNone/>
            </a:pPr>
            <a:r>
              <a:rPr lang="en-US"/>
              <a:t>→ private to the thread</a:t>
            </a:r>
            <a:endParaRPr/>
          </a:p>
          <a:p>
            <a:pPr indent="0" lvl="0" marL="0" rtl="0" algn="l">
              <a:spcBef>
                <a:spcPts val="0"/>
              </a:spcBef>
              <a:spcAft>
                <a:spcPts val="0"/>
              </a:spcAft>
              <a:buClr>
                <a:schemeClr val="dk1"/>
              </a:buClr>
              <a:buSzPts val="1100"/>
              <a:buFont typeface="Arial"/>
              <a:buNone/>
            </a:pPr>
            <a:r>
              <a:rPr lang="en-US"/>
              <a:t>→ on-chip</a:t>
            </a:r>
            <a:endParaRPr/>
          </a:p>
          <a:p>
            <a:pPr indent="0" lvl="0" marL="0" rtl="0" algn="l">
              <a:spcBef>
                <a:spcPts val="0"/>
              </a:spcBef>
              <a:spcAft>
                <a:spcPts val="0"/>
              </a:spcAft>
              <a:buClr>
                <a:schemeClr val="dk1"/>
              </a:buClr>
              <a:buSzPts val="1100"/>
              <a:buFont typeface="Arial"/>
              <a:buNone/>
            </a:pPr>
            <a:r>
              <a:rPr lang="en-US"/>
              <a:t>→ very fast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Local memory</a:t>
            </a:r>
            <a:endParaRPr/>
          </a:p>
          <a:p>
            <a:pPr indent="0" lvl="0" marL="0" rtl="0" algn="l">
              <a:spcBef>
                <a:spcPts val="0"/>
              </a:spcBef>
              <a:spcAft>
                <a:spcPts val="0"/>
              </a:spcAft>
              <a:buClr>
                <a:schemeClr val="dk1"/>
              </a:buClr>
              <a:buSzPts val="1100"/>
              <a:buFont typeface="Arial"/>
              <a:buNone/>
            </a:pPr>
            <a:r>
              <a:rPr lang="en-US"/>
              <a:t>→ private to the thread</a:t>
            </a:r>
            <a:endParaRPr/>
          </a:p>
          <a:p>
            <a:pPr indent="0" lvl="0" marL="0" rtl="0" algn="l">
              <a:spcBef>
                <a:spcPts val="0"/>
              </a:spcBef>
              <a:spcAft>
                <a:spcPts val="0"/>
              </a:spcAft>
              <a:buClr>
                <a:schemeClr val="dk1"/>
              </a:buClr>
              <a:buSzPts val="1100"/>
              <a:buFont typeface="Arial"/>
              <a:buNone/>
            </a:pPr>
            <a:r>
              <a:rPr lang="en-US"/>
              <a:t>→ usually backed by device/global memory</a:t>
            </a:r>
            <a:endParaRPr/>
          </a:p>
          <a:p>
            <a:pPr indent="0" lvl="0" marL="0" rtl="0" algn="l">
              <a:spcBef>
                <a:spcPts val="0"/>
              </a:spcBef>
              <a:spcAft>
                <a:spcPts val="0"/>
              </a:spcAft>
              <a:buNone/>
            </a:pPr>
            <a:r>
              <a:rPr lang="en-US"/>
              <a:t>→ much higher latency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Register Spilling meaning:</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US"/>
              <a:t>If the thread needs more registers than can be allocated conveniently, some values may be moved into local memory from registers.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sz="1300">
                <a:solidFill>
                  <a:srgbClr val="26384C"/>
                </a:solidFill>
              </a:rPr>
              <a:t>“</a:t>
            </a:r>
            <a:r>
              <a:rPr b="1" i="1" lang="en-US" sz="1300">
                <a:solidFill>
                  <a:srgbClr val="26384C"/>
                </a:solidFill>
              </a:rPr>
              <a:t>Compiler decisions based on indexing and lifetime”</a:t>
            </a:r>
            <a:endParaRPr b="1" i="1" sz="1300">
              <a:solidFill>
                <a:srgbClr val="26384C"/>
              </a:solidFill>
            </a:endParaRPr>
          </a:p>
          <a:p>
            <a:pPr indent="0" lvl="0" marL="0" rtl="0" algn="l">
              <a:spcBef>
                <a:spcPts val="0"/>
              </a:spcBef>
              <a:spcAft>
                <a:spcPts val="0"/>
              </a:spcAft>
              <a:buNone/>
            </a:pPr>
            <a:r>
              <a:t/>
            </a:r>
            <a:endParaRPr b="1" i="1" sz="1300">
              <a:solidFill>
                <a:srgbClr val="26384C"/>
              </a:solidFill>
            </a:endParaRPr>
          </a:p>
          <a:p>
            <a:pPr indent="0" lvl="0" marL="0" rtl="0" algn="l">
              <a:spcBef>
                <a:spcPts val="0"/>
              </a:spcBef>
              <a:spcAft>
                <a:spcPts val="0"/>
              </a:spcAft>
              <a:buClr>
                <a:schemeClr val="dk1"/>
              </a:buClr>
              <a:buSzPts val="1100"/>
              <a:buFont typeface="Arial"/>
              <a:buNone/>
            </a:pPr>
            <a:r>
              <a:rPr lang="en-US" sz="1300">
                <a:solidFill>
                  <a:srgbClr val="26384C"/>
                </a:solidFill>
              </a:rPr>
              <a:t>float a[10];</a:t>
            </a:r>
            <a:endParaRPr sz="1300">
              <a:solidFill>
                <a:srgbClr val="26384C"/>
              </a:solidFill>
            </a:endParaRPr>
          </a:p>
          <a:p>
            <a:pPr indent="0" lvl="0" marL="0" rtl="0" algn="l">
              <a:spcBef>
                <a:spcPts val="0"/>
              </a:spcBef>
              <a:spcAft>
                <a:spcPts val="0"/>
              </a:spcAft>
              <a:buClr>
                <a:schemeClr val="dk1"/>
              </a:buClr>
              <a:buSzPts val="1100"/>
              <a:buFont typeface="Arial"/>
              <a:buNone/>
            </a:pPr>
            <a:r>
              <a:t/>
            </a:r>
            <a:endParaRPr sz="1300">
              <a:solidFill>
                <a:srgbClr val="26384C"/>
              </a:solidFill>
            </a:endParaRPr>
          </a:p>
          <a:p>
            <a:pPr indent="0" lvl="0" marL="0" rtl="0" algn="l">
              <a:spcBef>
                <a:spcPts val="0"/>
              </a:spcBef>
              <a:spcAft>
                <a:spcPts val="0"/>
              </a:spcAft>
              <a:buClr>
                <a:schemeClr val="dk1"/>
              </a:buClr>
              <a:buSzPts val="1100"/>
              <a:buFont typeface="Arial"/>
              <a:buNone/>
            </a:pPr>
            <a:r>
              <a:rPr lang="en-US" sz="1300">
                <a:solidFill>
                  <a:srgbClr val="26384C"/>
                </a:solidFill>
              </a:rPr>
              <a:t>int j = some_runtime_value;</a:t>
            </a:r>
            <a:endParaRPr sz="1300">
              <a:solidFill>
                <a:srgbClr val="26384C"/>
              </a:solidFill>
            </a:endParaRPr>
          </a:p>
          <a:p>
            <a:pPr indent="0" lvl="0" marL="0" rtl="0" algn="l">
              <a:spcBef>
                <a:spcPts val="0"/>
              </a:spcBef>
              <a:spcAft>
                <a:spcPts val="0"/>
              </a:spcAft>
              <a:buClr>
                <a:schemeClr val="dk1"/>
              </a:buClr>
              <a:buSzPts val="1100"/>
              <a:buFont typeface="Arial"/>
              <a:buNone/>
            </a:pPr>
            <a:r>
              <a:t/>
            </a:r>
            <a:endParaRPr sz="1300">
              <a:solidFill>
                <a:srgbClr val="26384C"/>
              </a:solidFill>
            </a:endParaRPr>
          </a:p>
          <a:p>
            <a:pPr indent="0" lvl="0" marL="0" rtl="0" algn="l">
              <a:spcBef>
                <a:spcPts val="0"/>
              </a:spcBef>
              <a:spcAft>
                <a:spcPts val="0"/>
              </a:spcAft>
              <a:buNone/>
            </a:pPr>
            <a:r>
              <a:rPr lang="en-US" sz="1300">
                <a:solidFill>
                  <a:srgbClr val="26384C"/>
                </a:solidFill>
              </a:rPr>
              <a:t>x = a[j];</a:t>
            </a:r>
            <a:endParaRPr sz="1300">
              <a:solidFill>
                <a:srgbClr val="26384C"/>
              </a:solidFill>
            </a:endParaRPr>
          </a:p>
          <a:p>
            <a:pPr indent="0" lvl="0" marL="0" rtl="0" algn="l">
              <a:spcBef>
                <a:spcPts val="0"/>
              </a:spcBef>
              <a:spcAft>
                <a:spcPts val="0"/>
              </a:spcAft>
              <a:buNone/>
            </a:pPr>
            <a:r>
              <a:t/>
            </a:r>
            <a:endParaRPr sz="1300">
              <a:solidFill>
                <a:srgbClr val="26384C"/>
              </a:solidFill>
            </a:endParaRPr>
          </a:p>
          <a:p>
            <a:pPr indent="0" lvl="0" marL="0" rtl="0" algn="l">
              <a:spcBef>
                <a:spcPts val="0"/>
              </a:spcBef>
              <a:spcAft>
                <a:spcPts val="0"/>
              </a:spcAft>
              <a:buNone/>
            </a:pPr>
            <a:r>
              <a:rPr lang="en-US" sz="1300">
                <a:solidFill>
                  <a:srgbClr val="26384C"/>
                </a:solidFill>
              </a:rPr>
              <a:t>in this example, for j, NOT REGISTER BUT LOCAL MEMORY WILL BE CHOSEN AS VALUE OF J DEPENDS ON RUNTIME.</a:t>
            </a:r>
            <a:endParaRPr sz="1300">
              <a:solidFill>
                <a:srgbClr val="26384C"/>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r>
              <a:rPr b="1" i="1" lang="en-US" sz="1300">
                <a:solidFill>
                  <a:srgbClr val="26384C"/>
                </a:solidFill>
              </a:rPr>
              <a:t>Scope is per-thread, but physical access can have global-memory-like latency</a:t>
            </a:r>
            <a:r>
              <a:rPr lang="en-US"/>
              <a:t>”</a:t>
            </a:r>
            <a:endParaRPr/>
          </a:p>
          <a:p>
            <a:pPr indent="0" lvl="0" marL="0" rtl="0" algn="l">
              <a:spcBef>
                <a:spcPts val="0"/>
              </a:spcBef>
              <a:spcAft>
                <a:spcPts val="0"/>
              </a:spcAft>
              <a:buNone/>
            </a:pPr>
            <a:r>
              <a:rPr lang="en-US"/>
              <a:t>Local memory acts like registers but their latency is similar to the global-memory like latency.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177800" lvl="0" marL="177800" rtl="0" algn="l">
              <a:spcBef>
                <a:spcPts val="0"/>
              </a:spcBef>
              <a:spcAft>
                <a:spcPts val="0"/>
              </a:spcAft>
              <a:buClr>
                <a:srgbClr val="26384C"/>
              </a:buClr>
              <a:buSzPts val="1300"/>
              <a:buChar char="•"/>
            </a:pPr>
            <a:r>
              <a:rPr lang="en-US" sz="1300">
                <a:solidFill>
                  <a:srgbClr val="26384C"/>
                </a:solidFill>
              </a:rPr>
              <a:t>Caching helps, but spills can still be expensive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Caching can help by storing values </a:t>
            </a:r>
            <a:r>
              <a:rPr lang="en-US"/>
              <a:t>being repeatedly accessed from the local memory.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47" name="Google Shape;64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Shared memory is organized into tiles.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slide show how each threads fills one element in one tile so that whole tile 16 x 16 = 256 tiles can be filled up quickly and the execution proceeds as soon as possible. </a:t>
            </a:r>
            <a:br>
              <a:rPr lang="en-US"/>
            </a:br>
            <a:br>
              <a:rPr lang="en-US"/>
            </a:br>
            <a:r>
              <a:rPr lang="en-US"/>
              <a:t>synchthreads() is for making sure that all tiles are filled by the threads and the tile is ready for computation.</a:t>
            </a:r>
            <a:endParaRPr/>
          </a:p>
        </p:txBody>
      </p:sp>
      <p:sp>
        <p:nvSpPr>
          <p:cNvPr id="664" name="Google Shape;66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SLIDE IS SELF EXPLANATORY.</a:t>
            </a:r>
            <a:endParaRPr/>
          </a:p>
        </p:txBody>
      </p:sp>
      <p:sp>
        <p:nvSpPr>
          <p:cNvPr id="682" name="Google Shape;68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of a coefficient in </a:t>
            </a:r>
            <a:r>
              <a:rPr lang="en-US"/>
              <a:t>physics like simulation in physics might use gravity constant</a:t>
            </a:r>
            <a:r>
              <a:rPr lang="en-US"/>
              <a:t>, such constant values can be stored into these read_only constant memory whose values doesn’t change during entire program execution .</a:t>
            </a:r>
            <a:endParaRPr/>
          </a:p>
        </p:txBody>
      </p:sp>
      <p:sp>
        <p:nvSpPr>
          <p:cNvPr id="738" name="Google Shape;73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ctr">
              <a:spcBef>
                <a:spcPts val="0"/>
              </a:spcBef>
              <a:spcAft>
                <a:spcPts val="0"/>
              </a:spcAft>
              <a:buNone/>
            </a:pPr>
            <a:r>
              <a:rPr b="1" lang="en-US">
                <a:solidFill>
                  <a:srgbClr val="D4483B"/>
                </a:solidFill>
              </a:rPr>
              <a:t>ASK STUDENTS WHAT PROBLEM IT DEPICTS?</a:t>
            </a:r>
            <a:endParaRPr b="1">
              <a:solidFill>
                <a:srgbClr val="D4483B"/>
              </a:solidFill>
            </a:endParaRPr>
          </a:p>
          <a:p>
            <a:pPr indent="-317500" lvl="0" marL="457200" rtl="0" algn="ctr">
              <a:spcBef>
                <a:spcPts val="0"/>
              </a:spcBef>
              <a:spcAft>
                <a:spcPts val="0"/>
              </a:spcAft>
              <a:buSzPts val="1400"/>
              <a:buAutoNum type="arabicPeriod"/>
            </a:pPr>
            <a:r>
              <a:rPr b="1" lang="en-US">
                <a:solidFill>
                  <a:srgbClr val="D4483B"/>
                </a:solidFill>
              </a:rPr>
              <a:t>Control divergence</a:t>
            </a:r>
            <a:endParaRPr b="1">
              <a:solidFill>
                <a:srgbClr val="D4483B"/>
              </a:solidFill>
            </a:endParaRPr>
          </a:p>
          <a:p>
            <a:pPr indent="-317500" lvl="0" marL="457200" rtl="0" algn="ctr">
              <a:spcBef>
                <a:spcPts val="0"/>
              </a:spcBef>
              <a:spcAft>
                <a:spcPts val="0"/>
              </a:spcAft>
              <a:buClr>
                <a:srgbClr val="D4483B"/>
              </a:buClr>
              <a:buSzPts val="1400"/>
              <a:buAutoNum type="arabicPeriod"/>
            </a:pPr>
            <a:r>
              <a:rPr b="1" lang="en-US">
                <a:solidFill>
                  <a:srgbClr val="C27A12"/>
                </a:solidFill>
              </a:rPr>
              <a:t>Low residency / occupancy pressure</a:t>
            </a:r>
            <a:endParaRPr/>
          </a:p>
          <a:p>
            <a:pPr indent="-317500" lvl="0" marL="457200" rtl="0" algn="ctr">
              <a:spcBef>
                <a:spcPts val="0"/>
              </a:spcBef>
              <a:spcAft>
                <a:spcPts val="0"/>
              </a:spcAft>
              <a:buClr>
                <a:srgbClr val="D4483B"/>
              </a:buClr>
              <a:buSzPts val="1400"/>
              <a:buAutoNum type="arabicPeriod"/>
            </a:pPr>
            <a:r>
              <a:rPr b="1" lang="en-US">
                <a:solidFill>
                  <a:srgbClr val="1F6FA5"/>
                </a:solidFill>
              </a:rPr>
              <a:t>Poor global-memory locality / coalescing</a:t>
            </a:r>
            <a:endParaRPr/>
          </a:p>
          <a:p>
            <a:pPr indent="-317500" lvl="0" marL="457200" rtl="0" algn="ctr">
              <a:spcBef>
                <a:spcPts val="0"/>
              </a:spcBef>
              <a:spcAft>
                <a:spcPts val="0"/>
              </a:spcAft>
              <a:buClr>
                <a:srgbClr val="D4483B"/>
              </a:buClr>
              <a:buSzPts val="1400"/>
              <a:buAutoNum type="arabicPeriod"/>
            </a:pPr>
            <a:r>
              <a:rPr b="1" lang="en-US">
                <a:solidFill>
                  <a:srgbClr val="67C300"/>
                </a:solidFill>
              </a:rPr>
              <a:t>Latency Tolerance</a:t>
            </a:r>
            <a:endParaRPr/>
          </a:p>
          <a:p>
            <a:pPr indent="-317500" lvl="0" marL="457200" rtl="0" algn="ctr">
              <a:spcBef>
                <a:spcPts val="0"/>
              </a:spcBef>
              <a:spcAft>
                <a:spcPts val="0"/>
              </a:spcAft>
              <a:buClr>
                <a:srgbClr val="D4483B"/>
              </a:buClr>
              <a:buSzPts val="1400"/>
              <a:buAutoNum type="arabicPeriod"/>
            </a:pPr>
            <a:r>
              <a:rPr b="1" lang="en-US">
                <a:solidFill>
                  <a:srgbClr val="1493A3"/>
                </a:solidFill>
              </a:rPr>
              <a:t>Local-memory traffic</a:t>
            </a:r>
            <a:endParaRPr/>
          </a:p>
          <a:p>
            <a:pPr indent="0" lvl="0" marL="457200" rtl="0" algn="ctr">
              <a:spcBef>
                <a:spcPts val="0"/>
              </a:spcBef>
              <a:spcAft>
                <a:spcPts val="0"/>
              </a:spcAft>
              <a:buNone/>
            </a:pPr>
            <a:r>
              <a:t/>
            </a:r>
            <a:endParaRPr b="1">
              <a:solidFill>
                <a:srgbClr val="D4483B"/>
              </a:solidFill>
            </a:endParaRPr>
          </a:p>
        </p:txBody>
      </p:sp>
      <p:sp>
        <p:nvSpPr>
          <p:cNvPr id="814" name="Google Shape;81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S455">
  <p:cSld name="CS455">
    <p:bg>
      <p:bgPr>
        <a:solidFill>
          <a:srgbClr val="F4F7FB"/>
        </a:solidFill>
      </p:bgPr>
    </p:bg>
    <p:spTree>
      <p:nvGrpSpPr>
        <p:cNvPr id="11" name="Shape 11"/>
        <p:cNvGrpSpPr/>
        <p:nvPr/>
      </p:nvGrpSpPr>
      <p:grpSpPr>
        <a:xfrm>
          <a:off x="0" y="0"/>
          <a:ext cx="0" cy="0"/>
          <a:chOff x="0" y="0"/>
          <a:chExt cx="0" cy="0"/>
        </a:xfrm>
      </p:grpSpPr>
      <p:sp>
        <p:nvSpPr>
          <p:cNvPr id="12" name="Google Shape;12;p28"/>
          <p:cNvSpPr/>
          <p:nvPr/>
        </p:nvSpPr>
        <p:spPr>
          <a:xfrm>
            <a:off x="0" y="0"/>
            <a:ext cx="12191695" cy="73152"/>
          </a:xfrm>
          <a:prstGeom prst="rect">
            <a:avLst/>
          </a:prstGeom>
          <a:solidFill>
            <a:srgbClr val="1B5C89"/>
          </a:solidFill>
          <a:ln cap="flat" cmpd="sng" w="12700">
            <a:solidFill>
              <a:srgbClr val="1B5C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8"/>
          <p:cNvSpPr/>
          <p:nvPr/>
        </p:nvSpPr>
        <p:spPr>
          <a:xfrm>
            <a:off x="502920" y="6519672"/>
            <a:ext cx="38404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086"/>
              </a:buClr>
              <a:buSzPts val="750"/>
              <a:buFont typeface="Arial"/>
              <a:buNone/>
            </a:pPr>
            <a:r>
              <a:rPr b="0" i="0" lang="en-US" sz="750" u="none" cap="none" strike="noStrike">
                <a:solidFill>
                  <a:srgbClr val="5E7086"/>
                </a:solidFill>
                <a:latin typeface="Arial"/>
                <a:ea typeface="Arial"/>
                <a:cs typeface="Arial"/>
                <a:sym typeface="Arial"/>
              </a:rPr>
              <a:t>CS455 — Intro GPU Cluster Programming</a:t>
            </a:r>
            <a:endParaRPr b="0" i="0" sz="750" u="none" cap="none" strike="noStrike">
              <a:solidFill>
                <a:schemeClr val="dk1"/>
              </a:solidFill>
              <a:latin typeface="Arial"/>
              <a:ea typeface="Arial"/>
              <a:cs typeface="Arial"/>
              <a:sym typeface="Arial"/>
            </a:endParaRPr>
          </a:p>
        </p:txBody>
      </p:sp>
      <p:sp>
        <p:nvSpPr>
          <p:cNvPr id="14" name="Google Shape;14;p28"/>
          <p:cNvSpPr/>
          <p:nvPr/>
        </p:nvSpPr>
        <p:spPr>
          <a:xfrm>
            <a:off x="9464040" y="6519672"/>
            <a:ext cx="21488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7086"/>
              </a:buClr>
              <a:buSzPts val="750"/>
              <a:buFont typeface="Arial"/>
              <a:buNone/>
            </a:pPr>
            <a:r>
              <a:rPr b="0" i="0" lang="en-US" sz="750" u="none" cap="none" strike="noStrike">
                <a:solidFill>
                  <a:srgbClr val="5E7086"/>
                </a:solidFill>
                <a:latin typeface="Arial"/>
                <a:ea typeface="Arial"/>
                <a:cs typeface="Arial"/>
                <a:sym typeface="Arial"/>
              </a:rPr>
              <a:t>CUDA: Execution + Memory</a:t>
            </a:r>
            <a:endParaRPr b="0" i="0" sz="750" u="none" cap="none" strike="noStrike">
              <a:solidFill>
                <a:schemeClr val="dk1"/>
              </a:solidFill>
              <a:latin typeface="Arial"/>
              <a:ea typeface="Arial"/>
              <a:cs typeface="Arial"/>
              <a:sym typeface="Arial"/>
            </a:endParaRPr>
          </a:p>
        </p:txBody>
      </p:sp>
      <p:sp>
        <p:nvSpPr>
          <p:cNvPr id="15" name="Google Shape;15;p28"/>
          <p:cNvSpPr txBox="1"/>
          <p:nvPr>
            <p:ph idx="12"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750" u="none" cap="none" strike="noStrike">
                <a:solidFill>
                  <a:srgbClr val="5E7086"/>
                </a:solidFill>
                <a:latin typeface="Arial"/>
                <a:ea typeface="Arial"/>
                <a:cs typeface="Arial"/>
                <a:sym typeface="Arial"/>
              </a:defRPr>
            </a:lvl1pPr>
            <a:lvl2pPr indent="0" lvl="1" marL="0" marR="0" algn="l">
              <a:spcBef>
                <a:spcPts val="0"/>
              </a:spcBef>
              <a:buNone/>
              <a:defRPr b="0" i="0" sz="750" u="none" cap="none" strike="noStrike">
                <a:solidFill>
                  <a:srgbClr val="5E7086"/>
                </a:solidFill>
                <a:latin typeface="Arial"/>
                <a:ea typeface="Arial"/>
                <a:cs typeface="Arial"/>
                <a:sym typeface="Arial"/>
              </a:defRPr>
            </a:lvl2pPr>
            <a:lvl3pPr indent="0" lvl="2" marL="0" marR="0" algn="l">
              <a:spcBef>
                <a:spcPts val="0"/>
              </a:spcBef>
              <a:buNone/>
              <a:defRPr b="0" i="0" sz="750" u="none" cap="none" strike="noStrike">
                <a:solidFill>
                  <a:srgbClr val="5E7086"/>
                </a:solidFill>
                <a:latin typeface="Arial"/>
                <a:ea typeface="Arial"/>
                <a:cs typeface="Arial"/>
                <a:sym typeface="Arial"/>
              </a:defRPr>
            </a:lvl3pPr>
            <a:lvl4pPr indent="0" lvl="3" marL="0" marR="0" algn="l">
              <a:spcBef>
                <a:spcPts val="0"/>
              </a:spcBef>
              <a:buNone/>
              <a:defRPr b="0" i="0" sz="750" u="none" cap="none" strike="noStrike">
                <a:solidFill>
                  <a:srgbClr val="5E7086"/>
                </a:solidFill>
                <a:latin typeface="Arial"/>
                <a:ea typeface="Arial"/>
                <a:cs typeface="Arial"/>
                <a:sym typeface="Arial"/>
              </a:defRPr>
            </a:lvl4pPr>
            <a:lvl5pPr indent="0" lvl="4" marL="0" marR="0" algn="l">
              <a:spcBef>
                <a:spcPts val="0"/>
              </a:spcBef>
              <a:buNone/>
              <a:defRPr b="0" i="0" sz="750" u="none" cap="none" strike="noStrike">
                <a:solidFill>
                  <a:srgbClr val="5E7086"/>
                </a:solidFill>
                <a:latin typeface="Arial"/>
                <a:ea typeface="Arial"/>
                <a:cs typeface="Arial"/>
                <a:sym typeface="Arial"/>
              </a:defRPr>
            </a:lvl5pPr>
            <a:lvl6pPr indent="0" lvl="5" marL="0" marR="0" algn="l">
              <a:spcBef>
                <a:spcPts val="0"/>
              </a:spcBef>
              <a:buNone/>
              <a:defRPr b="0" i="0" sz="750" u="none" cap="none" strike="noStrike">
                <a:solidFill>
                  <a:srgbClr val="5E7086"/>
                </a:solidFill>
                <a:latin typeface="Arial"/>
                <a:ea typeface="Arial"/>
                <a:cs typeface="Arial"/>
                <a:sym typeface="Arial"/>
              </a:defRPr>
            </a:lvl6pPr>
            <a:lvl7pPr indent="0" lvl="6" marL="0" marR="0" algn="l">
              <a:spcBef>
                <a:spcPts val="0"/>
              </a:spcBef>
              <a:buNone/>
              <a:defRPr b="0" i="0" sz="750" u="none" cap="none" strike="noStrike">
                <a:solidFill>
                  <a:srgbClr val="5E7086"/>
                </a:solidFill>
                <a:latin typeface="Arial"/>
                <a:ea typeface="Arial"/>
                <a:cs typeface="Arial"/>
                <a:sym typeface="Arial"/>
              </a:defRPr>
            </a:lvl7pPr>
            <a:lvl8pPr indent="0" lvl="7" marL="0" marR="0" algn="l">
              <a:spcBef>
                <a:spcPts val="0"/>
              </a:spcBef>
              <a:buNone/>
              <a:defRPr b="0" i="0" sz="750" u="none" cap="none" strike="noStrike">
                <a:solidFill>
                  <a:srgbClr val="5E7086"/>
                </a:solidFill>
                <a:latin typeface="Arial"/>
                <a:ea typeface="Arial"/>
                <a:cs typeface="Arial"/>
                <a:sym typeface="Arial"/>
              </a:defRPr>
            </a:lvl8pPr>
            <a:lvl9pPr indent="0" lvl="8" marL="0" marR="0" algn="l">
              <a:spcBef>
                <a:spcPts val="0"/>
              </a:spcBef>
              <a:buNone/>
              <a:defRPr b="0" i="0" sz="750" u="none" cap="none" strike="noStrike">
                <a:solidFill>
                  <a:srgbClr val="5E7086"/>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27"/>
          <p:cNvSpPr txBox="1"/>
          <p:nvPr>
            <p:ph idx="12"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750" u="none" cap="none" strike="noStrike">
                <a:solidFill>
                  <a:srgbClr val="5E7086"/>
                </a:solidFill>
                <a:latin typeface="Arial"/>
                <a:ea typeface="Arial"/>
                <a:cs typeface="Arial"/>
                <a:sym typeface="Arial"/>
              </a:defRPr>
            </a:lvl1pPr>
            <a:lvl2pPr indent="0" lvl="1" marL="0" marR="0" rtl="0" algn="l">
              <a:spcBef>
                <a:spcPts val="0"/>
              </a:spcBef>
              <a:buNone/>
              <a:defRPr b="0" i="0" sz="750" u="none" cap="none" strike="noStrike">
                <a:solidFill>
                  <a:srgbClr val="5E7086"/>
                </a:solidFill>
                <a:latin typeface="Arial"/>
                <a:ea typeface="Arial"/>
                <a:cs typeface="Arial"/>
                <a:sym typeface="Arial"/>
              </a:defRPr>
            </a:lvl2pPr>
            <a:lvl3pPr indent="0" lvl="2" marL="0" marR="0" rtl="0" algn="l">
              <a:spcBef>
                <a:spcPts val="0"/>
              </a:spcBef>
              <a:buNone/>
              <a:defRPr b="0" i="0" sz="750" u="none" cap="none" strike="noStrike">
                <a:solidFill>
                  <a:srgbClr val="5E7086"/>
                </a:solidFill>
                <a:latin typeface="Arial"/>
                <a:ea typeface="Arial"/>
                <a:cs typeface="Arial"/>
                <a:sym typeface="Arial"/>
              </a:defRPr>
            </a:lvl3pPr>
            <a:lvl4pPr indent="0" lvl="3" marL="0" marR="0" rtl="0" algn="l">
              <a:spcBef>
                <a:spcPts val="0"/>
              </a:spcBef>
              <a:buNone/>
              <a:defRPr b="0" i="0" sz="750" u="none" cap="none" strike="noStrike">
                <a:solidFill>
                  <a:srgbClr val="5E7086"/>
                </a:solidFill>
                <a:latin typeface="Arial"/>
                <a:ea typeface="Arial"/>
                <a:cs typeface="Arial"/>
                <a:sym typeface="Arial"/>
              </a:defRPr>
            </a:lvl4pPr>
            <a:lvl5pPr indent="0" lvl="4" marL="0" marR="0" rtl="0" algn="l">
              <a:spcBef>
                <a:spcPts val="0"/>
              </a:spcBef>
              <a:buNone/>
              <a:defRPr b="0" i="0" sz="750" u="none" cap="none" strike="noStrike">
                <a:solidFill>
                  <a:srgbClr val="5E7086"/>
                </a:solidFill>
                <a:latin typeface="Arial"/>
                <a:ea typeface="Arial"/>
                <a:cs typeface="Arial"/>
                <a:sym typeface="Arial"/>
              </a:defRPr>
            </a:lvl5pPr>
            <a:lvl6pPr indent="0" lvl="5" marL="0" marR="0" rtl="0" algn="l">
              <a:spcBef>
                <a:spcPts val="0"/>
              </a:spcBef>
              <a:buNone/>
              <a:defRPr b="0" i="0" sz="750" u="none" cap="none" strike="noStrike">
                <a:solidFill>
                  <a:srgbClr val="5E7086"/>
                </a:solidFill>
                <a:latin typeface="Arial"/>
                <a:ea typeface="Arial"/>
                <a:cs typeface="Arial"/>
                <a:sym typeface="Arial"/>
              </a:defRPr>
            </a:lvl6pPr>
            <a:lvl7pPr indent="0" lvl="6" marL="0" marR="0" rtl="0" algn="l">
              <a:spcBef>
                <a:spcPts val="0"/>
              </a:spcBef>
              <a:buNone/>
              <a:defRPr b="0" i="0" sz="750" u="none" cap="none" strike="noStrike">
                <a:solidFill>
                  <a:srgbClr val="5E7086"/>
                </a:solidFill>
                <a:latin typeface="Arial"/>
                <a:ea typeface="Arial"/>
                <a:cs typeface="Arial"/>
                <a:sym typeface="Arial"/>
              </a:defRPr>
            </a:lvl7pPr>
            <a:lvl8pPr indent="0" lvl="7" marL="0" marR="0" rtl="0" algn="l">
              <a:spcBef>
                <a:spcPts val="0"/>
              </a:spcBef>
              <a:buNone/>
              <a:defRPr b="0" i="0" sz="750" u="none" cap="none" strike="noStrike">
                <a:solidFill>
                  <a:srgbClr val="5E7086"/>
                </a:solidFill>
                <a:latin typeface="Arial"/>
                <a:ea typeface="Arial"/>
                <a:cs typeface="Arial"/>
                <a:sym typeface="Arial"/>
              </a:defRPr>
            </a:lvl8pPr>
            <a:lvl9pPr indent="0" lvl="8" marL="0" marR="0" rtl="0" algn="l">
              <a:spcBef>
                <a:spcPts val="0"/>
              </a:spcBef>
              <a:buNone/>
              <a:defRPr b="0" i="0" sz="750" u="none" cap="none" strike="noStrike">
                <a:solidFill>
                  <a:srgbClr val="5E7086"/>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1"/>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Table of Contents</a:t>
            </a:r>
            <a:endParaRPr b="0" i="0" sz="2500" u="none" cap="none" strike="noStrike">
              <a:solidFill>
                <a:schemeClr val="dk1"/>
              </a:solidFill>
              <a:latin typeface="Arial"/>
              <a:ea typeface="Arial"/>
              <a:cs typeface="Arial"/>
              <a:sym typeface="Arial"/>
            </a:endParaRPr>
          </a:p>
        </p:txBody>
      </p:sp>
      <p:sp>
        <p:nvSpPr>
          <p:cNvPr id="23" name="Google Shape;23;p1"/>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CUDA execution + memory architecture</a:t>
            </a:r>
            <a:endParaRPr b="0" i="0" sz="1150" u="none" cap="none" strike="noStrike">
              <a:solidFill>
                <a:schemeClr val="dk1"/>
              </a:solidFill>
              <a:latin typeface="Arial"/>
              <a:ea typeface="Arial"/>
              <a:cs typeface="Arial"/>
              <a:sym typeface="Arial"/>
            </a:endParaRPr>
          </a:p>
        </p:txBody>
      </p:sp>
      <p:sp>
        <p:nvSpPr>
          <p:cNvPr id="24" name="Google Shape;24;p1"/>
          <p:cNvSpPr/>
          <p:nvPr/>
        </p:nvSpPr>
        <p:spPr>
          <a:xfrm>
            <a:off x="822960" y="1325880"/>
            <a:ext cx="1056132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822960" y="1325880"/>
            <a:ext cx="73152" cy="658368"/>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1051560" y="1435608"/>
            <a:ext cx="320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A5"/>
              </a:buClr>
              <a:buSzPts val="1800"/>
              <a:buFont typeface="Arial"/>
              <a:buNone/>
            </a:pPr>
            <a:r>
              <a:rPr b="1" i="0" lang="en-US" sz="1800" u="none" cap="none" strike="noStrike">
                <a:solidFill>
                  <a:srgbClr val="1F6FA5"/>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27" name="Google Shape;27;p1"/>
          <p:cNvSpPr/>
          <p:nvPr/>
        </p:nvSpPr>
        <p:spPr>
          <a:xfrm>
            <a:off x="1508760" y="1399032"/>
            <a:ext cx="2423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Block scheduling</a:t>
            </a:r>
            <a:endParaRPr b="0" i="0" sz="1600" u="none" cap="none" strike="noStrike">
              <a:solidFill>
                <a:schemeClr val="dk1"/>
              </a:solidFill>
              <a:latin typeface="Arial"/>
              <a:ea typeface="Arial"/>
              <a:cs typeface="Arial"/>
              <a:sym typeface="Arial"/>
            </a:endParaRPr>
          </a:p>
        </p:txBody>
      </p:sp>
      <p:sp>
        <p:nvSpPr>
          <p:cNvPr id="28" name="Google Shape;28;p1"/>
          <p:cNvSpPr/>
          <p:nvPr/>
        </p:nvSpPr>
        <p:spPr>
          <a:xfrm>
            <a:off x="3886200" y="1417320"/>
            <a:ext cx="7086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What happens after a grid is launched; residency, resources, occupancy</a:t>
            </a:r>
            <a:endParaRPr b="0" i="0" sz="1150" u="none" cap="none" strike="noStrike">
              <a:solidFill>
                <a:schemeClr val="dk1"/>
              </a:solidFill>
              <a:latin typeface="Arial"/>
              <a:ea typeface="Arial"/>
              <a:cs typeface="Arial"/>
              <a:sym typeface="Arial"/>
            </a:endParaRPr>
          </a:p>
        </p:txBody>
      </p:sp>
      <p:sp>
        <p:nvSpPr>
          <p:cNvPr id="29" name="Google Shape;29;p1"/>
          <p:cNvSpPr/>
          <p:nvPr/>
        </p:nvSpPr>
        <p:spPr>
          <a:xfrm>
            <a:off x="822960" y="2194560"/>
            <a:ext cx="1056132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822960" y="2194560"/>
            <a:ext cx="73152" cy="658368"/>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1051560" y="2304288"/>
            <a:ext cx="320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800"/>
              <a:buFont typeface="Arial"/>
              <a:buNone/>
            </a:pPr>
            <a:r>
              <a:rPr b="1" i="0" lang="en-US" sz="1800" u="none" cap="none" strike="noStrike">
                <a:solidFill>
                  <a:srgbClr val="67C300"/>
                </a:solidFill>
                <a:latin typeface="Arial"/>
                <a:ea typeface="Arial"/>
                <a:cs typeface="Arial"/>
                <a:sym typeface="Arial"/>
              </a:rPr>
              <a:t>2</a:t>
            </a:r>
            <a:endParaRPr b="0" i="0" sz="1800" u="none" cap="none" strike="noStrike">
              <a:solidFill>
                <a:schemeClr val="dk1"/>
              </a:solidFill>
              <a:latin typeface="Arial"/>
              <a:ea typeface="Arial"/>
              <a:cs typeface="Arial"/>
              <a:sym typeface="Arial"/>
            </a:endParaRPr>
          </a:p>
        </p:txBody>
      </p:sp>
      <p:sp>
        <p:nvSpPr>
          <p:cNvPr id="32" name="Google Shape;32;p1"/>
          <p:cNvSpPr/>
          <p:nvPr/>
        </p:nvSpPr>
        <p:spPr>
          <a:xfrm>
            <a:off x="1508760" y="2267712"/>
            <a:ext cx="2423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Control divergence</a:t>
            </a:r>
            <a:endParaRPr b="0" i="0" sz="1600" u="none" cap="none" strike="noStrike">
              <a:solidFill>
                <a:schemeClr val="dk1"/>
              </a:solidFill>
              <a:latin typeface="Arial"/>
              <a:ea typeface="Arial"/>
              <a:cs typeface="Arial"/>
              <a:sym typeface="Arial"/>
            </a:endParaRPr>
          </a:p>
        </p:txBody>
      </p:sp>
      <p:sp>
        <p:nvSpPr>
          <p:cNvPr id="33" name="Google Shape;33;p1"/>
          <p:cNvSpPr/>
          <p:nvPr/>
        </p:nvSpPr>
        <p:spPr>
          <a:xfrm>
            <a:off x="3886200" y="2286000"/>
            <a:ext cx="7086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Why branches inside a warp can waste execution lanes</a:t>
            </a:r>
            <a:endParaRPr b="0" i="0" sz="1150" u="none" cap="none" strike="noStrike">
              <a:solidFill>
                <a:schemeClr val="dk1"/>
              </a:solidFill>
              <a:latin typeface="Arial"/>
              <a:ea typeface="Arial"/>
              <a:cs typeface="Arial"/>
              <a:sym typeface="Arial"/>
            </a:endParaRPr>
          </a:p>
        </p:txBody>
      </p:sp>
      <p:sp>
        <p:nvSpPr>
          <p:cNvPr id="34" name="Google Shape;34;p1"/>
          <p:cNvSpPr/>
          <p:nvPr/>
        </p:nvSpPr>
        <p:spPr>
          <a:xfrm>
            <a:off x="822960" y="3063240"/>
            <a:ext cx="1056132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822960" y="3063240"/>
            <a:ext cx="73152" cy="658368"/>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1051560" y="3172968"/>
            <a:ext cx="320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3A3"/>
              </a:buClr>
              <a:buSzPts val="1800"/>
              <a:buFont typeface="Arial"/>
              <a:buNone/>
            </a:pPr>
            <a:r>
              <a:rPr b="1" i="0" lang="en-US" sz="1800" u="none" cap="none" strike="noStrike">
                <a:solidFill>
                  <a:srgbClr val="1493A3"/>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37" name="Google Shape;37;p1"/>
          <p:cNvSpPr/>
          <p:nvPr/>
        </p:nvSpPr>
        <p:spPr>
          <a:xfrm>
            <a:off x="1508760" y="3136392"/>
            <a:ext cx="2423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Latency tolerance</a:t>
            </a:r>
            <a:endParaRPr b="0" i="0" sz="1600" u="none" cap="none" strike="noStrike">
              <a:solidFill>
                <a:schemeClr val="dk1"/>
              </a:solidFill>
              <a:latin typeface="Arial"/>
              <a:ea typeface="Arial"/>
              <a:cs typeface="Arial"/>
              <a:sym typeface="Arial"/>
            </a:endParaRPr>
          </a:p>
        </p:txBody>
      </p:sp>
      <p:sp>
        <p:nvSpPr>
          <p:cNvPr id="38" name="Google Shape;38;p1"/>
          <p:cNvSpPr/>
          <p:nvPr/>
        </p:nvSpPr>
        <p:spPr>
          <a:xfrm>
            <a:off x="3886200" y="3154680"/>
            <a:ext cx="7086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How ready warps hide long-latency operations</a:t>
            </a:r>
            <a:endParaRPr b="0" i="0" sz="1150" u="none" cap="none" strike="noStrike">
              <a:solidFill>
                <a:schemeClr val="dk1"/>
              </a:solidFill>
              <a:latin typeface="Arial"/>
              <a:ea typeface="Arial"/>
              <a:cs typeface="Arial"/>
              <a:sym typeface="Arial"/>
            </a:endParaRPr>
          </a:p>
        </p:txBody>
      </p:sp>
      <p:sp>
        <p:nvSpPr>
          <p:cNvPr id="39" name="Google Shape;39;p1"/>
          <p:cNvSpPr/>
          <p:nvPr/>
        </p:nvSpPr>
        <p:spPr>
          <a:xfrm>
            <a:off x="822960" y="3931920"/>
            <a:ext cx="1056132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822960" y="3931920"/>
            <a:ext cx="73152" cy="658368"/>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p:nvPr/>
        </p:nvSpPr>
        <p:spPr>
          <a:xfrm>
            <a:off x="1051560" y="4041648"/>
            <a:ext cx="320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7A12"/>
              </a:buClr>
              <a:buSzPts val="1800"/>
              <a:buFont typeface="Arial"/>
              <a:buNone/>
            </a:pPr>
            <a:r>
              <a:rPr b="1" i="0" lang="en-US" sz="1800" u="none" cap="none" strike="noStrike">
                <a:solidFill>
                  <a:srgbClr val="C27A12"/>
                </a:solidFill>
                <a:latin typeface="Arial"/>
                <a:ea typeface="Arial"/>
                <a:cs typeface="Arial"/>
                <a:sym typeface="Arial"/>
              </a:rPr>
              <a:t>4</a:t>
            </a:r>
            <a:endParaRPr b="0" i="0" sz="1800" u="none" cap="none" strike="noStrike">
              <a:solidFill>
                <a:schemeClr val="dk1"/>
              </a:solidFill>
              <a:latin typeface="Arial"/>
              <a:ea typeface="Arial"/>
              <a:cs typeface="Arial"/>
              <a:sym typeface="Arial"/>
            </a:endParaRPr>
          </a:p>
        </p:txBody>
      </p:sp>
      <p:sp>
        <p:nvSpPr>
          <p:cNvPr id="42" name="Google Shape;42;p1"/>
          <p:cNvSpPr/>
          <p:nvPr/>
        </p:nvSpPr>
        <p:spPr>
          <a:xfrm>
            <a:off x="1527060" y="4133085"/>
            <a:ext cx="2423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CUDA memory architecture</a:t>
            </a:r>
            <a:endParaRPr b="0" i="0" sz="1600" u="none" cap="none" strike="noStrike">
              <a:solidFill>
                <a:schemeClr val="dk1"/>
              </a:solidFill>
              <a:latin typeface="Arial"/>
              <a:ea typeface="Arial"/>
              <a:cs typeface="Arial"/>
              <a:sym typeface="Arial"/>
            </a:endParaRPr>
          </a:p>
        </p:txBody>
      </p:sp>
      <p:sp>
        <p:nvSpPr>
          <p:cNvPr id="43" name="Google Shape;43;p1"/>
          <p:cNvSpPr/>
          <p:nvPr/>
        </p:nvSpPr>
        <p:spPr>
          <a:xfrm>
            <a:off x="3886200" y="4023360"/>
            <a:ext cx="7086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Host, global, local, shared, constant, registers</a:t>
            </a:r>
            <a:endParaRPr b="0" i="0" sz="1150" u="none" cap="none" strike="noStrike">
              <a:solidFill>
                <a:schemeClr val="dk1"/>
              </a:solidFill>
              <a:latin typeface="Arial"/>
              <a:ea typeface="Arial"/>
              <a:cs typeface="Arial"/>
              <a:sym typeface="Arial"/>
            </a:endParaRPr>
          </a:p>
        </p:txBody>
      </p:sp>
      <p:sp>
        <p:nvSpPr>
          <p:cNvPr id="44" name="Google Shape;44;p1"/>
          <p:cNvSpPr/>
          <p:nvPr/>
        </p:nvSpPr>
        <p:spPr>
          <a:xfrm>
            <a:off x="822960" y="4800600"/>
            <a:ext cx="1056132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
          <p:cNvSpPr/>
          <p:nvPr/>
        </p:nvSpPr>
        <p:spPr>
          <a:xfrm>
            <a:off x="822960" y="4800600"/>
            <a:ext cx="73152" cy="658368"/>
          </a:xfrm>
          <a:prstGeom prst="rect">
            <a:avLst/>
          </a:prstGeom>
          <a:solidFill>
            <a:srgbClr val="173E62"/>
          </a:solidFill>
          <a:ln cap="flat" cmpd="sng" w="12700">
            <a:solidFill>
              <a:srgbClr val="173E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1051560" y="4910328"/>
            <a:ext cx="320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5</a:t>
            </a:r>
            <a:endParaRPr b="0" i="0" sz="1800" u="none" cap="none" strike="noStrike">
              <a:solidFill>
                <a:schemeClr val="dk1"/>
              </a:solidFill>
              <a:latin typeface="Arial"/>
              <a:ea typeface="Arial"/>
              <a:cs typeface="Arial"/>
              <a:sym typeface="Arial"/>
            </a:endParaRPr>
          </a:p>
        </p:txBody>
      </p:sp>
      <p:sp>
        <p:nvSpPr>
          <p:cNvPr id="47" name="Google Shape;47;p1"/>
          <p:cNvSpPr/>
          <p:nvPr/>
        </p:nvSpPr>
        <p:spPr>
          <a:xfrm>
            <a:off x="1508760" y="4873752"/>
            <a:ext cx="2423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Data locality</a:t>
            </a:r>
            <a:endParaRPr b="0" i="0" sz="1600" u="none" cap="none" strike="noStrike">
              <a:solidFill>
                <a:schemeClr val="dk1"/>
              </a:solidFill>
              <a:latin typeface="Arial"/>
              <a:ea typeface="Arial"/>
              <a:cs typeface="Arial"/>
              <a:sym typeface="Arial"/>
            </a:endParaRPr>
          </a:p>
        </p:txBody>
      </p:sp>
      <p:sp>
        <p:nvSpPr>
          <p:cNvPr id="48" name="Google Shape;48;p1"/>
          <p:cNvSpPr/>
          <p:nvPr/>
        </p:nvSpPr>
        <p:spPr>
          <a:xfrm>
            <a:off x="3886200" y="4892040"/>
            <a:ext cx="7086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Coalescing, reuse, and a tiled matrix-multiplication example</a:t>
            </a:r>
            <a:endParaRPr b="0" i="0" sz="1150" u="none" cap="none" strike="noStrike">
              <a:solidFill>
                <a:schemeClr val="dk1"/>
              </a:solidFill>
              <a:latin typeface="Arial"/>
              <a:ea typeface="Arial"/>
              <a:cs typeface="Arial"/>
              <a:sym typeface="Arial"/>
            </a:endParaRPr>
          </a:p>
        </p:txBody>
      </p:sp>
      <p:sp>
        <p:nvSpPr>
          <p:cNvPr id="49" name="Google Shape;49;p1"/>
          <p:cNvSpPr/>
          <p:nvPr/>
        </p:nvSpPr>
        <p:spPr>
          <a:xfrm>
            <a:off x="2560320" y="5852160"/>
            <a:ext cx="7040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300"/>
              <a:buFont typeface="Arial"/>
              <a:buNone/>
            </a:pPr>
            <a:r>
              <a:rPr b="1" i="0" lang="en-US" sz="1300" u="none" cap="none" strike="noStrike">
                <a:solidFill>
                  <a:srgbClr val="67C300"/>
                </a:solidFill>
                <a:latin typeface="Arial"/>
                <a:ea typeface="Arial"/>
                <a:cs typeface="Arial"/>
                <a:sym typeface="Arial"/>
              </a:rPr>
              <a:t>Administrative announcements: ~10 min  •  Lecture content: ~70 min</a:t>
            </a:r>
            <a:endParaRPr b="0" i="0" sz="1300" u="none" cap="none" strike="noStrike">
              <a:solidFill>
                <a:schemeClr val="dk1"/>
              </a:solidFill>
              <a:latin typeface="Arial"/>
              <a:ea typeface="Arial"/>
              <a:cs typeface="Arial"/>
              <a:sym typeface="Arial"/>
            </a:endParaRPr>
          </a:p>
        </p:txBody>
      </p:sp>
      <p:sp>
        <p:nvSpPr>
          <p:cNvPr id="50" name="Google Shape;50;p1"/>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Today: From CUDA Structure to CUDA Performance</a:t>
            </a:r>
            <a:endParaRPr b="0" i="0" sz="2500" u="none" cap="none" strike="noStrike">
              <a:solidFill>
                <a:schemeClr val="dk1"/>
              </a:solidFill>
              <a:latin typeface="Arial"/>
              <a:ea typeface="Arial"/>
              <a:cs typeface="Arial"/>
              <a:sym typeface="Arial"/>
            </a:endParaRPr>
          </a:p>
        </p:txBody>
      </p:sp>
      <p:sp>
        <p:nvSpPr>
          <p:cNvPr id="57" name="Google Shape;57;p2"/>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You already know grids → blocks → threads and SMs → warps. Today we focus on what happens next.</a:t>
            </a:r>
            <a:endParaRPr b="0" i="0" sz="1150" u="none" cap="none" strike="noStrike">
              <a:solidFill>
                <a:schemeClr val="dk1"/>
              </a:solidFill>
              <a:latin typeface="Arial"/>
              <a:ea typeface="Arial"/>
              <a:cs typeface="Arial"/>
              <a:sym typeface="Arial"/>
            </a:endParaRPr>
          </a:p>
        </p:txBody>
      </p:sp>
      <p:sp>
        <p:nvSpPr>
          <p:cNvPr id="58" name="Google Shape;58;p2"/>
          <p:cNvSpPr/>
          <p:nvPr/>
        </p:nvSpPr>
        <p:spPr>
          <a:xfrm>
            <a:off x="685800" y="1417320"/>
            <a:ext cx="5074920" cy="1417320"/>
          </a:xfrm>
          <a:prstGeom prst="roundRect">
            <a:avLst>
              <a:gd fmla="val 516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85800" y="1417320"/>
            <a:ext cx="73152" cy="141732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941832" y="160020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Scheduling</a:t>
            </a:r>
            <a:endParaRPr b="0" i="0" sz="1800" u="none" cap="none" strike="noStrike">
              <a:solidFill>
                <a:schemeClr val="dk1"/>
              </a:solidFill>
              <a:latin typeface="Arial"/>
              <a:ea typeface="Arial"/>
              <a:cs typeface="Arial"/>
              <a:sym typeface="Arial"/>
            </a:endParaRPr>
          </a:p>
        </p:txBody>
      </p:sp>
      <p:sp>
        <p:nvSpPr>
          <p:cNvPr id="61" name="Google Shape;61;p2"/>
          <p:cNvSpPr/>
          <p:nvPr/>
        </p:nvSpPr>
        <p:spPr>
          <a:xfrm>
            <a:off x="941832" y="2057400"/>
            <a:ext cx="4434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50"/>
              <a:buFont typeface="Arial"/>
              <a:buNone/>
            </a:pPr>
            <a:r>
              <a:rPr b="0" i="0" lang="en-US" sz="1350" u="none" cap="none" strike="noStrike">
                <a:solidFill>
                  <a:srgbClr val="26384C"/>
                </a:solidFill>
                <a:latin typeface="Arial"/>
                <a:ea typeface="Arial"/>
                <a:cs typeface="Arial"/>
                <a:sym typeface="Arial"/>
              </a:rPr>
              <a:t>Which blocks can become resident, and when?</a:t>
            </a:r>
            <a:endParaRPr b="0" i="0" sz="1350" u="none" cap="none" strike="noStrike">
              <a:solidFill>
                <a:schemeClr val="dk1"/>
              </a:solidFill>
              <a:latin typeface="Arial"/>
              <a:ea typeface="Arial"/>
              <a:cs typeface="Arial"/>
              <a:sym typeface="Arial"/>
            </a:endParaRPr>
          </a:p>
        </p:txBody>
      </p:sp>
      <p:sp>
        <p:nvSpPr>
          <p:cNvPr id="62" name="Google Shape;62;p2"/>
          <p:cNvSpPr/>
          <p:nvPr/>
        </p:nvSpPr>
        <p:spPr>
          <a:xfrm>
            <a:off x="6263640" y="1417320"/>
            <a:ext cx="5074920" cy="1417320"/>
          </a:xfrm>
          <a:prstGeom prst="roundRect">
            <a:avLst>
              <a:gd fmla="val 516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263640" y="1417320"/>
            <a:ext cx="73152" cy="141732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519677" y="1600200"/>
            <a:ext cx="3232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Execution efficiency</a:t>
            </a:r>
            <a:endParaRPr b="0" i="0" sz="1800" u="none" cap="none" strike="noStrike">
              <a:solidFill>
                <a:schemeClr val="dk1"/>
              </a:solidFill>
              <a:latin typeface="Arial"/>
              <a:ea typeface="Arial"/>
              <a:cs typeface="Arial"/>
              <a:sym typeface="Arial"/>
            </a:endParaRPr>
          </a:p>
        </p:txBody>
      </p:sp>
      <p:sp>
        <p:nvSpPr>
          <p:cNvPr id="65" name="Google Shape;65;p2"/>
          <p:cNvSpPr/>
          <p:nvPr/>
        </p:nvSpPr>
        <p:spPr>
          <a:xfrm>
            <a:off x="6519672" y="2057400"/>
            <a:ext cx="4434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50"/>
              <a:buFont typeface="Arial"/>
              <a:buNone/>
            </a:pPr>
            <a:r>
              <a:rPr b="0" i="0" lang="en-US" sz="1350" u="none" cap="none" strike="noStrike">
                <a:solidFill>
                  <a:srgbClr val="26384C"/>
                </a:solidFill>
                <a:latin typeface="Arial"/>
                <a:ea typeface="Arial"/>
                <a:cs typeface="Arial"/>
                <a:sym typeface="Arial"/>
              </a:rPr>
              <a:t>What happens when threads in one warp take different paths?</a:t>
            </a:r>
            <a:endParaRPr b="0" i="0" sz="1350" u="none" cap="none" strike="noStrike">
              <a:solidFill>
                <a:schemeClr val="dk1"/>
              </a:solidFill>
              <a:latin typeface="Arial"/>
              <a:ea typeface="Arial"/>
              <a:cs typeface="Arial"/>
              <a:sym typeface="Arial"/>
            </a:endParaRPr>
          </a:p>
        </p:txBody>
      </p:sp>
      <p:sp>
        <p:nvSpPr>
          <p:cNvPr id="66" name="Google Shape;66;p2"/>
          <p:cNvSpPr/>
          <p:nvPr/>
        </p:nvSpPr>
        <p:spPr>
          <a:xfrm>
            <a:off x="685800" y="3383280"/>
            <a:ext cx="5074920" cy="1417320"/>
          </a:xfrm>
          <a:prstGeom prst="roundRect">
            <a:avLst>
              <a:gd fmla="val 516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85800" y="3383280"/>
            <a:ext cx="73152" cy="141732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941832" y="356616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Latency hiding</a:t>
            </a:r>
            <a:endParaRPr b="0" i="0" sz="1800" u="none" cap="none" strike="noStrike">
              <a:solidFill>
                <a:schemeClr val="dk1"/>
              </a:solidFill>
              <a:latin typeface="Arial"/>
              <a:ea typeface="Arial"/>
              <a:cs typeface="Arial"/>
              <a:sym typeface="Arial"/>
            </a:endParaRPr>
          </a:p>
        </p:txBody>
      </p:sp>
      <p:sp>
        <p:nvSpPr>
          <p:cNvPr id="69" name="Google Shape;69;p2"/>
          <p:cNvSpPr/>
          <p:nvPr/>
        </p:nvSpPr>
        <p:spPr>
          <a:xfrm>
            <a:off x="941832" y="4023360"/>
            <a:ext cx="4434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50"/>
              <a:buFont typeface="Arial"/>
              <a:buNone/>
            </a:pPr>
            <a:r>
              <a:rPr b="0" i="0" lang="en-US" sz="1350" u="none" cap="none" strike="noStrike">
                <a:solidFill>
                  <a:srgbClr val="26384C"/>
                </a:solidFill>
                <a:latin typeface="Arial"/>
                <a:ea typeface="Arial"/>
                <a:cs typeface="Arial"/>
                <a:sym typeface="Arial"/>
              </a:rPr>
              <a:t>How does an SM stay busy while a warp waits?</a:t>
            </a:r>
            <a:endParaRPr b="0" i="0" sz="1350" u="none" cap="none" strike="noStrike">
              <a:solidFill>
                <a:schemeClr val="dk1"/>
              </a:solidFill>
              <a:latin typeface="Arial"/>
              <a:ea typeface="Arial"/>
              <a:cs typeface="Arial"/>
              <a:sym typeface="Arial"/>
            </a:endParaRPr>
          </a:p>
        </p:txBody>
      </p:sp>
      <p:sp>
        <p:nvSpPr>
          <p:cNvPr id="70" name="Google Shape;70;p2"/>
          <p:cNvSpPr/>
          <p:nvPr/>
        </p:nvSpPr>
        <p:spPr>
          <a:xfrm>
            <a:off x="6263640" y="3383280"/>
            <a:ext cx="5074920" cy="1417320"/>
          </a:xfrm>
          <a:prstGeom prst="roundRect">
            <a:avLst>
              <a:gd fmla="val 516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263640" y="3383280"/>
            <a:ext cx="73152" cy="141732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519672" y="356616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Memory locality</a:t>
            </a:r>
            <a:endParaRPr b="0" i="0" sz="1800" u="none" cap="none" strike="noStrike">
              <a:solidFill>
                <a:schemeClr val="dk1"/>
              </a:solidFill>
              <a:latin typeface="Arial"/>
              <a:ea typeface="Arial"/>
              <a:cs typeface="Arial"/>
              <a:sym typeface="Arial"/>
            </a:endParaRPr>
          </a:p>
        </p:txBody>
      </p:sp>
      <p:sp>
        <p:nvSpPr>
          <p:cNvPr id="73" name="Google Shape;73;p2"/>
          <p:cNvSpPr/>
          <p:nvPr/>
        </p:nvSpPr>
        <p:spPr>
          <a:xfrm>
            <a:off x="6519672" y="4023360"/>
            <a:ext cx="4434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50"/>
              <a:buFont typeface="Arial"/>
              <a:buNone/>
            </a:pPr>
            <a:r>
              <a:rPr b="0" i="0" lang="en-US" sz="1350" u="none" cap="none" strike="noStrike">
                <a:solidFill>
                  <a:srgbClr val="26384C"/>
                </a:solidFill>
                <a:latin typeface="Arial"/>
                <a:ea typeface="Arial"/>
                <a:cs typeface="Arial"/>
                <a:sym typeface="Arial"/>
              </a:rPr>
              <a:t>Where should data live, and how should threads access it?</a:t>
            </a:r>
            <a:endParaRPr b="0" i="0" sz="1350" u="none" cap="none" strike="noStrike">
              <a:solidFill>
                <a:schemeClr val="dk1"/>
              </a:solidFill>
              <a:latin typeface="Arial"/>
              <a:ea typeface="Arial"/>
              <a:cs typeface="Arial"/>
              <a:sym typeface="Arial"/>
            </a:endParaRPr>
          </a:p>
        </p:txBody>
      </p:sp>
      <p:sp>
        <p:nvSpPr>
          <p:cNvPr id="74" name="Google Shape;74;p2"/>
          <p:cNvSpPr/>
          <p:nvPr/>
        </p:nvSpPr>
        <p:spPr>
          <a:xfrm>
            <a:off x="2103120" y="5577840"/>
            <a:ext cx="79552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2000"/>
              <a:buFont typeface="Arial"/>
              <a:buNone/>
            </a:pPr>
            <a:r>
              <a:rPr b="1" i="0" lang="en-US" sz="2000" u="none" cap="none" strike="noStrike">
                <a:solidFill>
                  <a:srgbClr val="173E62"/>
                </a:solidFill>
                <a:latin typeface="Arial"/>
                <a:ea typeface="Arial"/>
                <a:cs typeface="Arial"/>
                <a:sym typeface="Arial"/>
              </a:rPr>
              <a:t>Performance is not just “how many threads did I launch?”</a:t>
            </a:r>
            <a:endParaRPr b="0" i="0" sz="2000" u="none" cap="none" strike="noStrike">
              <a:solidFill>
                <a:schemeClr val="dk1"/>
              </a:solidFill>
              <a:latin typeface="Arial"/>
              <a:ea typeface="Arial"/>
              <a:cs typeface="Arial"/>
              <a:sym typeface="Arial"/>
            </a:endParaRPr>
          </a:p>
        </p:txBody>
      </p:sp>
      <p:sp>
        <p:nvSpPr>
          <p:cNvPr id="75" name="Google Shape;75;p2"/>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3"/>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Block Scheduling: What Actually Gets Scheduled?</a:t>
            </a:r>
            <a:endParaRPr b="0" i="0" sz="2500" u="none" cap="none" strike="noStrike">
              <a:solidFill>
                <a:schemeClr val="dk1"/>
              </a:solidFill>
              <a:latin typeface="Arial"/>
              <a:ea typeface="Arial"/>
              <a:cs typeface="Arial"/>
              <a:sym typeface="Arial"/>
            </a:endParaRPr>
          </a:p>
        </p:txBody>
      </p:sp>
      <p:sp>
        <p:nvSpPr>
          <p:cNvPr id="82" name="Google Shape;82;p3"/>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Blocks wait in the grid; SMs admit blocks when enough resources are available.</a:t>
            </a:r>
            <a:endParaRPr b="0" i="0" sz="1150" u="none" cap="none" strike="noStrike">
              <a:solidFill>
                <a:schemeClr val="dk1"/>
              </a:solidFill>
              <a:latin typeface="Arial"/>
              <a:ea typeface="Arial"/>
              <a:cs typeface="Arial"/>
              <a:sym typeface="Arial"/>
            </a:endParaRPr>
          </a:p>
        </p:txBody>
      </p:sp>
      <p:sp>
        <p:nvSpPr>
          <p:cNvPr id="83" name="Google Shape;83;p3"/>
          <p:cNvSpPr/>
          <p:nvPr/>
        </p:nvSpPr>
        <p:spPr>
          <a:xfrm>
            <a:off x="685800" y="1234440"/>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A5"/>
              </a:buClr>
              <a:buSzPts val="1400"/>
              <a:buFont typeface="Arial"/>
              <a:buNone/>
            </a:pPr>
            <a:r>
              <a:rPr b="1" i="0" lang="en-US" sz="1400" u="none" cap="none" strike="noStrike">
                <a:solidFill>
                  <a:srgbClr val="1F6FA5"/>
                </a:solidFill>
                <a:latin typeface="Arial"/>
                <a:ea typeface="Arial"/>
                <a:cs typeface="Arial"/>
                <a:sym typeface="Arial"/>
              </a:rPr>
              <a:t>Grid has more blocks than the GPU can run simultaneously</a:t>
            </a:r>
            <a:endParaRPr b="0" i="0" sz="1400" u="none" cap="none" strike="noStrike">
              <a:solidFill>
                <a:schemeClr val="dk1"/>
              </a:solidFill>
              <a:latin typeface="Arial"/>
              <a:ea typeface="Arial"/>
              <a:cs typeface="Arial"/>
              <a:sym typeface="Arial"/>
            </a:endParaRPr>
          </a:p>
        </p:txBody>
      </p:sp>
      <p:sp>
        <p:nvSpPr>
          <p:cNvPr id="84" name="Google Shape;84;p3"/>
          <p:cNvSpPr/>
          <p:nvPr/>
        </p:nvSpPr>
        <p:spPr>
          <a:xfrm>
            <a:off x="731520" y="1691640"/>
            <a:ext cx="868680" cy="438912"/>
          </a:xfrm>
          <a:prstGeom prst="roundRect">
            <a:avLst>
              <a:gd fmla="val 833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731520" y="17922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B0</a:t>
            </a:r>
            <a:endParaRPr b="0" i="0" sz="1200" u="none" cap="none" strike="noStrike">
              <a:solidFill>
                <a:schemeClr val="dk1"/>
              </a:solidFill>
              <a:latin typeface="Arial"/>
              <a:ea typeface="Arial"/>
              <a:cs typeface="Arial"/>
              <a:sym typeface="Arial"/>
            </a:endParaRPr>
          </a:p>
        </p:txBody>
      </p:sp>
      <p:sp>
        <p:nvSpPr>
          <p:cNvPr id="86" name="Google Shape;86;p3"/>
          <p:cNvSpPr/>
          <p:nvPr/>
        </p:nvSpPr>
        <p:spPr>
          <a:xfrm>
            <a:off x="1874520" y="1691640"/>
            <a:ext cx="868680" cy="438912"/>
          </a:xfrm>
          <a:prstGeom prst="roundRect">
            <a:avLst>
              <a:gd fmla="val 833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1874520" y="17922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B1</a:t>
            </a:r>
            <a:endParaRPr b="0" i="0" sz="1200" u="none" cap="none" strike="noStrike">
              <a:solidFill>
                <a:schemeClr val="dk1"/>
              </a:solidFill>
              <a:latin typeface="Arial"/>
              <a:ea typeface="Arial"/>
              <a:cs typeface="Arial"/>
              <a:sym typeface="Arial"/>
            </a:endParaRPr>
          </a:p>
        </p:txBody>
      </p:sp>
      <p:sp>
        <p:nvSpPr>
          <p:cNvPr id="88" name="Google Shape;88;p3"/>
          <p:cNvSpPr/>
          <p:nvPr/>
        </p:nvSpPr>
        <p:spPr>
          <a:xfrm>
            <a:off x="3017520" y="1691640"/>
            <a:ext cx="868680" cy="438912"/>
          </a:xfrm>
          <a:prstGeom prst="roundRect">
            <a:avLst>
              <a:gd fmla="val 833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3017520" y="17922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B2</a:t>
            </a:r>
            <a:endParaRPr b="0" i="0" sz="1200" u="none" cap="none" strike="noStrike">
              <a:solidFill>
                <a:schemeClr val="dk1"/>
              </a:solidFill>
              <a:latin typeface="Arial"/>
              <a:ea typeface="Arial"/>
              <a:cs typeface="Arial"/>
              <a:sym typeface="Arial"/>
            </a:endParaRPr>
          </a:p>
        </p:txBody>
      </p:sp>
      <p:sp>
        <p:nvSpPr>
          <p:cNvPr id="90" name="Google Shape;90;p3"/>
          <p:cNvSpPr/>
          <p:nvPr/>
        </p:nvSpPr>
        <p:spPr>
          <a:xfrm>
            <a:off x="4160520" y="1691640"/>
            <a:ext cx="868680" cy="438912"/>
          </a:xfrm>
          <a:prstGeom prst="roundRect">
            <a:avLst>
              <a:gd fmla="val 833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4160520" y="17922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B3</a:t>
            </a:r>
            <a:endParaRPr b="0" i="0" sz="1200" u="none" cap="none" strike="noStrike">
              <a:solidFill>
                <a:schemeClr val="dk1"/>
              </a:solidFill>
              <a:latin typeface="Arial"/>
              <a:ea typeface="Arial"/>
              <a:cs typeface="Arial"/>
              <a:sym typeface="Arial"/>
            </a:endParaRPr>
          </a:p>
        </p:txBody>
      </p:sp>
      <p:sp>
        <p:nvSpPr>
          <p:cNvPr id="92" name="Google Shape;92;p3"/>
          <p:cNvSpPr/>
          <p:nvPr/>
        </p:nvSpPr>
        <p:spPr>
          <a:xfrm>
            <a:off x="731520" y="2377440"/>
            <a:ext cx="868680" cy="438912"/>
          </a:xfrm>
          <a:prstGeom prst="roundRect">
            <a:avLst>
              <a:gd fmla="val 8333" name="adj"/>
            </a:avLst>
          </a:prstGeom>
          <a:solidFill>
            <a:srgbClr val="EEF2F6"/>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731520" y="24780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B4</a:t>
            </a:r>
            <a:endParaRPr b="0" i="0" sz="1200" u="none" cap="none" strike="noStrike">
              <a:solidFill>
                <a:schemeClr val="dk1"/>
              </a:solidFill>
              <a:latin typeface="Arial"/>
              <a:ea typeface="Arial"/>
              <a:cs typeface="Arial"/>
              <a:sym typeface="Arial"/>
            </a:endParaRPr>
          </a:p>
        </p:txBody>
      </p:sp>
      <p:sp>
        <p:nvSpPr>
          <p:cNvPr id="94" name="Google Shape;94;p3"/>
          <p:cNvSpPr/>
          <p:nvPr/>
        </p:nvSpPr>
        <p:spPr>
          <a:xfrm>
            <a:off x="1874520" y="2377440"/>
            <a:ext cx="868680" cy="438912"/>
          </a:xfrm>
          <a:prstGeom prst="roundRect">
            <a:avLst>
              <a:gd fmla="val 8333" name="adj"/>
            </a:avLst>
          </a:prstGeom>
          <a:solidFill>
            <a:srgbClr val="EEF2F6"/>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1874520" y="24780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B5</a:t>
            </a:r>
            <a:endParaRPr b="0" i="0" sz="1200" u="none" cap="none" strike="noStrike">
              <a:solidFill>
                <a:schemeClr val="dk1"/>
              </a:solidFill>
              <a:latin typeface="Arial"/>
              <a:ea typeface="Arial"/>
              <a:cs typeface="Arial"/>
              <a:sym typeface="Arial"/>
            </a:endParaRPr>
          </a:p>
        </p:txBody>
      </p:sp>
      <p:sp>
        <p:nvSpPr>
          <p:cNvPr id="96" name="Google Shape;96;p3"/>
          <p:cNvSpPr/>
          <p:nvPr/>
        </p:nvSpPr>
        <p:spPr>
          <a:xfrm>
            <a:off x="3017520" y="2377440"/>
            <a:ext cx="868680" cy="438912"/>
          </a:xfrm>
          <a:prstGeom prst="roundRect">
            <a:avLst>
              <a:gd fmla="val 8333" name="adj"/>
            </a:avLst>
          </a:prstGeom>
          <a:solidFill>
            <a:srgbClr val="EEF2F6"/>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3017520" y="24780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B6</a:t>
            </a:r>
            <a:endParaRPr b="0" i="0" sz="1200" u="none" cap="none" strike="noStrike">
              <a:solidFill>
                <a:schemeClr val="dk1"/>
              </a:solidFill>
              <a:latin typeface="Arial"/>
              <a:ea typeface="Arial"/>
              <a:cs typeface="Arial"/>
              <a:sym typeface="Arial"/>
            </a:endParaRPr>
          </a:p>
        </p:txBody>
      </p:sp>
      <p:sp>
        <p:nvSpPr>
          <p:cNvPr id="98" name="Google Shape;98;p3"/>
          <p:cNvSpPr/>
          <p:nvPr/>
        </p:nvSpPr>
        <p:spPr>
          <a:xfrm>
            <a:off x="4160520" y="2377440"/>
            <a:ext cx="868680" cy="438912"/>
          </a:xfrm>
          <a:prstGeom prst="roundRect">
            <a:avLst>
              <a:gd fmla="val 8333" name="adj"/>
            </a:avLst>
          </a:prstGeom>
          <a:solidFill>
            <a:srgbClr val="EEF2F6"/>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160520" y="2478024"/>
            <a:ext cx="8686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200"/>
              <a:buFont typeface="Arial"/>
              <a:buNone/>
            </a:pPr>
            <a:r>
              <a:rPr b="1" i="0" lang="en-US" sz="1200" u="none" cap="none" strike="noStrike">
                <a:solidFill>
                  <a:srgbClr val="173E62"/>
                </a:solidFill>
                <a:latin typeface="Arial"/>
                <a:ea typeface="Arial"/>
                <a:cs typeface="Arial"/>
                <a:sym typeface="Arial"/>
              </a:rPr>
              <a:t>B7</a:t>
            </a:r>
            <a:endParaRPr b="0" i="0" sz="1200" u="none" cap="none" strike="noStrike">
              <a:solidFill>
                <a:schemeClr val="dk1"/>
              </a:solidFill>
              <a:latin typeface="Arial"/>
              <a:ea typeface="Arial"/>
              <a:cs typeface="Arial"/>
              <a:sym typeface="Arial"/>
            </a:endParaRPr>
          </a:p>
        </p:txBody>
      </p:sp>
      <p:cxnSp>
        <p:nvCxnSpPr>
          <p:cNvPr id="100" name="Google Shape;100;p3"/>
          <p:cNvCxnSpPr/>
          <p:nvPr/>
        </p:nvCxnSpPr>
        <p:spPr>
          <a:xfrm>
            <a:off x="5212080" y="2331720"/>
            <a:ext cx="777240" cy="0"/>
          </a:xfrm>
          <a:prstGeom prst="straightConnector1">
            <a:avLst/>
          </a:prstGeom>
          <a:noFill/>
          <a:ln cap="flat" cmpd="sng" w="25400">
            <a:solidFill>
              <a:srgbClr val="173E62"/>
            </a:solidFill>
            <a:prstDash val="solid"/>
            <a:round/>
            <a:headEnd len="sm" w="sm" type="none"/>
            <a:tailEnd len="med" w="med" type="triangle"/>
          </a:ln>
        </p:spPr>
      </p:cxnSp>
      <p:sp>
        <p:nvSpPr>
          <p:cNvPr id="101" name="Google Shape;101;p3"/>
          <p:cNvSpPr/>
          <p:nvPr/>
        </p:nvSpPr>
        <p:spPr>
          <a:xfrm>
            <a:off x="4846320" y="1737360"/>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1738B"/>
              </a:buClr>
              <a:buSzPts val="1000"/>
              <a:buFont typeface="Arial"/>
              <a:buNone/>
            </a:pPr>
            <a:r>
              <a:rPr b="0" i="0" lang="en-US" sz="1000" u="none" cap="none" strike="noStrike">
                <a:solidFill>
                  <a:srgbClr val="61738B"/>
                </a:solidFill>
                <a:latin typeface="Arial"/>
                <a:ea typeface="Arial"/>
                <a:cs typeface="Arial"/>
                <a:sym typeface="Arial"/>
              </a:rPr>
              <a:t>admit when</a:t>
            </a:r>
            <a:endParaRPr b="0" i="0" sz="1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61738B"/>
              </a:buClr>
              <a:buSzPts val="1000"/>
              <a:buFont typeface="Arial"/>
              <a:buNone/>
            </a:pPr>
            <a:r>
              <a:rPr b="0" i="0" lang="en-US" sz="1000" u="none" cap="none" strike="noStrike">
                <a:solidFill>
                  <a:srgbClr val="61738B"/>
                </a:solidFill>
                <a:latin typeface="Arial"/>
                <a:ea typeface="Arial"/>
                <a:cs typeface="Arial"/>
                <a:sym typeface="Arial"/>
              </a:rPr>
              <a:t>resources free</a:t>
            </a:r>
            <a:endParaRPr b="0" i="0" sz="1000" u="none" cap="none" strike="noStrike">
              <a:solidFill>
                <a:schemeClr val="dk1"/>
              </a:solidFill>
              <a:latin typeface="Arial"/>
              <a:ea typeface="Arial"/>
              <a:cs typeface="Arial"/>
              <a:sym typeface="Arial"/>
            </a:endParaRPr>
          </a:p>
        </p:txBody>
      </p:sp>
      <p:sp>
        <p:nvSpPr>
          <p:cNvPr id="102" name="Google Shape;102;p3"/>
          <p:cNvSpPr/>
          <p:nvPr/>
        </p:nvSpPr>
        <p:spPr>
          <a:xfrm>
            <a:off x="6446520" y="1417320"/>
            <a:ext cx="2011680" cy="1965960"/>
          </a:xfrm>
          <a:prstGeom prst="roundRect">
            <a:avLst>
              <a:gd fmla="val 372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6446520" y="1417320"/>
            <a:ext cx="73152" cy="196596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6903720" y="1600200"/>
            <a:ext cx="10972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700"/>
              <a:buFont typeface="Arial"/>
              <a:buNone/>
            </a:pPr>
            <a:r>
              <a:rPr b="1" i="0" lang="en-US" sz="1700" u="none" cap="none" strike="noStrike">
                <a:solidFill>
                  <a:srgbClr val="173E62"/>
                </a:solidFill>
                <a:latin typeface="Arial"/>
                <a:ea typeface="Arial"/>
                <a:cs typeface="Arial"/>
                <a:sym typeface="Arial"/>
              </a:rPr>
              <a:t>SM 0</a:t>
            </a:r>
            <a:endParaRPr b="0" i="0" sz="1700" u="none" cap="none" strike="noStrike">
              <a:solidFill>
                <a:schemeClr val="dk1"/>
              </a:solidFill>
              <a:latin typeface="Arial"/>
              <a:ea typeface="Arial"/>
              <a:cs typeface="Arial"/>
              <a:sym typeface="Arial"/>
            </a:endParaRPr>
          </a:p>
        </p:txBody>
      </p:sp>
      <p:sp>
        <p:nvSpPr>
          <p:cNvPr id="105" name="Google Shape;105;p3"/>
          <p:cNvSpPr/>
          <p:nvPr/>
        </p:nvSpPr>
        <p:spPr>
          <a:xfrm>
            <a:off x="6766560" y="2148840"/>
            <a:ext cx="1371600" cy="365760"/>
          </a:xfrm>
          <a:prstGeom prst="roundRect">
            <a:avLst>
              <a:gd fmla="val 75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6830568" y="2249424"/>
            <a:ext cx="12344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950"/>
              <a:buFont typeface="Arial"/>
              <a:buNone/>
            </a:pPr>
            <a:r>
              <a:rPr b="0" i="0" lang="en-US" sz="950" u="none" cap="none" strike="noStrike">
                <a:solidFill>
                  <a:srgbClr val="26384C"/>
                </a:solidFill>
                <a:latin typeface="Arial"/>
                <a:ea typeface="Arial"/>
                <a:cs typeface="Arial"/>
                <a:sym typeface="Arial"/>
              </a:rPr>
              <a:t>resident block</a:t>
            </a:r>
            <a:endParaRPr b="0" i="0" sz="950" u="none" cap="none" strike="noStrike">
              <a:solidFill>
                <a:schemeClr val="dk1"/>
              </a:solidFill>
              <a:latin typeface="Arial"/>
              <a:ea typeface="Arial"/>
              <a:cs typeface="Arial"/>
              <a:sym typeface="Arial"/>
            </a:endParaRPr>
          </a:p>
        </p:txBody>
      </p:sp>
      <p:sp>
        <p:nvSpPr>
          <p:cNvPr id="107" name="Google Shape;107;p3"/>
          <p:cNvSpPr/>
          <p:nvPr/>
        </p:nvSpPr>
        <p:spPr>
          <a:xfrm>
            <a:off x="6766560" y="2651760"/>
            <a:ext cx="1371600" cy="365760"/>
          </a:xfrm>
          <a:prstGeom prst="roundRect">
            <a:avLst>
              <a:gd fmla="val 7500" name="adj"/>
            </a:avLst>
          </a:prstGeom>
          <a:solidFill>
            <a:srgbClr val="E8F6F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6830568" y="2752344"/>
            <a:ext cx="12344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950"/>
              <a:buFont typeface="Arial"/>
              <a:buNone/>
            </a:pPr>
            <a:r>
              <a:rPr b="0" i="0" lang="en-US" sz="950" u="none" cap="none" strike="noStrike">
                <a:solidFill>
                  <a:srgbClr val="26384C"/>
                </a:solidFill>
                <a:latin typeface="Arial"/>
                <a:ea typeface="Arial"/>
                <a:cs typeface="Arial"/>
                <a:sym typeface="Arial"/>
              </a:rPr>
              <a:t>resident block</a:t>
            </a:r>
            <a:endParaRPr b="0" i="0" sz="950" u="none" cap="none" strike="noStrike">
              <a:solidFill>
                <a:schemeClr val="dk1"/>
              </a:solidFill>
              <a:latin typeface="Arial"/>
              <a:ea typeface="Arial"/>
              <a:cs typeface="Arial"/>
              <a:sym typeface="Arial"/>
            </a:endParaRPr>
          </a:p>
        </p:txBody>
      </p:sp>
      <p:sp>
        <p:nvSpPr>
          <p:cNvPr id="109" name="Google Shape;109;p3"/>
          <p:cNvSpPr/>
          <p:nvPr/>
        </p:nvSpPr>
        <p:spPr>
          <a:xfrm>
            <a:off x="8915400" y="1417320"/>
            <a:ext cx="2011680" cy="1965960"/>
          </a:xfrm>
          <a:prstGeom prst="roundRect">
            <a:avLst>
              <a:gd fmla="val 372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8915400" y="1417320"/>
            <a:ext cx="73152" cy="196596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9372600" y="1600200"/>
            <a:ext cx="10972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700"/>
              <a:buFont typeface="Arial"/>
              <a:buNone/>
            </a:pPr>
            <a:r>
              <a:rPr b="1" i="0" lang="en-US" sz="1700" u="none" cap="none" strike="noStrike">
                <a:solidFill>
                  <a:srgbClr val="173E62"/>
                </a:solidFill>
                <a:latin typeface="Arial"/>
                <a:ea typeface="Arial"/>
                <a:cs typeface="Arial"/>
                <a:sym typeface="Arial"/>
              </a:rPr>
              <a:t>SM 1</a:t>
            </a:r>
            <a:endParaRPr b="0" i="0" sz="1700" u="none" cap="none" strike="noStrike">
              <a:solidFill>
                <a:schemeClr val="dk1"/>
              </a:solidFill>
              <a:latin typeface="Arial"/>
              <a:ea typeface="Arial"/>
              <a:cs typeface="Arial"/>
              <a:sym typeface="Arial"/>
            </a:endParaRPr>
          </a:p>
        </p:txBody>
      </p:sp>
      <p:sp>
        <p:nvSpPr>
          <p:cNvPr id="112" name="Google Shape;112;p3"/>
          <p:cNvSpPr/>
          <p:nvPr/>
        </p:nvSpPr>
        <p:spPr>
          <a:xfrm>
            <a:off x="9235440" y="2148840"/>
            <a:ext cx="1371600" cy="365760"/>
          </a:xfrm>
          <a:prstGeom prst="roundRect">
            <a:avLst>
              <a:gd fmla="val 7500" name="adj"/>
            </a:avLst>
          </a:prstGeom>
          <a:solidFill>
            <a:srgbClr val="F1F8E7"/>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9299448" y="2249424"/>
            <a:ext cx="12344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950"/>
              <a:buFont typeface="Arial"/>
              <a:buNone/>
            </a:pPr>
            <a:r>
              <a:rPr b="0" i="0" lang="en-US" sz="950" u="none" cap="none" strike="noStrike">
                <a:solidFill>
                  <a:srgbClr val="26384C"/>
                </a:solidFill>
                <a:latin typeface="Arial"/>
                <a:ea typeface="Arial"/>
                <a:cs typeface="Arial"/>
                <a:sym typeface="Arial"/>
              </a:rPr>
              <a:t>resident block</a:t>
            </a:r>
            <a:endParaRPr b="0" i="0" sz="950" u="none" cap="none" strike="noStrike">
              <a:solidFill>
                <a:schemeClr val="dk1"/>
              </a:solidFill>
              <a:latin typeface="Arial"/>
              <a:ea typeface="Arial"/>
              <a:cs typeface="Arial"/>
              <a:sym typeface="Arial"/>
            </a:endParaRPr>
          </a:p>
        </p:txBody>
      </p:sp>
      <p:sp>
        <p:nvSpPr>
          <p:cNvPr id="114" name="Google Shape;114;p3"/>
          <p:cNvSpPr/>
          <p:nvPr/>
        </p:nvSpPr>
        <p:spPr>
          <a:xfrm>
            <a:off x="9235440" y="2651760"/>
            <a:ext cx="1371600" cy="365760"/>
          </a:xfrm>
          <a:prstGeom prst="roundRect">
            <a:avLst>
              <a:gd fmla="val 7500" name="adj"/>
            </a:avLst>
          </a:prstGeom>
          <a:solidFill>
            <a:srgbClr val="E8F6F7"/>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9299448" y="2752344"/>
            <a:ext cx="12344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950"/>
              <a:buFont typeface="Arial"/>
              <a:buNone/>
            </a:pPr>
            <a:r>
              <a:rPr b="0" i="0" lang="en-US" sz="950" u="none" cap="none" strike="noStrike">
                <a:solidFill>
                  <a:srgbClr val="26384C"/>
                </a:solidFill>
                <a:latin typeface="Arial"/>
                <a:ea typeface="Arial"/>
                <a:cs typeface="Arial"/>
                <a:sym typeface="Arial"/>
              </a:rPr>
              <a:t>resident block</a:t>
            </a:r>
            <a:endParaRPr b="0" i="0" sz="950" u="none" cap="none" strike="noStrike">
              <a:solidFill>
                <a:schemeClr val="dk1"/>
              </a:solidFill>
              <a:latin typeface="Arial"/>
              <a:ea typeface="Arial"/>
              <a:cs typeface="Arial"/>
              <a:sym typeface="Arial"/>
            </a:endParaRPr>
          </a:p>
        </p:txBody>
      </p:sp>
      <p:sp>
        <p:nvSpPr>
          <p:cNvPr id="116" name="Google Shape;116;p3"/>
          <p:cNvSpPr/>
          <p:nvPr/>
        </p:nvSpPr>
        <p:spPr>
          <a:xfrm>
            <a:off x="731520" y="3886200"/>
            <a:ext cx="10607040" cy="1234440"/>
          </a:xfrm>
          <a:prstGeom prst="roundRect">
            <a:avLst>
              <a:gd fmla="val 5926" name="adj"/>
            </a:avLst>
          </a:prstGeom>
          <a:solidFill>
            <a:srgbClr val="FFF5E5"/>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731520" y="3886200"/>
            <a:ext cx="73152" cy="123444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1051560" y="4096512"/>
            <a:ext cx="9921240" cy="86868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A thread block is assigned to one SM and normally remains there until it completes.</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There is no guaranteed execution order among ordinary blocks in a grid.</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When a resident block finishes, a waiting block can be admitted to the newly available resources.</a:t>
            </a:r>
            <a:endParaRPr b="0" i="0" sz="1300" u="none" cap="none" strike="noStrike">
              <a:solidFill>
                <a:schemeClr val="dk1"/>
              </a:solidFill>
              <a:latin typeface="Arial"/>
              <a:ea typeface="Arial"/>
              <a:cs typeface="Arial"/>
              <a:sym typeface="Arial"/>
            </a:endParaRPr>
          </a:p>
        </p:txBody>
      </p:sp>
      <p:sp>
        <p:nvSpPr>
          <p:cNvPr id="119" name="Google Shape;119;p3"/>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120" name="Google Shape;120;p3"/>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Why Can’t Every Block Be Resident at Once?</a:t>
            </a:r>
            <a:endParaRPr b="0" i="0" sz="2500" u="none" cap="none" strike="noStrike">
              <a:solidFill>
                <a:schemeClr val="dk1"/>
              </a:solidFill>
              <a:latin typeface="Arial"/>
              <a:ea typeface="Arial"/>
              <a:cs typeface="Arial"/>
              <a:sym typeface="Arial"/>
            </a:endParaRPr>
          </a:p>
        </p:txBody>
      </p:sp>
      <p:sp>
        <p:nvSpPr>
          <p:cNvPr id="127" name="Google Shape;127;p4"/>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Residency is constrained by finite per-SM resources.</a:t>
            </a:r>
            <a:endParaRPr b="0" i="0" sz="1150" u="none" cap="none" strike="noStrike">
              <a:solidFill>
                <a:schemeClr val="dk1"/>
              </a:solidFill>
              <a:latin typeface="Arial"/>
              <a:ea typeface="Arial"/>
              <a:cs typeface="Arial"/>
              <a:sym typeface="Arial"/>
            </a:endParaRPr>
          </a:p>
        </p:txBody>
      </p:sp>
      <p:sp>
        <p:nvSpPr>
          <p:cNvPr id="128" name="Google Shape;128;p4"/>
          <p:cNvSpPr/>
          <p:nvPr/>
        </p:nvSpPr>
        <p:spPr>
          <a:xfrm>
            <a:off x="640080" y="1325880"/>
            <a:ext cx="5074920" cy="1097280"/>
          </a:xfrm>
          <a:prstGeom prst="roundRect">
            <a:avLst>
              <a:gd fmla="val 666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640080" y="1325880"/>
            <a:ext cx="73152" cy="109728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914400" y="1490472"/>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Threads / warps</a:t>
            </a:r>
            <a:endParaRPr b="0" i="0" sz="1600" u="none" cap="none" strike="noStrike">
              <a:solidFill>
                <a:schemeClr val="dk1"/>
              </a:solidFill>
              <a:latin typeface="Arial"/>
              <a:ea typeface="Arial"/>
              <a:cs typeface="Arial"/>
              <a:sym typeface="Arial"/>
            </a:endParaRPr>
          </a:p>
        </p:txBody>
      </p:sp>
      <p:sp>
        <p:nvSpPr>
          <p:cNvPr id="131" name="Google Shape;131;p4"/>
          <p:cNvSpPr/>
          <p:nvPr/>
        </p:nvSpPr>
        <p:spPr>
          <a:xfrm>
            <a:off x="2606040" y="1472184"/>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Hardware limit on active threads and warps per SM</a:t>
            </a:r>
            <a:endParaRPr b="0" i="0" sz="1150" u="none" cap="none" strike="noStrike">
              <a:solidFill>
                <a:schemeClr val="dk1"/>
              </a:solidFill>
              <a:latin typeface="Arial"/>
              <a:ea typeface="Arial"/>
              <a:cs typeface="Arial"/>
              <a:sym typeface="Arial"/>
            </a:endParaRPr>
          </a:p>
        </p:txBody>
      </p:sp>
      <p:sp>
        <p:nvSpPr>
          <p:cNvPr id="132" name="Google Shape;132;p4"/>
          <p:cNvSpPr/>
          <p:nvPr/>
        </p:nvSpPr>
        <p:spPr>
          <a:xfrm>
            <a:off x="6263640" y="1325880"/>
            <a:ext cx="5074920" cy="1097280"/>
          </a:xfrm>
          <a:prstGeom prst="roundRect">
            <a:avLst>
              <a:gd fmla="val 666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6263640" y="1325880"/>
            <a:ext cx="73152" cy="109728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6537960" y="1490472"/>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Registers</a:t>
            </a:r>
            <a:endParaRPr b="0" i="0" sz="1600" u="none" cap="none" strike="noStrike">
              <a:solidFill>
                <a:schemeClr val="dk1"/>
              </a:solidFill>
              <a:latin typeface="Arial"/>
              <a:ea typeface="Arial"/>
              <a:cs typeface="Arial"/>
              <a:sym typeface="Arial"/>
            </a:endParaRPr>
          </a:p>
        </p:txBody>
      </p:sp>
      <p:sp>
        <p:nvSpPr>
          <p:cNvPr id="135" name="Google Shape;135;p4"/>
          <p:cNvSpPr/>
          <p:nvPr/>
        </p:nvSpPr>
        <p:spPr>
          <a:xfrm>
            <a:off x="8229600" y="1472184"/>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Registers used per thread × threads can limit resident blocks</a:t>
            </a:r>
            <a:endParaRPr b="0" i="0" sz="1150" u="none" cap="none" strike="noStrike">
              <a:solidFill>
                <a:schemeClr val="dk1"/>
              </a:solidFill>
              <a:latin typeface="Arial"/>
              <a:ea typeface="Arial"/>
              <a:cs typeface="Arial"/>
              <a:sym typeface="Arial"/>
            </a:endParaRPr>
          </a:p>
        </p:txBody>
      </p:sp>
      <p:sp>
        <p:nvSpPr>
          <p:cNvPr id="136" name="Google Shape;136;p4"/>
          <p:cNvSpPr/>
          <p:nvPr/>
        </p:nvSpPr>
        <p:spPr>
          <a:xfrm>
            <a:off x="640080" y="2834640"/>
            <a:ext cx="5074920" cy="1097280"/>
          </a:xfrm>
          <a:prstGeom prst="roundRect">
            <a:avLst>
              <a:gd fmla="val 666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640080" y="2834640"/>
            <a:ext cx="73152" cy="109728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914400" y="2999232"/>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Shared memory</a:t>
            </a:r>
            <a:endParaRPr b="0" i="0" sz="1600" u="none" cap="none" strike="noStrike">
              <a:solidFill>
                <a:schemeClr val="dk1"/>
              </a:solidFill>
              <a:latin typeface="Arial"/>
              <a:ea typeface="Arial"/>
              <a:cs typeface="Arial"/>
              <a:sym typeface="Arial"/>
            </a:endParaRPr>
          </a:p>
        </p:txBody>
      </p:sp>
      <p:sp>
        <p:nvSpPr>
          <p:cNvPr id="139" name="Google Shape;139;p4"/>
          <p:cNvSpPr/>
          <p:nvPr/>
        </p:nvSpPr>
        <p:spPr>
          <a:xfrm>
            <a:off x="2606040" y="2980944"/>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Shared memory allocated per block can limit how many blocks fit</a:t>
            </a:r>
            <a:endParaRPr b="0" i="0" sz="1150" u="none" cap="none" strike="noStrike">
              <a:solidFill>
                <a:schemeClr val="dk1"/>
              </a:solidFill>
              <a:latin typeface="Arial"/>
              <a:ea typeface="Arial"/>
              <a:cs typeface="Arial"/>
              <a:sym typeface="Arial"/>
            </a:endParaRPr>
          </a:p>
        </p:txBody>
      </p:sp>
      <p:sp>
        <p:nvSpPr>
          <p:cNvPr id="140" name="Google Shape;140;p4"/>
          <p:cNvSpPr/>
          <p:nvPr/>
        </p:nvSpPr>
        <p:spPr>
          <a:xfrm>
            <a:off x="6263640" y="2834640"/>
            <a:ext cx="5074920" cy="1097280"/>
          </a:xfrm>
          <a:prstGeom prst="roundRect">
            <a:avLst>
              <a:gd fmla="val 666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6263640" y="2834640"/>
            <a:ext cx="73152" cy="109728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6537960" y="2999232"/>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Block limit</a:t>
            </a:r>
            <a:endParaRPr b="0" i="0" sz="1600" u="none" cap="none" strike="noStrike">
              <a:solidFill>
                <a:schemeClr val="dk1"/>
              </a:solidFill>
              <a:latin typeface="Arial"/>
              <a:ea typeface="Arial"/>
              <a:cs typeface="Arial"/>
              <a:sym typeface="Arial"/>
            </a:endParaRPr>
          </a:p>
        </p:txBody>
      </p:sp>
      <p:sp>
        <p:nvSpPr>
          <p:cNvPr id="143" name="Google Shape;143;p4"/>
          <p:cNvSpPr/>
          <p:nvPr/>
        </p:nvSpPr>
        <p:spPr>
          <a:xfrm>
            <a:off x="8229600" y="2980944"/>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Architecture limits the maximum active blocks per SM</a:t>
            </a:r>
            <a:endParaRPr b="0" i="0" sz="1150" u="none" cap="none" strike="noStrike">
              <a:solidFill>
                <a:schemeClr val="dk1"/>
              </a:solidFill>
              <a:latin typeface="Arial"/>
              <a:ea typeface="Arial"/>
              <a:cs typeface="Arial"/>
              <a:sym typeface="Arial"/>
            </a:endParaRPr>
          </a:p>
        </p:txBody>
      </p:sp>
      <p:sp>
        <p:nvSpPr>
          <p:cNvPr id="144" name="Google Shape;144;p4"/>
          <p:cNvSpPr/>
          <p:nvPr/>
        </p:nvSpPr>
        <p:spPr>
          <a:xfrm>
            <a:off x="1051560" y="4617720"/>
            <a:ext cx="10058400" cy="1051560"/>
          </a:xfrm>
          <a:prstGeom prst="roundRect">
            <a:avLst>
              <a:gd fmla="val 4348"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1252728" y="4764024"/>
            <a:ext cx="9656064" cy="7589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Example idea:</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50"/>
              <a:buFont typeface="Arial"/>
              <a:buNone/>
            </a:pPr>
            <a:r>
              <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If one block uses half of an SM's shared memory,</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at most ~2 such blocks can be resident because of shared memory —</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even if thread capacity would allow more.</a:t>
            </a:r>
            <a:endParaRPr b="0" i="0" sz="1250" u="none" cap="none" strike="noStrike">
              <a:solidFill>
                <a:schemeClr val="dk1"/>
              </a:solidFill>
              <a:latin typeface="Arial"/>
              <a:ea typeface="Arial"/>
              <a:cs typeface="Arial"/>
              <a:sym typeface="Arial"/>
            </a:endParaRPr>
          </a:p>
        </p:txBody>
      </p:sp>
      <p:sp>
        <p:nvSpPr>
          <p:cNvPr id="146" name="Google Shape;146;p4"/>
          <p:cNvSpPr/>
          <p:nvPr/>
        </p:nvSpPr>
        <p:spPr>
          <a:xfrm>
            <a:off x="2971800" y="5806440"/>
            <a:ext cx="6217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700"/>
              <a:buFont typeface="Arial"/>
              <a:buNone/>
            </a:pPr>
            <a:r>
              <a:rPr b="1" i="0" lang="en-US" sz="1700" u="none" cap="none" strike="noStrike">
                <a:solidFill>
                  <a:srgbClr val="67C300"/>
                </a:solidFill>
                <a:latin typeface="Arial"/>
                <a:ea typeface="Arial"/>
                <a:cs typeface="Arial"/>
                <a:sym typeface="Arial"/>
              </a:rPr>
              <a:t>Block size alone does not determine occupancy.</a:t>
            </a:r>
            <a:endParaRPr b="0" i="0" sz="1700" u="none" cap="none" strike="noStrike">
              <a:solidFill>
                <a:schemeClr val="dk1"/>
              </a:solidFill>
              <a:latin typeface="Arial"/>
              <a:ea typeface="Arial"/>
              <a:cs typeface="Arial"/>
              <a:sym typeface="Arial"/>
            </a:endParaRPr>
          </a:p>
        </p:txBody>
      </p:sp>
      <p:sp>
        <p:nvSpPr>
          <p:cNvPr id="147" name="Google Shape;147;p4"/>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148" name="Google Shape;148;p4"/>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h5b5df217b602b3c7_0_0"/>
          <p:cNvSpPr/>
          <p:nvPr/>
        </p:nvSpPr>
        <p:spPr>
          <a:xfrm>
            <a:off x="0" y="0"/>
            <a:ext cx="12191700" cy="73200"/>
          </a:xfrm>
          <a:prstGeom prst="rect">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55" name="Google Shape;155;h5b5df217b602b3c7_0_0"/>
          <p:cNvSpPr txBox="1"/>
          <p:nvPr/>
        </p:nvSpPr>
        <p:spPr>
          <a:xfrm>
            <a:off x="530352" y="292608"/>
            <a:ext cx="110643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500" u="none" cap="none" strike="noStrike">
                <a:solidFill>
                  <a:srgbClr val="163D5E"/>
                </a:solidFill>
                <a:latin typeface="Play"/>
                <a:ea typeface="Play"/>
                <a:cs typeface="Play"/>
                <a:sym typeface="Play"/>
              </a:rPr>
              <a:t>Block Scheduling Is Dynamic</a:t>
            </a:r>
            <a:endParaRPr/>
          </a:p>
        </p:txBody>
      </p:sp>
      <p:sp>
        <p:nvSpPr>
          <p:cNvPr id="156" name="Google Shape;156;h5b5df217b602b3c7_0_0"/>
          <p:cNvSpPr txBox="1"/>
          <p:nvPr/>
        </p:nvSpPr>
        <p:spPr>
          <a:xfrm>
            <a:off x="548640" y="758952"/>
            <a:ext cx="109728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B6F89"/>
                </a:solidFill>
                <a:latin typeface="Arial"/>
                <a:ea typeface="Arial"/>
                <a:cs typeface="Arial"/>
                <a:sym typeface="Arial"/>
              </a:rPr>
              <a:t>Blocks enter SMs when resources free up; the exact mapping and completion order are not part of program semantics</a:t>
            </a:r>
            <a:endParaRPr/>
          </a:p>
        </p:txBody>
      </p:sp>
      <p:sp>
        <p:nvSpPr>
          <p:cNvPr id="157" name="Google Shape;157;h5b5df217b602b3c7_0_0"/>
          <p:cNvSpPr txBox="1"/>
          <p:nvPr/>
        </p:nvSpPr>
        <p:spPr>
          <a:xfrm>
            <a:off x="640080" y="1097280"/>
            <a:ext cx="10972800" cy="2679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500" u="none" cap="none" strike="noStrike">
                <a:solidFill>
                  <a:srgbClr val="163D5E"/>
                </a:solidFill>
                <a:latin typeface="Arial"/>
                <a:ea typeface="Arial"/>
                <a:cs typeface="Arial"/>
                <a:sym typeface="Arial"/>
              </a:rPr>
              <a:t>Example: 10 independent blocks, 3 SMs, and up to 2 resident blocks per SM</a:t>
            </a:r>
            <a:endParaRPr/>
          </a:p>
        </p:txBody>
      </p:sp>
      <p:sp>
        <p:nvSpPr>
          <p:cNvPr id="158" name="Google Shape;158;h5b5df217b602b3c7_0_0"/>
          <p:cNvSpPr txBox="1"/>
          <p:nvPr/>
        </p:nvSpPr>
        <p:spPr>
          <a:xfrm>
            <a:off x="640080" y="1828800"/>
            <a:ext cx="914400" cy="2523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400" u="none" cap="none" strike="noStrike">
                <a:solidFill>
                  <a:srgbClr val="163D5E"/>
                </a:solidFill>
                <a:latin typeface="Arial"/>
                <a:ea typeface="Arial"/>
                <a:cs typeface="Arial"/>
                <a:sym typeface="Arial"/>
              </a:rPr>
              <a:t>SM 0</a:t>
            </a:r>
            <a:endParaRPr/>
          </a:p>
        </p:txBody>
      </p:sp>
      <p:sp>
        <p:nvSpPr>
          <p:cNvPr id="159" name="Google Shape;159;h5b5df217b602b3c7_0_0"/>
          <p:cNvSpPr/>
          <p:nvPr/>
        </p:nvSpPr>
        <p:spPr>
          <a:xfrm>
            <a:off x="1828800" y="1600200"/>
            <a:ext cx="8229600" cy="274200"/>
          </a:xfrm>
          <a:prstGeom prst="rect">
            <a:avLst/>
          </a:prstGeom>
          <a:solidFill>
            <a:srgbClr val="EDF1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0" name="Google Shape;160;h5b5df217b602b3c7_0_0"/>
          <p:cNvSpPr/>
          <p:nvPr/>
        </p:nvSpPr>
        <p:spPr>
          <a:xfrm>
            <a:off x="1828800" y="1947672"/>
            <a:ext cx="8229600" cy="274200"/>
          </a:xfrm>
          <a:prstGeom prst="rect">
            <a:avLst/>
          </a:prstGeom>
          <a:solidFill>
            <a:srgbClr val="EDF1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1" name="Google Shape;161;h5b5df217b602b3c7_0_0"/>
          <p:cNvSpPr txBox="1"/>
          <p:nvPr/>
        </p:nvSpPr>
        <p:spPr>
          <a:xfrm>
            <a:off x="640080" y="2971800"/>
            <a:ext cx="914400" cy="2523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400" u="none" cap="none" strike="noStrike">
                <a:solidFill>
                  <a:srgbClr val="163D5E"/>
                </a:solidFill>
                <a:latin typeface="Arial"/>
                <a:ea typeface="Arial"/>
                <a:cs typeface="Arial"/>
                <a:sym typeface="Arial"/>
              </a:rPr>
              <a:t>SM 1</a:t>
            </a:r>
            <a:endParaRPr/>
          </a:p>
        </p:txBody>
      </p:sp>
      <p:sp>
        <p:nvSpPr>
          <p:cNvPr id="162" name="Google Shape;162;h5b5df217b602b3c7_0_0"/>
          <p:cNvSpPr/>
          <p:nvPr/>
        </p:nvSpPr>
        <p:spPr>
          <a:xfrm>
            <a:off x="1828800" y="2743200"/>
            <a:ext cx="8229600" cy="274200"/>
          </a:xfrm>
          <a:prstGeom prst="rect">
            <a:avLst/>
          </a:prstGeom>
          <a:solidFill>
            <a:srgbClr val="EDF1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3" name="Google Shape;163;h5b5df217b602b3c7_0_0"/>
          <p:cNvSpPr/>
          <p:nvPr/>
        </p:nvSpPr>
        <p:spPr>
          <a:xfrm>
            <a:off x="1828800" y="3090672"/>
            <a:ext cx="8229600" cy="274200"/>
          </a:xfrm>
          <a:prstGeom prst="rect">
            <a:avLst/>
          </a:prstGeom>
          <a:solidFill>
            <a:srgbClr val="EDF1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4" name="Google Shape;164;h5b5df217b602b3c7_0_0"/>
          <p:cNvSpPr txBox="1"/>
          <p:nvPr/>
        </p:nvSpPr>
        <p:spPr>
          <a:xfrm>
            <a:off x="640080" y="4114800"/>
            <a:ext cx="914400" cy="2523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400" u="none" cap="none" strike="noStrike">
                <a:solidFill>
                  <a:srgbClr val="163D5E"/>
                </a:solidFill>
                <a:latin typeface="Arial"/>
                <a:ea typeface="Arial"/>
                <a:cs typeface="Arial"/>
                <a:sym typeface="Arial"/>
              </a:rPr>
              <a:t>SM 2</a:t>
            </a:r>
            <a:endParaRPr/>
          </a:p>
        </p:txBody>
      </p:sp>
      <p:sp>
        <p:nvSpPr>
          <p:cNvPr id="165" name="Google Shape;165;h5b5df217b602b3c7_0_0"/>
          <p:cNvSpPr/>
          <p:nvPr/>
        </p:nvSpPr>
        <p:spPr>
          <a:xfrm>
            <a:off x="1828800" y="3886200"/>
            <a:ext cx="8229600" cy="274200"/>
          </a:xfrm>
          <a:prstGeom prst="rect">
            <a:avLst/>
          </a:prstGeom>
          <a:solidFill>
            <a:srgbClr val="EDF1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6" name="Google Shape;166;h5b5df217b602b3c7_0_0"/>
          <p:cNvSpPr/>
          <p:nvPr/>
        </p:nvSpPr>
        <p:spPr>
          <a:xfrm>
            <a:off x="1828800" y="4233672"/>
            <a:ext cx="8229600" cy="274200"/>
          </a:xfrm>
          <a:prstGeom prst="rect">
            <a:avLst/>
          </a:prstGeom>
          <a:solidFill>
            <a:srgbClr val="EDF1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7" name="Google Shape;167;h5b5df217b602b3c7_0_0"/>
          <p:cNvSpPr/>
          <p:nvPr/>
        </p:nvSpPr>
        <p:spPr>
          <a:xfrm>
            <a:off x="1828800" y="1600200"/>
            <a:ext cx="2942100" cy="274200"/>
          </a:xfrm>
          <a:prstGeom prst="roundRect">
            <a:avLst>
              <a:gd fmla="val 16667" name="adj"/>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68" name="Google Shape;168;h5b5df217b602b3c7_0_0"/>
          <p:cNvSpPr txBox="1"/>
          <p:nvPr/>
        </p:nvSpPr>
        <p:spPr>
          <a:xfrm>
            <a:off x="1828800" y="1609344"/>
            <a:ext cx="29421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B0</a:t>
            </a:r>
            <a:endParaRPr/>
          </a:p>
        </p:txBody>
      </p:sp>
      <p:sp>
        <p:nvSpPr>
          <p:cNvPr id="169" name="Google Shape;169;h5b5df217b602b3c7_0_0"/>
          <p:cNvSpPr/>
          <p:nvPr/>
        </p:nvSpPr>
        <p:spPr>
          <a:xfrm>
            <a:off x="4770881" y="1947672"/>
            <a:ext cx="2338500" cy="274200"/>
          </a:xfrm>
          <a:prstGeom prst="roundRect">
            <a:avLst>
              <a:gd fmla="val 16667" name="adj"/>
            </a:avLst>
          </a:prstGeom>
          <a:solidFill>
            <a:srgbClr val="1B93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0" name="Google Shape;170;h5b5df217b602b3c7_0_0"/>
          <p:cNvSpPr txBox="1"/>
          <p:nvPr/>
        </p:nvSpPr>
        <p:spPr>
          <a:xfrm>
            <a:off x="4770881" y="1956815"/>
            <a:ext cx="23385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B5</a:t>
            </a:r>
            <a:endParaRPr/>
          </a:p>
        </p:txBody>
      </p:sp>
      <p:sp>
        <p:nvSpPr>
          <p:cNvPr id="171" name="Google Shape;171;h5b5df217b602b3c7_0_0"/>
          <p:cNvSpPr/>
          <p:nvPr/>
        </p:nvSpPr>
        <p:spPr>
          <a:xfrm>
            <a:off x="7109459" y="1600200"/>
            <a:ext cx="2187600" cy="274200"/>
          </a:xfrm>
          <a:prstGeom prst="roundRect">
            <a:avLst>
              <a:gd fmla="val 16667" name="adj"/>
            </a:avLst>
          </a:prstGeom>
          <a:solidFill>
            <a:srgbClr val="65BE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2" name="Google Shape;172;h5b5df217b602b3c7_0_0"/>
          <p:cNvSpPr txBox="1"/>
          <p:nvPr/>
        </p:nvSpPr>
        <p:spPr>
          <a:xfrm>
            <a:off x="7109459" y="1609344"/>
            <a:ext cx="21876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B8</a:t>
            </a:r>
            <a:endParaRPr/>
          </a:p>
        </p:txBody>
      </p:sp>
      <p:sp>
        <p:nvSpPr>
          <p:cNvPr id="173" name="Google Shape;173;h5b5df217b602b3c7_0_0"/>
          <p:cNvSpPr/>
          <p:nvPr/>
        </p:nvSpPr>
        <p:spPr>
          <a:xfrm>
            <a:off x="1828800" y="2743200"/>
            <a:ext cx="2187600" cy="274200"/>
          </a:xfrm>
          <a:prstGeom prst="roundRect">
            <a:avLst>
              <a:gd fmla="val 16667" name="adj"/>
            </a:avLst>
          </a:prstGeom>
          <a:solidFill>
            <a:srgbClr val="65BE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 name="Google Shape;174;h5b5df217b602b3c7_0_0"/>
          <p:cNvSpPr txBox="1"/>
          <p:nvPr/>
        </p:nvSpPr>
        <p:spPr>
          <a:xfrm>
            <a:off x="1828800" y="2752344"/>
            <a:ext cx="21876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B1</a:t>
            </a:r>
            <a:endParaRPr/>
          </a:p>
        </p:txBody>
      </p:sp>
      <p:sp>
        <p:nvSpPr>
          <p:cNvPr id="175" name="Google Shape;175;h5b5df217b602b3c7_0_0"/>
          <p:cNvSpPr/>
          <p:nvPr/>
        </p:nvSpPr>
        <p:spPr>
          <a:xfrm>
            <a:off x="1828800" y="3090672"/>
            <a:ext cx="3243900" cy="274200"/>
          </a:xfrm>
          <a:prstGeom prst="roundRect">
            <a:avLst>
              <a:gd fmla="val 16667" name="adj"/>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6" name="Google Shape;176;h5b5df217b602b3c7_0_0"/>
          <p:cNvSpPr txBox="1"/>
          <p:nvPr/>
        </p:nvSpPr>
        <p:spPr>
          <a:xfrm>
            <a:off x="1828800" y="3099815"/>
            <a:ext cx="32439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B4</a:t>
            </a:r>
            <a:endParaRPr/>
          </a:p>
        </p:txBody>
      </p:sp>
      <p:sp>
        <p:nvSpPr>
          <p:cNvPr id="177" name="Google Shape;177;h5b5df217b602b3c7_0_0"/>
          <p:cNvSpPr/>
          <p:nvPr/>
        </p:nvSpPr>
        <p:spPr>
          <a:xfrm>
            <a:off x="5072633" y="2743200"/>
            <a:ext cx="2338500" cy="274200"/>
          </a:xfrm>
          <a:prstGeom prst="roundRect">
            <a:avLst>
              <a:gd fmla="val 16667" name="adj"/>
            </a:avLst>
          </a:prstGeom>
          <a:solidFill>
            <a:srgbClr val="1B93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8" name="Google Shape;178;h5b5df217b602b3c7_0_0"/>
          <p:cNvSpPr txBox="1"/>
          <p:nvPr/>
        </p:nvSpPr>
        <p:spPr>
          <a:xfrm>
            <a:off x="5072633" y="2752344"/>
            <a:ext cx="23385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B9</a:t>
            </a:r>
            <a:endParaRPr/>
          </a:p>
        </p:txBody>
      </p:sp>
      <p:sp>
        <p:nvSpPr>
          <p:cNvPr id="179" name="Google Shape;179;h5b5df217b602b3c7_0_0"/>
          <p:cNvSpPr/>
          <p:nvPr/>
        </p:nvSpPr>
        <p:spPr>
          <a:xfrm>
            <a:off x="1828800" y="3886200"/>
            <a:ext cx="2791200" cy="274200"/>
          </a:xfrm>
          <a:prstGeom prst="roundRect">
            <a:avLst>
              <a:gd fmla="val 16667" name="adj"/>
            </a:avLst>
          </a:prstGeom>
          <a:solidFill>
            <a:srgbClr val="1B93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80" name="Google Shape;180;h5b5df217b602b3c7_0_0"/>
          <p:cNvSpPr txBox="1"/>
          <p:nvPr/>
        </p:nvSpPr>
        <p:spPr>
          <a:xfrm>
            <a:off x="1828800" y="3895344"/>
            <a:ext cx="2791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B2</a:t>
            </a:r>
            <a:endParaRPr/>
          </a:p>
        </p:txBody>
      </p:sp>
      <p:sp>
        <p:nvSpPr>
          <p:cNvPr id="181" name="Google Shape;181;h5b5df217b602b3c7_0_0"/>
          <p:cNvSpPr/>
          <p:nvPr/>
        </p:nvSpPr>
        <p:spPr>
          <a:xfrm>
            <a:off x="1828800" y="4233672"/>
            <a:ext cx="1735200" cy="274200"/>
          </a:xfrm>
          <a:prstGeom prst="roundRect">
            <a:avLst>
              <a:gd fmla="val 16667" name="adj"/>
            </a:avLst>
          </a:prstGeom>
          <a:solidFill>
            <a:srgbClr val="C77A1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82" name="Google Shape;182;h5b5df217b602b3c7_0_0"/>
          <p:cNvSpPr txBox="1"/>
          <p:nvPr/>
        </p:nvSpPr>
        <p:spPr>
          <a:xfrm>
            <a:off x="1828800" y="4242816"/>
            <a:ext cx="1735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B3</a:t>
            </a:r>
            <a:endParaRPr/>
          </a:p>
        </p:txBody>
      </p:sp>
      <p:sp>
        <p:nvSpPr>
          <p:cNvPr id="183" name="Google Shape;183;h5b5df217b602b3c7_0_0"/>
          <p:cNvSpPr/>
          <p:nvPr/>
        </p:nvSpPr>
        <p:spPr>
          <a:xfrm>
            <a:off x="3563874" y="4233672"/>
            <a:ext cx="3017400" cy="274200"/>
          </a:xfrm>
          <a:prstGeom prst="roundRect">
            <a:avLst>
              <a:gd fmla="val 16667" name="adj"/>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84" name="Google Shape;184;h5b5df217b602b3c7_0_0"/>
          <p:cNvSpPr txBox="1"/>
          <p:nvPr/>
        </p:nvSpPr>
        <p:spPr>
          <a:xfrm>
            <a:off x="3563874" y="4242816"/>
            <a:ext cx="30174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B6</a:t>
            </a:r>
            <a:endParaRPr/>
          </a:p>
        </p:txBody>
      </p:sp>
      <p:sp>
        <p:nvSpPr>
          <p:cNvPr id="185" name="Google Shape;185;h5b5df217b602b3c7_0_0"/>
          <p:cNvSpPr/>
          <p:nvPr/>
        </p:nvSpPr>
        <p:spPr>
          <a:xfrm>
            <a:off x="4620006" y="3886200"/>
            <a:ext cx="2187600" cy="274200"/>
          </a:xfrm>
          <a:prstGeom prst="roundRect">
            <a:avLst>
              <a:gd fmla="val 16667" name="adj"/>
            </a:avLst>
          </a:prstGeom>
          <a:solidFill>
            <a:srgbClr val="65BE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86" name="Google Shape;186;h5b5df217b602b3c7_0_0"/>
          <p:cNvSpPr txBox="1"/>
          <p:nvPr/>
        </p:nvSpPr>
        <p:spPr>
          <a:xfrm>
            <a:off x="4620006" y="3895344"/>
            <a:ext cx="21876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B7</a:t>
            </a:r>
            <a:endParaRPr/>
          </a:p>
        </p:txBody>
      </p:sp>
      <p:sp>
        <p:nvSpPr>
          <p:cNvPr id="187" name="Google Shape;187;h5b5df217b602b3c7_0_0"/>
          <p:cNvSpPr txBox="1"/>
          <p:nvPr/>
        </p:nvSpPr>
        <p:spPr>
          <a:xfrm>
            <a:off x="1783080" y="5074920"/>
            <a:ext cx="457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0" i="0" lang="en-US" sz="900" u="none" cap="none" strike="noStrike">
                <a:solidFill>
                  <a:srgbClr val="5B6F89"/>
                </a:solidFill>
                <a:latin typeface="Arial"/>
                <a:ea typeface="Arial"/>
                <a:cs typeface="Arial"/>
                <a:sym typeface="Arial"/>
              </a:rPr>
              <a:t>0</a:t>
            </a:r>
            <a:endParaRPr/>
          </a:p>
        </p:txBody>
      </p:sp>
      <p:cxnSp>
        <p:nvCxnSpPr>
          <p:cNvPr id="188" name="Google Shape;188;h5b5df217b602b3c7_0_0"/>
          <p:cNvCxnSpPr/>
          <p:nvPr/>
        </p:nvCxnSpPr>
        <p:spPr>
          <a:xfrm>
            <a:off x="1828800" y="1417320"/>
            <a:ext cx="0" cy="3566100"/>
          </a:xfrm>
          <a:prstGeom prst="straightConnector1">
            <a:avLst/>
          </a:prstGeom>
          <a:noFill/>
          <a:ln cap="flat" cmpd="sng" w="25400">
            <a:solidFill>
              <a:srgbClr val="E2E8EE"/>
            </a:solidFill>
            <a:prstDash val="dash"/>
            <a:round/>
            <a:headEnd len="sm" w="sm" type="none"/>
            <a:tailEnd len="sm" w="sm" type="none"/>
          </a:ln>
          <a:effectLst>
            <a:outerShdw blurRad="40000" rotWithShape="0" dir="5400000" dist="20000">
              <a:srgbClr val="000000">
                <a:alpha val="38040"/>
              </a:srgbClr>
            </a:outerShdw>
          </a:effectLst>
        </p:spPr>
      </p:cxnSp>
      <p:sp>
        <p:nvSpPr>
          <p:cNvPr id="189" name="Google Shape;189;h5b5df217b602b3c7_0_0"/>
          <p:cNvSpPr txBox="1"/>
          <p:nvPr/>
        </p:nvSpPr>
        <p:spPr>
          <a:xfrm>
            <a:off x="3291840" y="5074920"/>
            <a:ext cx="457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0" i="0" lang="en-US" sz="900" u="none" cap="none" strike="noStrike">
                <a:solidFill>
                  <a:srgbClr val="5B6F89"/>
                </a:solidFill>
                <a:latin typeface="Arial"/>
                <a:ea typeface="Arial"/>
                <a:cs typeface="Arial"/>
                <a:sym typeface="Arial"/>
              </a:rPr>
              <a:t>1</a:t>
            </a:r>
            <a:endParaRPr/>
          </a:p>
        </p:txBody>
      </p:sp>
      <p:cxnSp>
        <p:nvCxnSpPr>
          <p:cNvPr id="190" name="Google Shape;190;h5b5df217b602b3c7_0_0"/>
          <p:cNvCxnSpPr/>
          <p:nvPr/>
        </p:nvCxnSpPr>
        <p:spPr>
          <a:xfrm>
            <a:off x="3337560" y="1417320"/>
            <a:ext cx="0" cy="3566100"/>
          </a:xfrm>
          <a:prstGeom prst="straightConnector1">
            <a:avLst/>
          </a:prstGeom>
          <a:noFill/>
          <a:ln cap="flat" cmpd="sng" w="25400">
            <a:solidFill>
              <a:srgbClr val="E2E8EE"/>
            </a:solidFill>
            <a:prstDash val="dash"/>
            <a:round/>
            <a:headEnd len="sm" w="sm" type="none"/>
            <a:tailEnd len="sm" w="sm" type="none"/>
          </a:ln>
          <a:effectLst>
            <a:outerShdw blurRad="40000" rotWithShape="0" dir="5400000" dist="20000">
              <a:srgbClr val="000000">
                <a:alpha val="38040"/>
              </a:srgbClr>
            </a:outerShdw>
          </a:effectLst>
        </p:spPr>
      </p:cxnSp>
      <p:sp>
        <p:nvSpPr>
          <p:cNvPr id="191" name="Google Shape;191;h5b5df217b602b3c7_0_0"/>
          <p:cNvSpPr txBox="1"/>
          <p:nvPr/>
        </p:nvSpPr>
        <p:spPr>
          <a:xfrm>
            <a:off x="4800600" y="5074920"/>
            <a:ext cx="457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0" i="0" lang="en-US" sz="900" u="none" cap="none" strike="noStrike">
                <a:solidFill>
                  <a:srgbClr val="5B6F89"/>
                </a:solidFill>
                <a:latin typeface="Arial"/>
                <a:ea typeface="Arial"/>
                <a:cs typeface="Arial"/>
                <a:sym typeface="Arial"/>
              </a:rPr>
              <a:t>2</a:t>
            </a:r>
            <a:endParaRPr/>
          </a:p>
        </p:txBody>
      </p:sp>
      <p:cxnSp>
        <p:nvCxnSpPr>
          <p:cNvPr id="192" name="Google Shape;192;h5b5df217b602b3c7_0_0"/>
          <p:cNvCxnSpPr/>
          <p:nvPr/>
        </p:nvCxnSpPr>
        <p:spPr>
          <a:xfrm>
            <a:off x="4846320" y="1417320"/>
            <a:ext cx="0" cy="3566100"/>
          </a:xfrm>
          <a:prstGeom prst="straightConnector1">
            <a:avLst/>
          </a:prstGeom>
          <a:noFill/>
          <a:ln cap="flat" cmpd="sng" w="25400">
            <a:solidFill>
              <a:srgbClr val="E2E8EE"/>
            </a:solidFill>
            <a:prstDash val="dash"/>
            <a:round/>
            <a:headEnd len="sm" w="sm" type="none"/>
            <a:tailEnd len="sm" w="sm" type="none"/>
          </a:ln>
          <a:effectLst>
            <a:outerShdw blurRad="40000" rotWithShape="0" dir="5400000" dist="20000">
              <a:srgbClr val="000000">
                <a:alpha val="38040"/>
              </a:srgbClr>
            </a:outerShdw>
          </a:effectLst>
        </p:spPr>
      </p:cxnSp>
      <p:sp>
        <p:nvSpPr>
          <p:cNvPr id="193" name="Google Shape;193;h5b5df217b602b3c7_0_0"/>
          <p:cNvSpPr txBox="1"/>
          <p:nvPr/>
        </p:nvSpPr>
        <p:spPr>
          <a:xfrm>
            <a:off x="6309359" y="5074920"/>
            <a:ext cx="457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0" i="0" lang="en-US" sz="900" u="none" cap="none" strike="noStrike">
                <a:solidFill>
                  <a:srgbClr val="5B6F89"/>
                </a:solidFill>
                <a:latin typeface="Arial"/>
                <a:ea typeface="Arial"/>
                <a:cs typeface="Arial"/>
                <a:sym typeface="Arial"/>
              </a:rPr>
              <a:t>3</a:t>
            </a:r>
            <a:endParaRPr/>
          </a:p>
        </p:txBody>
      </p:sp>
      <p:cxnSp>
        <p:nvCxnSpPr>
          <p:cNvPr id="194" name="Google Shape;194;h5b5df217b602b3c7_0_0"/>
          <p:cNvCxnSpPr/>
          <p:nvPr/>
        </p:nvCxnSpPr>
        <p:spPr>
          <a:xfrm>
            <a:off x="6355079" y="1417320"/>
            <a:ext cx="0" cy="3566100"/>
          </a:xfrm>
          <a:prstGeom prst="straightConnector1">
            <a:avLst/>
          </a:prstGeom>
          <a:noFill/>
          <a:ln cap="flat" cmpd="sng" w="25400">
            <a:solidFill>
              <a:srgbClr val="E2E8EE"/>
            </a:solidFill>
            <a:prstDash val="dash"/>
            <a:round/>
            <a:headEnd len="sm" w="sm" type="none"/>
            <a:tailEnd len="sm" w="sm" type="none"/>
          </a:ln>
          <a:effectLst>
            <a:outerShdw blurRad="40000" rotWithShape="0" dir="5400000" dist="20000">
              <a:srgbClr val="000000">
                <a:alpha val="38040"/>
              </a:srgbClr>
            </a:outerShdw>
          </a:effectLst>
        </p:spPr>
      </p:cxnSp>
      <p:sp>
        <p:nvSpPr>
          <p:cNvPr id="195" name="Google Shape;195;h5b5df217b602b3c7_0_0"/>
          <p:cNvSpPr txBox="1"/>
          <p:nvPr/>
        </p:nvSpPr>
        <p:spPr>
          <a:xfrm>
            <a:off x="7818119" y="5074920"/>
            <a:ext cx="457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0" i="0" lang="en-US" sz="900" u="none" cap="none" strike="noStrike">
                <a:solidFill>
                  <a:srgbClr val="5B6F89"/>
                </a:solidFill>
                <a:latin typeface="Arial"/>
                <a:ea typeface="Arial"/>
                <a:cs typeface="Arial"/>
                <a:sym typeface="Arial"/>
              </a:rPr>
              <a:t>4</a:t>
            </a:r>
            <a:endParaRPr/>
          </a:p>
        </p:txBody>
      </p:sp>
      <p:cxnSp>
        <p:nvCxnSpPr>
          <p:cNvPr id="196" name="Google Shape;196;h5b5df217b602b3c7_0_0"/>
          <p:cNvCxnSpPr/>
          <p:nvPr/>
        </p:nvCxnSpPr>
        <p:spPr>
          <a:xfrm>
            <a:off x="7863840" y="1417320"/>
            <a:ext cx="0" cy="3566100"/>
          </a:xfrm>
          <a:prstGeom prst="straightConnector1">
            <a:avLst/>
          </a:prstGeom>
          <a:noFill/>
          <a:ln cap="flat" cmpd="sng" w="25400">
            <a:solidFill>
              <a:srgbClr val="E2E8EE"/>
            </a:solidFill>
            <a:prstDash val="dash"/>
            <a:round/>
            <a:headEnd len="sm" w="sm" type="none"/>
            <a:tailEnd len="sm" w="sm" type="none"/>
          </a:ln>
          <a:effectLst>
            <a:outerShdw blurRad="40000" rotWithShape="0" dir="5400000" dist="20000">
              <a:srgbClr val="000000">
                <a:alpha val="38040"/>
              </a:srgbClr>
            </a:outerShdw>
          </a:effectLst>
        </p:spPr>
      </p:cxnSp>
      <p:sp>
        <p:nvSpPr>
          <p:cNvPr id="197" name="Google Shape;197;h5b5df217b602b3c7_0_0"/>
          <p:cNvSpPr txBox="1"/>
          <p:nvPr/>
        </p:nvSpPr>
        <p:spPr>
          <a:xfrm>
            <a:off x="9326880" y="5074920"/>
            <a:ext cx="4572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0" i="0" lang="en-US" sz="900" u="none" cap="none" strike="noStrike">
                <a:solidFill>
                  <a:srgbClr val="5B6F89"/>
                </a:solidFill>
                <a:latin typeface="Arial"/>
                <a:ea typeface="Arial"/>
                <a:cs typeface="Arial"/>
                <a:sym typeface="Arial"/>
              </a:rPr>
              <a:t>5</a:t>
            </a:r>
            <a:endParaRPr/>
          </a:p>
        </p:txBody>
      </p:sp>
      <p:cxnSp>
        <p:nvCxnSpPr>
          <p:cNvPr id="198" name="Google Shape;198;h5b5df217b602b3c7_0_0"/>
          <p:cNvCxnSpPr/>
          <p:nvPr/>
        </p:nvCxnSpPr>
        <p:spPr>
          <a:xfrm>
            <a:off x="9372600" y="1417320"/>
            <a:ext cx="0" cy="3566100"/>
          </a:xfrm>
          <a:prstGeom prst="straightConnector1">
            <a:avLst/>
          </a:prstGeom>
          <a:noFill/>
          <a:ln cap="flat" cmpd="sng" w="25400">
            <a:solidFill>
              <a:srgbClr val="E2E8EE"/>
            </a:solidFill>
            <a:prstDash val="dash"/>
            <a:round/>
            <a:headEnd len="sm" w="sm" type="none"/>
            <a:tailEnd len="sm" w="sm" type="none"/>
          </a:ln>
          <a:effectLst>
            <a:outerShdw blurRad="40000" rotWithShape="0" dir="5400000" dist="20000">
              <a:srgbClr val="000000">
                <a:alpha val="38040"/>
              </a:srgbClr>
            </a:outerShdw>
          </a:effectLst>
        </p:spPr>
      </p:cxnSp>
      <p:sp>
        <p:nvSpPr>
          <p:cNvPr id="199" name="Google Shape;199;h5b5df217b602b3c7_0_0"/>
          <p:cNvSpPr txBox="1"/>
          <p:nvPr/>
        </p:nvSpPr>
        <p:spPr>
          <a:xfrm>
            <a:off x="9966960" y="5047488"/>
            <a:ext cx="822900" cy="1908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000" u="none" cap="none" strike="noStrike">
                <a:solidFill>
                  <a:srgbClr val="5B6F89"/>
                </a:solidFill>
                <a:latin typeface="Arial"/>
                <a:ea typeface="Arial"/>
                <a:cs typeface="Arial"/>
                <a:sym typeface="Arial"/>
              </a:rPr>
              <a:t>time →</a:t>
            </a:r>
            <a:endParaRPr/>
          </a:p>
        </p:txBody>
      </p:sp>
      <p:sp>
        <p:nvSpPr>
          <p:cNvPr id="200" name="Google Shape;200;h5b5df217b602b3c7_0_0"/>
          <p:cNvSpPr/>
          <p:nvPr/>
        </p:nvSpPr>
        <p:spPr>
          <a:xfrm>
            <a:off x="731575" y="5371524"/>
            <a:ext cx="10789800" cy="1033200"/>
          </a:xfrm>
          <a:prstGeom prst="roundRect">
            <a:avLst>
              <a:gd fmla="val 16667" name="adj"/>
            </a:avLst>
          </a:prstGeom>
          <a:solidFill>
            <a:srgbClr val="FFFFFF"/>
          </a:solidFill>
          <a:ln cap="flat" cmpd="sng" w="12700">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01" name="Google Shape;201;h5b5df217b602b3c7_0_0"/>
          <p:cNvSpPr/>
          <p:nvPr/>
        </p:nvSpPr>
        <p:spPr>
          <a:xfrm>
            <a:off x="731520" y="5504688"/>
            <a:ext cx="73200" cy="658500"/>
          </a:xfrm>
          <a:prstGeom prst="rect">
            <a:avLst/>
          </a:prstGeom>
          <a:solidFill>
            <a:srgbClr val="65BE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02" name="Google Shape;202;h5b5df217b602b3c7_0_0"/>
          <p:cNvSpPr txBox="1"/>
          <p:nvPr/>
        </p:nvSpPr>
        <p:spPr>
          <a:xfrm>
            <a:off x="906750" y="5498917"/>
            <a:ext cx="10378500" cy="2679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500" u="none" cap="none" strike="noStrike">
                <a:solidFill>
                  <a:srgbClr val="163D5E"/>
                </a:solidFill>
                <a:latin typeface="Arial"/>
                <a:ea typeface="Arial"/>
                <a:cs typeface="Arial"/>
                <a:sym typeface="Arial"/>
              </a:rPr>
              <a:t>Takeaway</a:t>
            </a:r>
            <a:endParaRPr/>
          </a:p>
        </p:txBody>
      </p:sp>
      <p:sp>
        <p:nvSpPr>
          <p:cNvPr id="203" name="Google Shape;203;h5b5df217b602b3c7_0_0"/>
          <p:cNvSpPr txBox="1"/>
          <p:nvPr/>
        </p:nvSpPr>
        <p:spPr>
          <a:xfrm>
            <a:off x="906750" y="5855532"/>
            <a:ext cx="10378500" cy="4218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0" i="0" lang="en-US" sz="1250" u="none" cap="none" strike="noStrike">
                <a:solidFill>
                  <a:srgbClr val="243242"/>
                </a:solidFill>
                <a:latin typeface="Arial"/>
                <a:ea typeface="Arial"/>
                <a:cs typeface="Arial"/>
                <a:sym typeface="Arial"/>
              </a:rPr>
              <a:t>Blocks are intentionally independent. This freedom lets the scheduler place work wherever capacity appears, which improves utilization and scalability.</a:t>
            </a:r>
            <a:endParaRPr/>
          </a:p>
        </p:txBody>
      </p:sp>
      <p:sp>
        <p:nvSpPr>
          <p:cNvPr id="204" name="Google Shape;204;h5b5df217b602b3c7_0_0"/>
          <p:cNvSpPr txBox="1"/>
          <p:nvPr/>
        </p:nvSpPr>
        <p:spPr>
          <a:xfrm>
            <a:off x="9692640" y="6537960"/>
            <a:ext cx="20118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B6F89"/>
                </a:solidFill>
                <a:latin typeface="Arial"/>
                <a:ea typeface="Arial"/>
                <a:cs typeface="Arial"/>
                <a:sym typeface="Arial"/>
              </a:rPr>
              <a:t>GPU Architecture     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6"/>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Inside an SM: Ready vs. Stalled Warps</a:t>
            </a:r>
            <a:endParaRPr b="0" i="0" sz="2500" u="none" cap="none" strike="noStrike">
              <a:solidFill>
                <a:schemeClr val="dk1"/>
              </a:solidFill>
              <a:latin typeface="Arial"/>
              <a:ea typeface="Arial"/>
              <a:cs typeface="Arial"/>
              <a:sym typeface="Arial"/>
            </a:endParaRPr>
          </a:p>
        </p:txBody>
      </p:sp>
      <p:sp>
        <p:nvSpPr>
          <p:cNvPr id="211" name="Google Shape;211;p6"/>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The scheduler issues instructions from warps that are ready to make progress.</a:t>
            </a:r>
            <a:endParaRPr b="0" i="0" sz="1150" u="none" cap="none" strike="noStrike">
              <a:solidFill>
                <a:schemeClr val="dk1"/>
              </a:solidFill>
              <a:latin typeface="Arial"/>
              <a:ea typeface="Arial"/>
              <a:cs typeface="Arial"/>
              <a:sym typeface="Arial"/>
            </a:endParaRPr>
          </a:p>
        </p:txBody>
      </p:sp>
      <p:sp>
        <p:nvSpPr>
          <p:cNvPr id="212" name="Google Shape;212;p6"/>
          <p:cNvSpPr/>
          <p:nvPr/>
        </p:nvSpPr>
        <p:spPr>
          <a:xfrm>
            <a:off x="868680" y="1325880"/>
            <a:ext cx="6583680" cy="621792"/>
          </a:xfrm>
          <a:prstGeom prst="roundRect">
            <a:avLst>
              <a:gd fmla="val 11765" name="adj"/>
            </a:avLst>
          </a:prstGeom>
          <a:solidFill>
            <a:srgbClr val="F1F8E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868680" y="1325880"/>
            <a:ext cx="73152" cy="621792"/>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1097280" y="147218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00"/>
              <a:buFont typeface="Arial"/>
              <a:buNone/>
            </a:pPr>
            <a:r>
              <a:rPr b="1" i="0" lang="en-US" sz="1400" u="none" cap="none" strike="noStrike">
                <a:solidFill>
                  <a:srgbClr val="173E62"/>
                </a:solidFill>
                <a:latin typeface="Arial"/>
                <a:ea typeface="Arial"/>
                <a:cs typeface="Arial"/>
                <a:sym typeface="Arial"/>
              </a:rPr>
              <a:t>Warp 0</a:t>
            </a:r>
            <a:endParaRPr b="0" i="0" sz="1400" u="none" cap="none" strike="noStrike">
              <a:solidFill>
                <a:schemeClr val="dk1"/>
              </a:solidFill>
              <a:latin typeface="Arial"/>
              <a:ea typeface="Arial"/>
              <a:cs typeface="Arial"/>
              <a:sym typeface="Arial"/>
            </a:endParaRPr>
          </a:p>
        </p:txBody>
      </p:sp>
      <p:sp>
        <p:nvSpPr>
          <p:cNvPr id="215" name="Google Shape;215;p6"/>
          <p:cNvSpPr/>
          <p:nvPr/>
        </p:nvSpPr>
        <p:spPr>
          <a:xfrm>
            <a:off x="2148840" y="147218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C300"/>
              </a:buClr>
              <a:buSzPts val="1200"/>
              <a:buFont typeface="Arial"/>
              <a:buNone/>
            </a:pPr>
            <a:r>
              <a:rPr b="1" i="0" lang="en-US" sz="1200" u="none" cap="none" strike="noStrike">
                <a:solidFill>
                  <a:srgbClr val="67C300"/>
                </a:solidFill>
                <a:latin typeface="Arial"/>
                <a:ea typeface="Arial"/>
                <a:cs typeface="Arial"/>
                <a:sym typeface="Arial"/>
              </a:rPr>
              <a:t>READY</a:t>
            </a:r>
            <a:endParaRPr b="0" i="0" sz="1200" u="none" cap="none" strike="noStrike">
              <a:solidFill>
                <a:schemeClr val="dk1"/>
              </a:solidFill>
              <a:latin typeface="Arial"/>
              <a:ea typeface="Arial"/>
              <a:cs typeface="Arial"/>
              <a:sym typeface="Arial"/>
            </a:endParaRPr>
          </a:p>
        </p:txBody>
      </p:sp>
      <p:sp>
        <p:nvSpPr>
          <p:cNvPr id="216" name="Google Shape;216;p6"/>
          <p:cNvSpPr/>
          <p:nvPr/>
        </p:nvSpPr>
        <p:spPr>
          <a:xfrm>
            <a:off x="3246120" y="1472184"/>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00"/>
              <a:buFont typeface="Arial"/>
              <a:buNone/>
            </a:pPr>
            <a:r>
              <a:rPr b="0" i="0" lang="en-US" sz="1200" u="none" cap="none" strike="noStrike">
                <a:solidFill>
                  <a:srgbClr val="26384C"/>
                </a:solidFill>
                <a:latin typeface="Arial"/>
                <a:ea typeface="Arial"/>
                <a:cs typeface="Arial"/>
                <a:sym typeface="Arial"/>
              </a:rPr>
              <a:t>compute instruction</a:t>
            </a:r>
            <a:endParaRPr b="0" i="0" sz="1200" u="none" cap="none" strike="noStrike">
              <a:solidFill>
                <a:schemeClr val="dk1"/>
              </a:solidFill>
              <a:latin typeface="Arial"/>
              <a:ea typeface="Arial"/>
              <a:cs typeface="Arial"/>
              <a:sym typeface="Arial"/>
            </a:endParaRPr>
          </a:p>
        </p:txBody>
      </p:sp>
      <p:sp>
        <p:nvSpPr>
          <p:cNvPr id="217" name="Google Shape;217;p6"/>
          <p:cNvSpPr/>
          <p:nvPr/>
        </p:nvSpPr>
        <p:spPr>
          <a:xfrm>
            <a:off x="868680" y="2194560"/>
            <a:ext cx="6583680" cy="621792"/>
          </a:xfrm>
          <a:prstGeom prst="roundRect">
            <a:avLst>
              <a:gd fmla="val 11765" name="adj"/>
            </a:avLst>
          </a:prstGeom>
          <a:solidFill>
            <a:srgbClr val="FDEDE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868680" y="2194560"/>
            <a:ext cx="73152" cy="621792"/>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1097280" y="234086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00"/>
              <a:buFont typeface="Arial"/>
              <a:buNone/>
            </a:pPr>
            <a:r>
              <a:rPr b="1" i="0" lang="en-US" sz="1400" u="none" cap="none" strike="noStrike">
                <a:solidFill>
                  <a:srgbClr val="173E62"/>
                </a:solidFill>
                <a:latin typeface="Arial"/>
                <a:ea typeface="Arial"/>
                <a:cs typeface="Arial"/>
                <a:sym typeface="Arial"/>
              </a:rPr>
              <a:t>Warp 1</a:t>
            </a:r>
            <a:endParaRPr b="0" i="0" sz="1400" u="none" cap="none" strike="noStrike">
              <a:solidFill>
                <a:schemeClr val="dk1"/>
              </a:solidFill>
              <a:latin typeface="Arial"/>
              <a:ea typeface="Arial"/>
              <a:cs typeface="Arial"/>
              <a:sym typeface="Arial"/>
            </a:endParaRPr>
          </a:p>
        </p:txBody>
      </p:sp>
      <p:sp>
        <p:nvSpPr>
          <p:cNvPr id="220" name="Google Shape;220;p6"/>
          <p:cNvSpPr/>
          <p:nvPr/>
        </p:nvSpPr>
        <p:spPr>
          <a:xfrm>
            <a:off x="2148840" y="234086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483B"/>
              </a:buClr>
              <a:buSzPts val="1200"/>
              <a:buFont typeface="Arial"/>
              <a:buNone/>
            </a:pPr>
            <a:r>
              <a:rPr b="1" i="0" lang="en-US" sz="1200" u="none" cap="none" strike="noStrike">
                <a:solidFill>
                  <a:srgbClr val="D4483B"/>
                </a:solidFill>
                <a:latin typeface="Arial"/>
                <a:ea typeface="Arial"/>
                <a:cs typeface="Arial"/>
                <a:sym typeface="Arial"/>
              </a:rPr>
              <a:t>STALLED</a:t>
            </a:r>
            <a:endParaRPr b="0" i="0" sz="1200" u="none" cap="none" strike="noStrike">
              <a:solidFill>
                <a:schemeClr val="dk1"/>
              </a:solidFill>
              <a:latin typeface="Arial"/>
              <a:ea typeface="Arial"/>
              <a:cs typeface="Arial"/>
              <a:sym typeface="Arial"/>
            </a:endParaRPr>
          </a:p>
        </p:txBody>
      </p:sp>
      <p:sp>
        <p:nvSpPr>
          <p:cNvPr id="221" name="Google Shape;221;p6"/>
          <p:cNvSpPr/>
          <p:nvPr/>
        </p:nvSpPr>
        <p:spPr>
          <a:xfrm>
            <a:off x="3246120" y="2340864"/>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00"/>
              <a:buFont typeface="Arial"/>
              <a:buNone/>
            </a:pPr>
            <a:r>
              <a:rPr b="0" i="0" lang="en-US" sz="1200" u="none" cap="none" strike="noStrike">
                <a:solidFill>
                  <a:srgbClr val="26384C"/>
                </a:solidFill>
                <a:latin typeface="Arial"/>
                <a:ea typeface="Arial"/>
                <a:cs typeface="Arial"/>
                <a:sym typeface="Arial"/>
              </a:rPr>
              <a:t>waiting on global-memory load</a:t>
            </a:r>
            <a:endParaRPr b="0" i="0" sz="1200" u="none" cap="none" strike="noStrike">
              <a:solidFill>
                <a:schemeClr val="dk1"/>
              </a:solidFill>
              <a:latin typeface="Arial"/>
              <a:ea typeface="Arial"/>
              <a:cs typeface="Arial"/>
              <a:sym typeface="Arial"/>
            </a:endParaRPr>
          </a:p>
        </p:txBody>
      </p:sp>
      <p:sp>
        <p:nvSpPr>
          <p:cNvPr id="222" name="Google Shape;222;p6"/>
          <p:cNvSpPr/>
          <p:nvPr/>
        </p:nvSpPr>
        <p:spPr>
          <a:xfrm>
            <a:off x="868680" y="3063240"/>
            <a:ext cx="6583680" cy="621792"/>
          </a:xfrm>
          <a:prstGeom prst="roundRect">
            <a:avLst>
              <a:gd fmla="val 11765" name="adj"/>
            </a:avLst>
          </a:prstGeom>
          <a:solidFill>
            <a:srgbClr val="F1F8E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868680" y="3063240"/>
            <a:ext cx="73152" cy="621792"/>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1097280" y="320954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00"/>
              <a:buFont typeface="Arial"/>
              <a:buNone/>
            </a:pPr>
            <a:r>
              <a:rPr b="1" i="0" lang="en-US" sz="1400" u="none" cap="none" strike="noStrike">
                <a:solidFill>
                  <a:srgbClr val="173E62"/>
                </a:solidFill>
                <a:latin typeface="Arial"/>
                <a:ea typeface="Arial"/>
                <a:cs typeface="Arial"/>
                <a:sym typeface="Arial"/>
              </a:rPr>
              <a:t>Warp 2</a:t>
            </a:r>
            <a:endParaRPr b="0" i="0" sz="1400" u="none" cap="none" strike="noStrike">
              <a:solidFill>
                <a:schemeClr val="dk1"/>
              </a:solidFill>
              <a:latin typeface="Arial"/>
              <a:ea typeface="Arial"/>
              <a:cs typeface="Arial"/>
              <a:sym typeface="Arial"/>
            </a:endParaRPr>
          </a:p>
        </p:txBody>
      </p:sp>
      <p:sp>
        <p:nvSpPr>
          <p:cNvPr id="225" name="Google Shape;225;p6"/>
          <p:cNvSpPr/>
          <p:nvPr/>
        </p:nvSpPr>
        <p:spPr>
          <a:xfrm>
            <a:off x="2148840" y="320954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C300"/>
              </a:buClr>
              <a:buSzPts val="1200"/>
              <a:buFont typeface="Arial"/>
              <a:buNone/>
            </a:pPr>
            <a:r>
              <a:rPr b="1" i="0" lang="en-US" sz="1200" u="none" cap="none" strike="noStrike">
                <a:solidFill>
                  <a:srgbClr val="67C300"/>
                </a:solidFill>
                <a:latin typeface="Arial"/>
                <a:ea typeface="Arial"/>
                <a:cs typeface="Arial"/>
                <a:sym typeface="Arial"/>
              </a:rPr>
              <a:t>READY</a:t>
            </a:r>
            <a:endParaRPr b="0" i="0" sz="1200" u="none" cap="none" strike="noStrike">
              <a:solidFill>
                <a:schemeClr val="dk1"/>
              </a:solidFill>
              <a:latin typeface="Arial"/>
              <a:ea typeface="Arial"/>
              <a:cs typeface="Arial"/>
              <a:sym typeface="Arial"/>
            </a:endParaRPr>
          </a:p>
        </p:txBody>
      </p:sp>
      <p:sp>
        <p:nvSpPr>
          <p:cNvPr id="226" name="Google Shape;226;p6"/>
          <p:cNvSpPr/>
          <p:nvPr/>
        </p:nvSpPr>
        <p:spPr>
          <a:xfrm>
            <a:off x="3246120" y="3209544"/>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00"/>
              <a:buFont typeface="Arial"/>
              <a:buNone/>
            </a:pPr>
            <a:r>
              <a:rPr b="0" i="0" lang="en-US" sz="1200" u="none" cap="none" strike="noStrike">
                <a:solidFill>
                  <a:srgbClr val="26384C"/>
                </a:solidFill>
                <a:latin typeface="Arial"/>
                <a:ea typeface="Arial"/>
                <a:cs typeface="Arial"/>
                <a:sym typeface="Arial"/>
              </a:rPr>
              <a:t>independent arithmetic</a:t>
            </a:r>
            <a:endParaRPr b="0" i="0" sz="1200" u="none" cap="none" strike="noStrike">
              <a:solidFill>
                <a:schemeClr val="dk1"/>
              </a:solidFill>
              <a:latin typeface="Arial"/>
              <a:ea typeface="Arial"/>
              <a:cs typeface="Arial"/>
              <a:sym typeface="Arial"/>
            </a:endParaRPr>
          </a:p>
        </p:txBody>
      </p:sp>
      <p:sp>
        <p:nvSpPr>
          <p:cNvPr id="227" name="Google Shape;227;p6"/>
          <p:cNvSpPr/>
          <p:nvPr/>
        </p:nvSpPr>
        <p:spPr>
          <a:xfrm>
            <a:off x="868680" y="3931920"/>
            <a:ext cx="6583680" cy="621792"/>
          </a:xfrm>
          <a:prstGeom prst="roundRect">
            <a:avLst>
              <a:gd fmla="val 11765" name="adj"/>
            </a:avLst>
          </a:prstGeom>
          <a:solidFill>
            <a:srgbClr val="FFF5E5"/>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868680" y="3931920"/>
            <a:ext cx="73152" cy="621792"/>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1097280" y="407822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00"/>
              <a:buFont typeface="Arial"/>
              <a:buNone/>
            </a:pPr>
            <a:r>
              <a:rPr b="1" i="0" lang="en-US" sz="1400" u="none" cap="none" strike="noStrike">
                <a:solidFill>
                  <a:srgbClr val="173E62"/>
                </a:solidFill>
                <a:latin typeface="Arial"/>
                <a:ea typeface="Arial"/>
                <a:cs typeface="Arial"/>
                <a:sym typeface="Arial"/>
              </a:rPr>
              <a:t>Warp 3</a:t>
            </a:r>
            <a:endParaRPr b="0" i="0" sz="1400" u="none" cap="none" strike="noStrike">
              <a:solidFill>
                <a:schemeClr val="dk1"/>
              </a:solidFill>
              <a:latin typeface="Arial"/>
              <a:ea typeface="Arial"/>
              <a:cs typeface="Arial"/>
              <a:sym typeface="Arial"/>
            </a:endParaRPr>
          </a:p>
        </p:txBody>
      </p:sp>
      <p:sp>
        <p:nvSpPr>
          <p:cNvPr id="230" name="Google Shape;230;p6"/>
          <p:cNvSpPr/>
          <p:nvPr/>
        </p:nvSpPr>
        <p:spPr>
          <a:xfrm>
            <a:off x="2148840" y="4078224"/>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7A12"/>
              </a:buClr>
              <a:buSzPts val="1200"/>
              <a:buFont typeface="Arial"/>
              <a:buNone/>
            </a:pPr>
            <a:r>
              <a:rPr b="1" i="0" lang="en-US" sz="1200" u="none" cap="none" strike="noStrike">
                <a:solidFill>
                  <a:srgbClr val="C27A12"/>
                </a:solidFill>
                <a:latin typeface="Arial"/>
                <a:ea typeface="Arial"/>
                <a:cs typeface="Arial"/>
                <a:sym typeface="Arial"/>
              </a:rPr>
              <a:t>STALLED</a:t>
            </a:r>
            <a:endParaRPr b="0" i="0" sz="1200" u="none" cap="none" strike="noStrike">
              <a:solidFill>
                <a:schemeClr val="dk1"/>
              </a:solidFill>
              <a:latin typeface="Arial"/>
              <a:ea typeface="Arial"/>
              <a:cs typeface="Arial"/>
              <a:sym typeface="Arial"/>
            </a:endParaRPr>
          </a:p>
        </p:txBody>
      </p:sp>
      <p:sp>
        <p:nvSpPr>
          <p:cNvPr id="231" name="Google Shape;231;p6"/>
          <p:cNvSpPr/>
          <p:nvPr/>
        </p:nvSpPr>
        <p:spPr>
          <a:xfrm>
            <a:off x="3246120" y="4078224"/>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00"/>
              <a:buFont typeface="Arial"/>
              <a:buNone/>
            </a:pPr>
            <a:r>
              <a:rPr b="0" i="0" lang="en-US" sz="1200" u="none" cap="none" strike="noStrike">
                <a:solidFill>
                  <a:srgbClr val="26384C"/>
                </a:solidFill>
                <a:latin typeface="Arial"/>
                <a:ea typeface="Arial"/>
                <a:cs typeface="Arial"/>
                <a:sym typeface="Arial"/>
              </a:rPr>
              <a:t>dependency / synchronization</a:t>
            </a:r>
            <a:endParaRPr b="0" i="0" sz="1200" u="none" cap="none" strike="noStrike">
              <a:solidFill>
                <a:schemeClr val="dk1"/>
              </a:solidFill>
              <a:latin typeface="Arial"/>
              <a:ea typeface="Arial"/>
              <a:cs typeface="Arial"/>
              <a:sym typeface="Arial"/>
            </a:endParaRPr>
          </a:p>
        </p:txBody>
      </p:sp>
      <p:cxnSp>
        <p:nvCxnSpPr>
          <p:cNvPr id="232" name="Google Shape;232;p6"/>
          <p:cNvCxnSpPr/>
          <p:nvPr/>
        </p:nvCxnSpPr>
        <p:spPr>
          <a:xfrm>
            <a:off x="7818120" y="2743200"/>
            <a:ext cx="914400" cy="0"/>
          </a:xfrm>
          <a:prstGeom prst="straightConnector1">
            <a:avLst/>
          </a:prstGeom>
          <a:noFill/>
          <a:ln cap="flat" cmpd="sng" w="25400">
            <a:solidFill>
              <a:srgbClr val="173E62"/>
            </a:solidFill>
            <a:prstDash val="solid"/>
            <a:round/>
            <a:headEnd len="sm" w="sm" type="none"/>
            <a:tailEnd len="med" w="med" type="triangle"/>
          </a:ln>
        </p:spPr>
      </p:cxnSp>
      <p:sp>
        <p:nvSpPr>
          <p:cNvPr id="233" name="Google Shape;233;p6"/>
          <p:cNvSpPr/>
          <p:nvPr/>
        </p:nvSpPr>
        <p:spPr>
          <a:xfrm>
            <a:off x="8869680" y="1828800"/>
            <a:ext cx="2468880" cy="1828800"/>
          </a:xfrm>
          <a:prstGeom prst="roundRect">
            <a:avLst>
              <a:gd fmla="val 4000" name="adj"/>
            </a:avLst>
          </a:prstGeom>
          <a:solidFill>
            <a:srgbClr val="EAF3F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8869680" y="1828800"/>
            <a:ext cx="73152" cy="182880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a:off x="9189720" y="2057400"/>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700"/>
              <a:buFont typeface="Arial"/>
              <a:buNone/>
            </a:pPr>
            <a:r>
              <a:rPr b="1" i="0" lang="en-US" sz="1700" u="none" cap="none" strike="noStrike">
                <a:solidFill>
                  <a:srgbClr val="173E62"/>
                </a:solidFill>
                <a:latin typeface="Arial"/>
                <a:ea typeface="Arial"/>
                <a:cs typeface="Arial"/>
                <a:sym typeface="Arial"/>
              </a:rPr>
              <a:t>Warp scheduler</a:t>
            </a:r>
            <a:endParaRPr b="0" i="0" sz="1700" u="none" cap="none" strike="noStrike">
              <a:solidFill>
                <a:schemeClr val="dk1"/>
              </a:solidFill>
              <a:latin typeface="Arial"/>
              <a:ea typeface="Arial"/>
              <a:cs typeface="Arial"/>
              <a:sym typeface="Arial"/>
            </a:endParaRPr>
          </a:p>
        </p:txBody>
      </p:sp>
      <p:sp>
        <p:nvSpPr>
          <p:cNvPr id="236" name="Google Shape;236;p6"/>
          <p:cNvSpPr/>
          <p:nvPr/>
        </p:nvSpPr>
        <p:spPr>
          <a:xfrm>
            <a:off x="9144000" y="2697480"/>
            <a:ext cx="19202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200"/>
              <a:buFont typeface="Arial"/>
              <a:buNone/>
            </a:pPr>
            <a:r>
              <a:rPr b="0" i="0" lang="en-US" sz="1200" u="none" cap="none" strike="noStrike">
                <a:solidFill>
                  <a:srgbClr val="26384C"/>
                </a:solidFill>
                <a:latin typeface="Arial"/>
                <a:ea typeface="Arial"/>
                <a:cs typeface="Arial"/>
                <a:sym typeface="Arial"/>
              </a:rPr>
              <a:t>Select a ready warp</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200"/>
              <a:buFont typeface="Arial"/>
              <a:buNone/>
            </a:pPr>
            <a:r>
              <a:rPr b="0" i="0" lang="en-US" sz="1200" u="none" cap="none" strike="noStrike">
                <a:solidFill>
                  <a:srgbClr val="26384C"/>
                </a:solidFill>
                <a:latin typeface="Arial"/>
                <a:ea typeface="Arial"/>
                <a:cs typeface="Arial"/>
                <a:sym typeface="Arial"/>
              </a:rPr>
              <a:t>and issue its next instruction</a:t>
            </a:r>
            <a:endParaRPr b="0" i="0" sz="1200" u="none" cap="none" strike="noStrike">
              <a:solidFill>
                <a:schemeClr val="dk1"/>
              </a:solidFill>
              <a:latin typeface="Arial"/>
              <a:ea typeface="Arial"/>
              <a:cs typeface="Arial"/>
              <a:sym typeface="Arial"/>
            </a:endParaRPr>
          </a:p>
        </p:txBody>
      </p:sp>
      <p:sp>
        <p:nvSpPr>
          <p:cNvPr id="237" name="Google Shape;237;p6"/>
          <p:cNvSpPr/>
          <p:nvPr/>
        </p:nvSpPr>
        <p:spPr>
          <a:xfrm>
            <a:off x="1828800" y="5166360"/>
            <a:ext cx="8412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3A3"/>
              </a:buClr>
              <a:buSzPts val="1800"/>
              <a:buFont typeface="Arial"/>
              <a:buNone/>
            </a:pPr>
            <a:r>
              <a:rPr b="1" i="0" lang="en-US" sz="1800" u="none" cap="none" strike="noStrike">
                <a:solidFill>
                  <a:srgbClr val="1493A3"/>
                </a:solidFill>
                <a:latin typeface="Arial"/>
                <a:ea typeface="Arial"/>
                <a:cs typeface="Arial"/>
                <a:sym typeface="Arial"/>
              </a:rPr>
              <a:t>This rapid selection is the foundation of CUDA latency tolerance.</a:t>
            </a:r>
            <a:endParaRPr b="0" i="0" sz="1800" u="none" cap="none" strike="noStrike">
              <a:solidFill>
                <a:schemeClr val="dk1"/>
              </a:solidFill>
              <a:latin typeface="Arial"/>
              <a:ea typeface="Arial"/>
              <a:cs typeface="Arial"/>
              <a:sym typeface="Arial"/>
            </a:endParaRPr>
          </a:p>
        </p:txBody>
      </p:sp>
      <p:sp>
        <p:nvSpPr>
          <p:cNvPr id="238" name="Google Shape;238;p6"/>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239" name="Google Shape;239;p6"/>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5"/>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Occupancy: Useful, but Not the Goal</a:t>
            </a:r>
            <a:endParaRPr b="0" i="0" sz="2500" u="none" cap="none" strike="noStrike">
              <a:solidFill>
                <a:schemeClr val="dk1"/>
              </a:solidFill>
              <a:latin typeface="Arial"/>
              <a:ea typeface="Arial"/>
              <a:cs typeface="Arial"/>
              <a:sym typeface="Arial"/>
            </a:endParaRPr>
          </a:p>
        </p:txBody>
      </p:sp>
      <p:sp>
        <p:nvSpPr>
          <p:cNvPr id="246" name="Google Shape;246;p5"/>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Occupancy ≈ active warps on an SM relative to the maximum supported active warps.</a:t>
            </a:r>
            <a:endParaRPr b="0" i="0" sz="1150" u="none" cap="none" strike="noStrike">
              <a:solidFill>
                <a:schemeClr val="dk1"/>
              </a:solidFill>
              <a:latin typeface="Arial"/>
              <a:ea typeface="Arial"/>
              <a:cs typeface="Arial"/>
              <a:sym typeface="Arial"/>
            </a:endParaRPr>
          </a:p>
        </p:txBody>
      </p:sp>
      <p:sp>
        <p:nvSpPr>
          <p:cNvPr id="247" name="Google Shape;247;p5"/>
          <p:cNvSpPr/>
          <p:nvPr/>
        </p:nvSpPr>
        <p:spPr>
          <a:xfrm>
            <a:off x="685800" y="1325875"/>
            <a:ext cx="8453400" cy="3291900"/>
          </a:xfrm>
          <a:prstGeom prst="roundRect">
            <a:avLst>
              <a:gd fmla="val 222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685800" y="1325880"/>
            <a:ext cx="73152" cy="329184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960120" y="1600200"/>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Why higher occupancy can help</a:t>
            </a:r>
            <a:endParaRPr b="0" i="0" sz="1800" u="none" cap="none" strike="noStrike">
              <a:solidFill>
                <a:schemeClr val="dk1"/>
              </a:solidFill>
              <a:latin typeface="Arial"/>
              <a:ea typeface="Arial"/>
              <a:cs typeface="Arial"/>
              <a:sym typeface="Arial"/>
            </a:endParaRPr>
          </a:p>
        </p:txBody>
      </p:sp>
      <p:sp>
        <p:nvSpPr>
          <p:cNvPr id="250" name="Google Shape;250;p5"/>
          <p:cNvSpPr/>
          <p:nvPr/>
        </p:nvSpPr>
        <p:spPr>
          <a:xfrm>
            <a:off x="960128" y="2057400"/>
            <a:ext cx="7093800" cy="2011800"/>
          </a:xfrm>
          <a:prstGeom prst="rect">
            <a:avLst/>
          </a:prstGeom>
          <a:noFill/>
          <a:ln>
            <a:noFill/>
          </a:ln>
        </p:spPr>
        <p:txBody>
          <a:bodyPr anchorCtr="0" anchor="ctr" bIns="250" lIns="250" spcFirstLastPara="1" rIns="250" wrap="square" tIns="250">
            <a:normAutofit/>
          </a:bodyPr>
          <a:lstStyle/>
          <a:p>
            <a:pPr indent="-177800" lvl="0" marL="177800" marR="0" rtl="0" algn="l">
              <a:lnSpc>
                <a:spcPct val="150000"/>
              </a:lnSpc>
              <a:spcBef>
                <a:spcPts val="0"/>
              </a:spcBef>
              <a:spcAft>
                <a:spcPts val="0"/>
              </a:spcAft>
              <a:buClr>
                <a:srgbClr val="26384C"/>
              </a:buClr>
              <a:buSzPts val="1350"/>
              <a:buFont typeface="Arial"/>
              <a:buChar char="•"/>
            </a:pPr>
            <a:r>
              <a:rPr b="0" i="0" lang="en-US" sz="1350" u="none" cap="none" strike="noStrike">
                <a:solidFill>
                  <a:srgbClr val="26384C"/>
                </a:solidFill>
                <a:latin typeface="Arial"/>
                <a:ea typeface="Arial"/>
                <a:cs typeface="Arial"/>
                <a:sym typeface="Arial"/>
              </a:rPr>
              <a:t>More resident warps give the scheduler more alternatives when some warps stall.</a:t>
            </a:r>
            <a:endParaRPr b="0" i="0" sz="1350" u="none" cap="none" strike="noStrike">
              <a:solidFill>
                <a:schemeClr val="dk1"/>
              </a:solidFill>
              <a:latin typeface="Arial"/>
              <a:ea typeface="Arial"/>
              <a:cs typeface="Arial"/>
              <a:sym typeface="Arial"/>
            </a:endParaRPr>
          </a:p>
          <a:p>
            <a:pPr indent="-177800" lvl="0" marL="177800" marR="0" rtl="0" algn="l">
              <a:lnSpc>
                <a:spcPct val="150000"/>
              </a:lnSpc>
              <a:spcBef>
                <a:spcPts val="0"/>
              </a:spcBef>
              <a:spcAft>
                <a:spcPts val="0"/>
              </a:spcAft>
              <a:buClr>
                <a:srgbClr val="26384C"/>
              </a:buClr>
              <a:buSzPts val="1350"/>
              <a:buFont typeface="Arial"/>
              <a:buChar char="•"/>
            </a:pPr>
            <a:r>
              <a:rPr b="0" i="0" lang="en-US" sz="1350" u="none" cap="none" strike="noStrike">
                <a:solidFill>
                  <a:srgbClr val="26384C"/>
                </a:solidFill>
                <a:latin typeface="Arial"/>
                <a:ea typeface="Arial"/>
                <a:cs typeface="Arial"/>
                <a:sym typeface="Arial"/>
              </a:rPr>
              <a:t>Useful for hiding memory and instruction latency.</a:t>
            </a:r>
            <a:endParaRPr b="0" i="0" sz="1350" u="none" cap="none" strike="noStrike">
              <a:solidFill>
                <a:schemeClr val="dk1"/>
              </a:solidFill>
              <a:latin typeface="Arial"/>
              <a:ea typeface="Arial"/>
              <a:cs typeface="Arial"/>
              <a:sym typeface="Arial"/>
            </a:endParaRPr>
          </a:p>
          <a:p>
            <a:pPr indent="-177800" lvl="0" marL="177800" marR="0" rtl="0" algn="l">
              <a:lnSpc>
                <a:spcPct val="150000"/>
              </a:lnSpc>
              <a:spcBef>
                <a:spcPts val="0"/>
              </a:spcBef>
              <a:spcAft>
                <a:spcPts val="0"/>
              </a:spcAft>
              <a:buClr>
                <a:srgbClr val="26384C"/>
              </a:buClr>
              <a:buSzPts val="1350"/>
              <a:buFont typeface="Arial"/>
              <a:buChar char="•"/>
            </a:pPr>
            <a:r>
              <a:rPr b="0" i="0" lang="en-US" sz="1350" u="none" cap="none" strike="noStrike">
                <a:solidFill>
                  <a:srgbClr val="26384C"/>
                </a:solidFill>
                <a:latin typeface="Arial"/>
                <a:ea typeface="Arial"/>
                <a:cs typeface="Arial"/>
                <a:sym typeface="Arial"/>
              </a:rPr>
              <a:t>Often improved by reasonable block sizes and moderate resource usage.</a:t>
            </a:r>
            <a:endParaRPr b="0" i="0" sz="1350" u="none" cap="none" strike="noStrike">
              <a:solidFill>
                <a:schemeClr val="dk1"/>
              </a:solidFill>
              <a:latin typeface="Arial"/>
              <a:ea typeface="Arial"/>
              <a:cs typeface="Arial"/>
              <a:sym typeface="Arial"/>
            </a:endParaRPr>
          </a:p>
        </p:txBody>
      </p:sp>
      <p:sp>
        <p:nvSpPr>
          <p:cNvPr id="251" name="Google Shape;251;p5"/>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252" name="Google Shape;252;p5"/>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Control Divergence: One Warp, Multiple Paths</a:t>
            </a:r>
            <a:endParaRPr b="0" i="0" sz="2500" u="none" cap="none" strike="noStrike">
              <a:solidFill>
                <a:schemeClr val="dk1"/>
              </a:solidFill>
              <a:latin typeface="Arial"/>
              <a:ea typeface="Arial"/>
              <a:cs typeface="Arial"/>
              <a:sym typeface="Arial"/>
            </a:endParaRPr>
          </a:p>
        </p:txBody>
      </p:sp>
      <p:sp>
        <p:nvSpPr>
          <p:cNvPr id="259" name="Google Shape;259;p7"/>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Divergence matters when threads in the same warp choose different control-flow paths.</a:t>
            </a:r>
            <a:endParaRPr b="0" i="0" sz="1150" u="none" cap="none" strike="noStrike">
              <a:solidFill>
                <a:schemeClr val="dk1"/>
              </a:solidFill>
              <a:latin typeface="Arial"/>
              <a:ea typeface="Arial"/>
              <a:cs typeface="Arial"/>
              <a:sym typeface="Arial"/>
            </a:endParaRPr>
          </a:p>
        </p:txBody>
      </p:sp>
      <p:sp>
        <p:nvSpPr>
          <p:cNvPr id="260" name="Google Shape;260;p7"/>
          <p:cNvSpPr/>
          <p:nvPr/>
        </p:nvSpPr>
        <p:spPr>
          <a:xfrm>
            <a:off x="731520" y="1325880"/>
            <a:ext cx="3886200" cy="1920240"/>
          </a:xfrm>
          <a:prstGeom prst="roundRect">
            <a:avLst>
              <a:gd fmla="val 2381"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932688" y="1472184"/>
            <a:ext cx="3483864" cy="16276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500"/>
              <a:buFont typeface="Courier New"/>
              <a:buNone/>
            </a:pPr>
            <a:r>
              <a:rPr b="0" i="0" lang="en-US" sz="1500" u="none" cap="none" strike="noStrike">
                <a:solidFill>
                  <a:srgbClr val="F3F6FA"/>
                </a:solidFill>
                <a:latin typeface="Courier New"/>
                <a:ea typeface="Courier New"/>
                <a:cs typeface="Courier New"/>
                <a:sym typeface="Courier New"/>
              </a:rPr>
              <a:t>if (threadIdx.x % 2 == 0) {</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500"/>
              <a:buFont typeface="Courier New"/>
              <a:buNone/>
            </a:pPr>
            <a:r>
              <a:rPr b="0" i="0" lang="en-US" sz="1500" u="none" cap="none" strike="noStrike">
                <a:solidFill>
                  <a:srgbClr val="F3F6FA"/>
                </a:solidFill>
                <a:latin typeface="Courier New"/>
                <a:ea typeface="Courier New"/>
                <a:cs typeface="Courier New"/>
                <a:sym typeface="Courier New"/>
              </a:rPr>
              <a:t>    fastPath();</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500"/>
              <a:buFont typeface="Courier New"/>
              <a:buNone/>
            </a:pPr>
            <a:r>
              <a:rPr b="0" i="0" lang="en-US" sz="1500" u="none" cap="none" strike="noStrike">
                <a:solidFill>
                  <a:srgbClr val="F3F6FA"/>
                </a:solidFill>
                <a:latin typeface="Courier New"/>
                <a:ea typeface="Courier New"/>
                <a:cs typeface="Courier New"/>
                <a:sym typeface="Courier New"/>
              </a:rPr>
              <a:t>} else {</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500"/>
              <a:buFont typeface="Courier New"/>
              <a:buNone/>
            </a:pPr>
            <a:r>
              <a:rPr b="0" i="0" lang="en-US" sz="1500" u="none" cap="none" strike="noStrike">
                <a:solidFill>
                  <a:srgbClr val="F3F6FA"/>
                </a:solidFill>
                <a:latin typeface="Courier New"/>
                <a:ea typeface="Courier New"/>
                <a:cs typeface="Courier New"/>
                <a:sym typeface="Courier New"/>
              </a:rPr>
              <a:t>    otherPath();</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500"/>
              <a:buFont typeface="Courier New"/>
              <a:buNone/>
            </a:pPr>
            <a:r>
              <a:rPr b="0" i="0" lang="en-US" sz="1500" u="none" cap="none" strike="noStrike">
                <a:solidFill>
                  <a:srgbClr val="F3F6FA"/>
                </a:solidFill>
                <a:latin typeface="Courier New"/>
                <a:ea typeface="Courier New"/>
                <a:cs typeface="Courier New"/>
                <a:sym typeface="Courier New"/>
              </a:rPr>
              <a:t>}</a:t>
            </a:r>
            <a:endParaRPr b="0" i="0" sz="1500" u="none" cap="none" strike="noStrike">
              <a:solidFill>
                <a:schemeClr val="dk1"/>
              </a:solidFill>
              <a:latin typeface="Arial"/>
              <a:ea typeface="Arial"/>
              <a:cs typeface="Arial"/>
              <a:sym typeface="Arial"/>
            </a:endParaRPr>
          </a:p>
        </p:txBody>
      </p:sp>
      <p:sp>
        <p:nvSpPr>
          <p:cNvPr id="262" name="Google Shape;262;p7"/>
          <p:cNvSpPr/>
          <p:nvPr/>
        </p:nvSpPr>
        <p:spPr>
          <a:xfrm>
            <a:off x="5120640" y="132588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A5"/>
              </a:buClr>
              <a:buSzPts val="1400"/>
              <a:buFont typeface="Arial"/>
              <a:buNone/>
            </a:pPr>
            <a:r>
              <a:rPr b="1" i="0" lang="en-US" sz="1400" u="none" cap="none" strike="noStrike">
                <a:solidFill>
                  <a:srgbClr val="1F6FA5"/>
                </a:solidFill>
                <a:latin typeface="Arial"/>
                <a:ea typeface="Arial"/>
                <a:cs typeface="Arial"/>
                <a:sym typeface="Arial"/>
              </a:rPr>
              <a:t>One warp (lanes 0–15 shown)</a:t>
            </a:r>
            <a:endParaRPr b="0" i="0" sz="1400" u="none" cap="none" strike="noStrike">
              <a:solidFill>
                <a:schemeClr val="dk1"/>
              </a:solidFill>
              <a:latin typeface="Arial"/>
              <a:ea typeface="Arial"/>
              <a:cs typeface="Arial"/>
              <a:sym typeface="Arial"/>
            </a:endParaRPr>
          </a:p>
        </p:txBody>
      </p:sp>
      <p:sp>
        <p:nvSpPr>
          <p:cNvPr id="263" name="Google Shape;263;p7"/>
          <p:cNvSpPr/>
          <p:nvPr/>
        </p:nvSpPr>
        <p:spPr>
          <a:xfrm>
            <a:off x="5166360" y="1737360"/>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5166360"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0</a:t>
            </a:r>
            <a:endParaRPr b="0" i="0" sz="900" u="none" cap="none" strike="noStrike">
              <a:solidFill>
                <a:schemeClr val="dk1"/>
              </a:solidFill>
              <a:latin typeface="Arial"/>
              <a:ea typeface="Arial"/>
              <a:cs typeface="Arial"/>
              <a:sym typeface="Arial"/>
            </a:endParaRPr>
          </a:p>
        </p:txBody>
      </p:sp>
      <p:sp>
        <p:nvSpPr>
          <p:cNvPr id="265" name="Google Shape;265;p7"/>
          <p:cNvSpPr/>
          <p:nvPr/>
        </p:nvSpPr>
        <p:spPr>
          <a:xfrm>
            <a:off x="5879592" y="1737360"/>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5879592"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267" name="Google Shape;267;p7"/>
          <p:cNvSpPr/>
          <p:nvPr/>
        </p:nvSpPr>
        <p:spPr>
          <a:xfrm>
            <a:off x="6592824" y="1737360"/>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6592824"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269" name="Google Shape;269;p7"/>
          <p:cNvSpPr/>
          <p:nvPr/>
        </p:nvSpPr>
        <p:spPr>
          <a:xfrm>
            <a:off x="7306056" y="1737360"/>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7306056"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271" name="Google Shape;271;p7"/>
          <p:cNvSpPr/>
          <p:nvPr/>
        </p:nvSpPr>
        <p:spPr>
          <a:xfrm>
            <a:off x="8019288" y="1737360"/>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8019288"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273" name="Google Shape;273;p7"/>
          <p:cNvSpPr/>
          <p:nvPr/>
        </p:nvSpPr>
        <p:spPr>
          <a:xfrm>
            <a:off x="8732520" y="1737360"/>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8732520"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sp>
        <p:nvSpPr>
          <p:cNvPr id="275" name="Google Shape;275;p7"/>
          <p:cNvSpPr/>
          <p:nvPr/>
        </p:nvSpPr>
        <p:spPr>
          <a:xfrm>
            <a:off x="9445752" y="1737360"/>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9445752"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6</a:t>
            </a:r>
            <a:endParaRPr b="0" i="0" sz="900" u="none" cap="none" strike="noStrike">
              <a:solidFill>
                <a:schemeClr val="dk1"/>
              </a:solidFill>
              <a:latin typeface="Arial"/>
              <a:ea typeface="Arial"/>
              <a:cs typeface="Arial"/>
              <a:sym typeface="Arial"/>
            </a:endParaRPr>
          </a:p>
        </p:txBody>
      </p:sp>
      <p:sp>
        <p:nvSpPr>
          <p:cNvPr id="277" name="Google Shape;277;p7"/>
          <p:cNvSpPr/>
          <p:nvPr/>
        </p:nvSpPr>
        <p:spPr>
          <a:xfrm>
            <a:off x="10158984" y="1737360"/>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10158984" y="1828800"/>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
        <p:nvSpPr>
          <p:cNvPr id="279" name="Google Shape;279;p7"/>
          <p:cNvSpPr/>
          <p:nvPr/>
        </p:nvSpPr>
        <p:spPr>
          <a:xfrm>
            <a:off x="5166360" y="2359152"/>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5166360"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8</a:t>
            </a:r>
            <a:endParaRPr b="0" i="0" sz="900" u="none" cap="none" strike="noStrike">
              <a:solidFill>
                <a:schemeClr val="dk1"/>
              </a:solidFill>
              <a:latin typeface="Arial"/>
              <a:ea typeface="Arial"/>
              <a:cs typeface="Arial"/>
              <a:sym typeface="Arial"/>
            </a:endParaRPr>
          </a:p>
        </p:txBody>
      </p:sp>
      <p:sp>
        <p:nvSpPr>
          <p:cNvPr id="281" name="Google Shape;281;p7"/>
          <p:cNvSpPr/>
          <p:nvPr/>
        </p:nvSpPr>
        <p:spPr>
          <a:xfrm>
            <a:off x="5879592" y="2359152"/>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879592"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9</a:t>
            </a:r>
            <a:endParaRPr b="0" i="0" sz="900" u="none" cap="none" strike="noStrike">
              <a:solidFill>
                <a:schemeClr val="dk1"/>
              </a:solidFill>
              <a:latin typeface="Arial"/>
              <a:ea typeface="Arial"/>
              <a:cs typeface="Arial"/>
              <a:sym typeface="Arial"/>
            </a:endParaRPr>
          </a:p>
        </p:txBody>
      </p:sp>
      <p:sp>
        <p:nvSpPr>
          <p:cNvPr id="283" name="Google Shape;283;p7"/>
          <p:cNvSpPr/>
          <p:nvPr/>
        </p:nvSpPr>
        <p:spPr>
          <a:xfrm>
            <a:off x="6592824" y="2359152"/>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6592824"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p:txBody>
      </p:sp>
      <p:sp>
        <p:nvSpPr>
          <p:cNvPr id="285" name="Google Shape;285;p7"/>
          <p:cNvSpPr/>
          <p:nvPr/>
        </p:nvSpPr>
        <p:spPr>
          <a:xfrm>
            <a:off x="7306056" y="2359152"/>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7306056"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11</a:t>
            </a:r>
            <a:endParaRPr b="0" i="0" sz="900" u="none" cap="none" strike="noStrike">
              <a:solidFill>
                <a:schemeClr val="dk1"/>
              </a:solidFill>
              <a:latin typeface="Arial"/>
              <a:ea typeface="Arial"/>
              <a:cs typeface="Arial"/>
              <a:sym typeface="Arial"/>
            </a:endParaRPr>
          </a:p>
        </p:txBody>
      </p:sp>
      <p:sp>
        <p:nvSpPr>
          <p:cNvPr id="287" name="Google Shape;287;p7"/>
          <p:cNvSpPr/>
          <p:nvPr/>
        </p:nvSpPr>
        <p:spPr>
          <a:xfrm>
            <a:off x="8019288" y="2359152"/>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a:off x="8019288"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12</a:t>
            </a:r>
            <a:endParaRPr b="0" i="0" sz="900" u="none" cap="none" strike="noStrike">
              <a:solidFill>
                <a:schemeClr val="dk1"/>
              </a:solidFill>
              <a:latin typeface="Arial"/>
              <a:ea typeface="Arial"/>
              <a:cs typeface="Arial"/>
              <a:sym typeface="Arial"/>
            </a:endParaRPr>
          </a:p>
        </p:txBody>
      </p:sp>
      <p:sp>
        <p:nvSpPr>
          <p:cNvPr id="289" name="Google Shape;289;p7"/>
          <p:cNvSpPr/>
          <p:nvPr/>
        </p:nvSpPr>
        <p:spPr>
          <a:xfrm>
            <a:off x="8732520" y="2359152"/>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8732520"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13</a:t>
            </a:r>
            <a:endParaRPr b="0" i="0" sz="900" u="none" cap="none" strike="noStrike">
              <a:solidFill>
                <a:schemeClr val="dk1"/>
              </a:solidFill>
              <a:latin typeface="Arial"/>
              <a:ea typeface="Arial"/>
              <a:cs typeface="Arial"/>
              <a:sym typeface="Arial"/>
            </a:endParaRPr>
          </a:p>
        </p:txBody>
      </p:sp>
      <p:sp>
        <p:nvSpPr>
          <p:cNvPr id="291" name="Google Shape;291;p7"/>
          <p:cNvSpPr/>
          <p:nvPr/>
        </p:nvSpPr>
        <p:spPr>
          <a:xfrm>
            <a:off x="9445752" y="2359152"/>
            <a:ext cx="566928" cy="384048"/>
          </a:xfrm>
          <a:prstGeom prst="roundRect">
            <a:avLst>
              <a:gd fmla="val 714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9445752"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14</a:t>
            </a:r>
            <a:endParaRPr b="0" i="0" sz="900" u="none" cap="none" strike="noStrike">
              <a:solidFill>
                <a:schemeClr val="dk1"/>
              </a:solidFill>
              <a:latin typeface="Arial"/>
              <a:ea typeface="Arial"/>
              <a:cs typeface="Arial"/>
              <a:sym typeface="Arial"/>
            </a:endParaRPr>
          </a:p>
        </p:txBody>
      </p:sp>
      <p:sp>
        <p:nvSpPr>
          <p:cNvPr id="293" name="Google Shape;293;p7"/>
          <p:cNvSpPr/>
          <p:nvPr/>
        </p:nvSpPr>
        <p:spPr>
          <a:xfrm>
            <a:off x="10158984" y="2359152"/>
            <a:ext cx="566928" cy="384048"/>
          </a:xfrm>
          <a:prstGeom prst="roundRect">
            <a:avLst>
              <a:gd fmla="val 7143" name="adj"/>
            </a:avLst>
          </a:prstGeom>
          <a:solidFill>
            <a:srgbClr val="FFF5E5"/>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7"/>
          <p:cNvSpPr/>
          <p:nvPr/>
        </p:nvSpPr>
        <p:spPr>
          <a:xfrm>
            <a:off x="10158984" y="2450592"/>
            <a:ext cx="566928"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900"/>
              <a:buFont typeface="Arial"/>
              <a:buNone/>
            </a:pPr>
            <a:r>
              <a:rPr b="1" i="0" lang="en-US" sz="900" u="none" cap="none" strike="noStrike">
                <a:solidFill>
                  <a:srgbClr val="173E62"/>
                </a:solidFill>
                <a:latin typeface="Arial"/>
                <a:ea typeface="Arial"/>
                <a:cs typeface="Arial"/>
                <a:sym typeface="Arial"/>
              </a:rPr>
              <a:t>15</a:t>
            </a:r>
            <a:endParaRPr b="0" i="0" sz="900" u="none" cap="none" strike="noStrike">
              <a:solidFill>
                <a:schemeClr val="dk1"/>
              </a:solidFill>
              <a:latin typeface="Arial"/>
              <a:ea typeface="Arial"/>
              <a:cs typeface="Arial"/>
              <a:sym typeface="Arial"/>
            </a:endParaRPr>
          </a:p>
        </p:txBody>
      </p:sp>
      <p:sp>
        <p:nvSpPr>
          <p:cNvPr id="295" name="Google Shape;295;p7"/>
          <p:cNvSpPr/>
          <p:nvPr/>
        </p:nvSpPr>
        <p:spPr>
          <a:xfrm>
            <a:off x="5212080" y="306324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A5"/>
              </a:buClr>
              <a:buSzPts val="1200"/>
              <a:buFont typeface="Arial"/>
              <a:buNone/>
            </a:pPr>
            <a:r>
              <a:rPr b="1" i="0" lang="en-US" sz="1200" u="none" cap="none" strike="noStrike">
                <a:solidFill>
                  <a:srgbClr val="1F6FA5"/>
                </a:solidFill>
                <a:latin typeface="Arial"/>
                <a:ea typeface="Arial"/>
                <a:cs typeface="Arial"/>
                <a:sym typeface="Arial"/>
              </a:rPr>
              <a:t>even lanes → fastPath()</a:t>
            </a:r>
            <a:endParaRPr b="0" i="0" sz="1200" u="none" cap="none" strike="noStrike">
              <a:solidFill>
                <a:schemeClr val="dk1"/>
              </a:solidFill>
              <a:latin typeface="Arial"/>
              <a:ea typeface="Arial"/>
              <a:cs typeface="Arial"/>
              <a:sym typeface="Arial"/>
            </a:endParaRPr>
          </a:p>
        </p:txBody>
      </p:sp>
      <p:sp>
        <p:nvSpPr>
          <p:cNvPr id="296" name="Google Shape;296;p7"/>
          <p:cNvSpPr/>
          <p:nvPr/>
        </p:nvSpPr>
        <p:spPr>
          <a:xfrm>
            <a:off x="7909560" y="306324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7A12"/>
              </a:buClr>
              <a:buSzPts val="1200"/>
              <a:buFont typeface="Arial"/>
              <a:buNone/>
            </a:pPr>
            <a:r>
              <a:rPr b="1" i="0" lang="en-US" sz="1200" u="none" cap="none" strike="noStrike">
                <a:solidFill>
                  <a:srgbClr val="C27A12"/>
                </a:solidFill>
                <a:latin typeface="Arial"/>
                <a:ea typeface="Arial"/>
                <a:cs typeface="Arial"/>
                <a:sym typeface="Arial"/>
              </a:rPr>
              <a:t>odd lanes → otherPath()</a:t>
            </a:r>
            <a:endParaRPr b="0" i="0" sz="1200" u="none" cap="none" strike="noStrike">
              <a:solidFill>
                <a:schemeClr val="dk1"/>
              </a:solidFill>
              <a:latin typeface="Arial"/>
              <a:ea typeface="Arial"/>
              <a:cs typeface="Arial"/>
              <a:sym typeface="Arial"/>
            </a:endParaRPr>
          </a:p>
        </p:txBody>
      </p:sp>
      <p:sp>
        <p:nvSpPr>
          <p:cNvPr id="297" name="Google Shape;297;p7"/>
          <p:cNvSpPr/>
          <p:nvPr/>
        </p:nvSpPr>
        <p:spPr>
          <a:xfrm>
            <a:off x="5074920" y="3794760"/>
            <a:ext cx="6126480" cy="1417320"/>
          </a:xfrm>
          <a:prstGeom prst="roundRect">
            <a:avLst>
              <a:gd fmla="val 5161" name="adj"/>
            </a:avLst>
          </a:prstGeom>
          <a:solidFill>
            <a:srgbClr val="FDEDE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5074920" y="3794760"/>
            <a:ext cx="73152" cy="1417320"/>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a:off x="5394960" y="4005072"/>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Execution effect</a:t>
            </a:r>
            <a:endParaRPr b="0" i="0" sz="1600" u="none" cap="none" strike="noStrike">
              <a:solidFill>
                <a:schemeClr val="dk1"/>
              </a:solidFill>
              <a:latin typeface="Arial"/>
              <a:ea typeface="Arial"/>
              <a:cs typeface="Arial"/>
              <a:sym typeface="Arial"/>
            </a:endParaRPr>
          </a:p>
        </p:txBody>
      </p:sp>
      <p:sp>
        <p:nvSpPr>
          <p:cNvPr id="300" name="Google Shape;300;p7"/>
          <p:cNvSpPr/>
          <p:nvPr/>
        </p:nvSpPr>
        <p:spPr>
          <a:xfrm>
            <a:off x="5394960" y="4407408"/>
            <a:ext cx="5349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The warp executes the required branch paths while lanes not taking the current path are inactive/masked. The paths later reconverge.</a:t>
            </a:r>
            <a:endParaRPr b="0" i="0" sz="1250" u="none" cap="none" strike="noStrike">
              <a:solidFill>
                <a:schemeClr val="dk1"/>
              </a:solidFill>
              <a:latin typeface="Arial"/>
              <a:ea typeface="Arial"/>
              <a:cs typeface="Arial"/>
              <a:sym typeface="Arial"/>
            </a:endParaRPr>
          </a:p>
        </p:txBody>
      </p:sp>
      <p:sp>
        <p:nvSpPr>
          <p:cNvPr id="301" name="Google Shape;301;p7"/>
          <p:cNvSpPr/>
          <p:nvPr/>
        </p:nvSpPr>
        <p:spPr>
          <a:xfrm>
            <a:off x="1280160" y="5669280"/>
            <a:ext cx="9601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600"/>
              <a:buFont typeface="Arial"/>
              <a:buNone/>
            </a:pPr>
            <a:r>
              <a:rPr b="1" i="0" lang="en-US" sz="1600" u="none" cap="none" strike="noStrike">
                <a:solidFill>
                  <a:srgbClr val="67C300"/>
                </a:solidFill>
                <a:latin typeface="Arial"/>
                <a:ea typeface="Arial"/>
                <a:cs typeface="Arial"/>
                <a:sym typeface="Arial"/>
              </a:rPr>
              <a:t>Different branches across different warps are not “divergence” for one another.</a:t>
            </a:r>
            <a:endParaRPr b="0" i="0" sz="1600" u="none" cap="none" strike="noStrike">
              <a:solidFill>
                <a:schemeClr val="dk1"/>
              </a:solidFill>
              <a:latin typeface="Arial"/>
              <a:ea typeface="Arial"/>
              <a:cs typeface="Arial"/>
              <a:sym typeface="Arial"/>
            </a:endParaRPr>
          </a:p>
        </p:txBody>
      </p:sp>
      <p:sp>
        <p:nvSpPr>
          <p:cNvPr id="302" name="Google Shape;302;p7"/>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303" name="Google Shape;303;p7"/>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8"/>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Divergence: Bad Pattern vs. Warp-Aligned Pattern</a:t>
            </a:r>
            <a:endParaRPr b="0" i="0" sz="2500" u="none" cap="none" strike="noStrike">
              <a:solidFill>
                <a:schemeClr val="dk1"/>
              </a:solidFill>
              <a:latin typeface="Arial"/>
              <a:ea typeface="Arial"/>
              <a:cs typeface="Arial"/>
              <a:sym typeface="Arial"/>
            </a:endParaRPr>
          </a:p>
        </p:txBody>
      </p:sp>
      <p:sp>
        <p:nvSpPr>
          <p:cNvPr id="310" name="Google Shape;310;p8"/>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The same amount of work can behave very differently depending on which lanes take each path.</a:t>
            </a:r>
            <a:endParaRPr b="0" i="0" sz="1150" u="none" cap="none" strike="noStrike">
              <a:solidFill>
                <a:schemeClr val="dk1"/>
              </a:solidFill>
              <a:latin typeface="Arial"/>
              <a:ea typeface="Arial"/>
              <a:cs typeface="Arial"/>
              <a:sym typeface="Arial"/>
            </a:endParaRPr>
          </a:p>
        </p:txBody>
      </p:sp>
      <p:sp>
        <p:nvSpPr>
          <p:cNvPr id="311" name="Google Shape;311;p8"/>
          <p:cNvSpPr/>
          <p:nvPr/>
        </p:nvSpPr>
        <p:spPr>
          <a:xfrm>
            <a:off x="685800" y="1280160"/>
            <a:ext cx="5257800" cy="4114800"/>
          </a:xfrm>
          <a:prstGeom prst="roundRect">
            <a:avLst>
              <a:gd fmla="val 1778" name="adj"/>
            </a:avLst>
          </a:prstGeom>
          <a:solidFill>
            <a:srgbClr val="FDEDE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685800" y="1280160"/>
            <a:ext cx="73152" cy="4114800"/>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960120" y="1536192"/>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483B"/>
              </a:buClr>
              <a:buSzPts val="1900"/>
              <a:buFont typeface="Arial"/>
              <a:buNone/>
            </a:pPr>
            <a:r>
              <a:rPr b="1" i="0" lang="en-US" sz="1900" u="none" cap="none" strike="noStrike">
                <a:solidFill>
                  <a:srgbClr val="D4483B"/>
                </a:solidFill>
                <a:latin typeface="Arial"/>
                <a:ea typeface="Arial"/>
                <a:cs typeface="Arial"/>
                <a:sym typeface="Arial"/>
              </a:rPr>
              <a:t>Highly divergent</a:t>
            </a:r>
            <a:endParaRPr b="0" i="0" sz="1900" u="none" cap="none" strike="noStrike">
              <a:solidFill>
                <a:schemeClr val="dk1"/>
              </a:solidFill>
              <a:latin typeface="Arial"/>
              <a:ea typeface="Arial"/>
              <a:cs typeface="Arial"/>
              <a:sym typeface="Arial"/>
            </a:endParaRPr>
          </a:p>
        </p:txBody>
      </p:sp>
      <p:sp>
        <p:nvSpPr>
          <p:cNvPr id="314" name="Google Shape;314;p8"/>
          <p:cNvSpPr/>
          <p:nvPr/>
        </p:nvSpPr>
        <p:spPr>
          <a:xfrm>
            <a:off x="960120" y="2011680"/>
            <a:ext cx="4526280" cy="1417320"/>
          </a:xfrm>
          <a:prstGeom prst="roundRect">
            <a:avLst>
              <a:gd fmla="val 3226"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1161288" y="2157984"/>
            <a:ext cx="4123944" cy="11247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if (threadIdx.x % 2 == 0)</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    A();</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else</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    B();</a:t>
            </a:r>
            <a:endParaRPr b="0" i="0" sz="1400" u="none" cap="none" strike="noStrike">
              <a:solidFill>
                <a:schemeClr val="dk1"/>
              </a:solidFill>
              <a:latin typeface="Arial"/>
              <a:ea typeface="Arial"/>
              <a:cs typeface="Arial"/>
              <a:sym typeface="Arial"/>
            </a:endParaRPr>
          </a:p>
        </p:txBody>
      </p:sp>
      <p:sp>
        <p:nvSpPr>
          <p:cNvPr id="316" name="Google Shape;316;p8"/>
          <p:cNvSpPr/>
          <p:nvPr/>
        </p:nvSpPr>
        <p:spPr>
          <a:xfrm>
            <a:off x="1005840" y="3703320"/>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00"/>
              <a:buFont typeface="Arial"/>
              <a:buNone/>
            </a:pPr>
            <a:r>
              <a:rPr b="0" i="0" lang="en-US" sz="1300" u="none" cap="none" strike="noStrike">
                <a:solidFill>
                  <a:srgbClr val="26384C"/>
                </a:solidFill>
                <a:latin typeface="Arial"/>
                <a:ea typeface="Arial"/>
                <a:cs typeface="Arial"/>
                <a:sym typeface="Arial"/>
              </a:rPr>
              <a:t>Within every warp: roughly half the lanes want A and half want B.</a:t>
            </a:r>
            <a:endParaRPr b="0" i="0" sz="1300" u="none" cap="none" strike="noStrike">
              <a:solidFill>
                <a:schemeClr val="dk1"/>
              </a:solidFill>
              <a:latin typeface="Arial"/>
              <a:ea typeface="Arial"/>
              <a:cs typeface="Arial"/>
              <a:sym typeface="Arial"/>
            </a:endParaRPr>
          </a:p>
        </p:txBody>
      </p:sp>
      <p:sp>
        <p:nvSpPr>
          <p:cNvPr id="317" name="Google Shape;317;p8"/>
          <p:cNvSpPr/>
          <p:nvPr/>
        </p:nvSpPr>
        <p:spPr>
          <a:xfrm>
            <a:off x="1005840" y="4617720"/>
            <a:ext cx="4389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483B"/>
              </a:buClr>
              <a:buSzPts val="1500"/>
              <a:buFont typeface="Arial"/>
              <a:buNone/>
            </a:pPr>
            <a:r>
              <a:rPr b="1" i="0" lang="en-US" sz="1500" u="none" cap="none" strike="noStrike">
                <a:solidFill>
                  <a:srgbClr val="D4483B"/>
                </a:solidFill>
                <a:latin typeface="Arial"/>
                <a:ea typeface="Arial"/>
                <a:cs typeface="Arial"/>
                <a:sym typeface="Arial"/>
              </a:rPr>
              <a:t>→ more masked-lane execution</a:t>
            </a:r>
            <a:endParaRPr b="0" i="0" sz="1500" u="none" cap="none" strike="noStrike">
              <a:solidFill>
                <a:schemeClr val="dk1"/>
              </a:solidFill>
              <a:latin typeface="Arial"/>
              <a:ea typeface="Arial"/>
              <a:cs typeface="Arial"/>
              <a:sym typeface="Arial"/>
            </a:endParaRPr>
          </a:p>
        </p:txBody>
      </p:sp>
      <p:sp>
        <p:nvSpPr>
          <p:cNvPr id="318" name="Google Shape;318;p8"/>
          <p:cNvSpPr/>
          <p:nvPr/>
        </p:nvSpPr>
        <p:spPr>
          <a:xfrm>
            <a:off x="6263640" y="1280160"/>
            <a:ext cx="5257800" cy="4114800"/>
          </a:xfrm>
          <a:prstGeom prst="roundRect">
            <a:avLst>
              <a:gd fmla="val 1778" name="adj"/>
            </a:avLst>
          </a:prstGeom>
          <a:solidFill>
            <a:srgbClr val="F1F8E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6263640" y="1280160"/>
            <a:ext cx="73152" cy="411480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6537960" y="1536192"/>
            <a:ext cx="2560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C300"/>
              </a:buClr>
              <a:buSzPts val="1900"/>
              <a:buFont typeface="Arial"/>
              <a:buNone/>
            </a:pPr>
            <a:r>
              <a:rPr b="1" i="0" lang="en-US" sz="1900" u="none" cap="none" strike="noStrike">
                <a:solidFill>
                  <a:srgbClr val="67C300"/>
                </a:solidFill>
                <a:latin typeface="Arial"/>
                <a:ea typeface="Arial"/>
                <a:cs typeface="Arial"/>
                <a:sym typeface="Arial"/>
              </a:rPr>
              <a:t>Warp-aligned branch</a:t>
            </a:r>
            <a:endParaRPr b="0" i="0" sz="1900" u="none" cap="none" strike="noStrike">
              <a:solidFill>
                <a:schemeClr val="dk1"/>
              </a:solidFill>
              <a:latin typeface="Arial"/>
              <a:ea typeface="Arial"/>
              <a:cs typeface="Arial"/>
              <a:sym typeface="Arial"/>
            </a:endParaRPr>
          </a:p>
        </p:txBody>
      </p:sp>
      <p:sp>
        <p:nvSpPr>
          <p:cNvPr id="321" name="Google Shape;321;p8"/>
          <p:cNvSpPr/>
          <p:nvPr/>
        </p:nvSpPr>
        <p:spPr>
          <a:xfrm>
            <a:off x="6537960" y="2011680"/>
            <a:ext cx="4526280" cy="1417320"/>
          </a:xfrm>
          <a:prstGeom prst="roundRect">
            <a:avLst>
              <a:gd fmla="val 3226"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6739128" y="2157984"/>
            <a:ext cx="4123944" cy="11247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if (threadIdx.x / 32 == 0)</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    A();</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else</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400"/>
              <a:buFont typeface="Courier New"/>
              <a:buNone/>
            </a:pPr>
            <a:r>
              <a:rPr b="0" i="0" lang="en-US" sz="1400" u="none" cap="none" strike="noStrike">
                <a:solidFill>
                  <a:srgbClr val="F3F6FA"/>
                </a:solidFill>
                <a:latin typeface="Courier New"/>
                <a:ea typeface="Courier New"/>
                <a:cs typeface="Courier New"/>
                <a:sym typeface="Courier New"/>
              </a:rPr>
              <a:t>    B();</a:t>
            </a:r>
            <a:endParaRPr b="0" i="0" sz="1400" u="none" cap="none" strike="noStrike">
              <a:solidFill>
                <a:schemeClr val="dk1"/>
              </a:solidFill>
              <a:latin typeface="Arial"/>
              <a:ea typeface="Arial"/>
              <a:cs typeface="Arial"/>
              <a:sym typeface="Arial"/>
            </a:endParaRPr>
          </a:p>
        </p:txBody>
      </p:sp>
      <p:sp>
        <p:nvSpPr>
          <p:cNvPr id="323" name="Google Shape;323;p8"/>
          <p:cNvSpPr/>
          <p:nvPr/>
        </p:nvSpPr>
        <p:spPr>
          <a:xfrm>
            <a:off x="6583680" y="3703320"/>
            <a:ext cx="4389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00"/>
              <a:buFont typeface="Arial"/>
              <a:buNone/>
            </a:pPr>
            <a:r>
              <a:rPr b="0" i="0" lang="en-US" sz="1300" u="none" cap="none" strike="noStrike">
                <a:solidFill>
                  <a:srgbClr val="26384C"/>
                </a:solidFill>
                <a:latin typeface="Arial"/>
                <a:ea typeface="Arial"/>
                <a:cs typeface="Arial"/>
                <a:sym typeface="Arial"/>
              </a:rPr>
              <a:t>Whole warps tend to take one path together, so each warp has much less internal divergence.</a:t>
            </a:r>
            <a:endParaRPr b="0" i="0" sz="1300" u="none" cap="none" strike="noStrike">
              <a:solidFill>
                <a:schemeClr val="dk1"/>
              </a:solidFill>
              <a:latin typeface="Arial"/>
              <a:ea typeface="Arial"/>
              <a:cs typeface="Arial"/>
              <a:sym typeface="Arial"/>
            </a:endParaRPr>
          </a:p>
        </p:txBody>
      </p:sp>
      <p:sp>
        <p:nvSpPr>
          <p:cNvPr id="324" name="Google Shape;324;p8"/>
          <p:cNvSpPr/>
          <p:nvPr/>
        </p:nvSpPr>
        <p:spPr>
          <a:xfrm>
            <a:off x="6583680" y="4617720"/>
            <a:ext cx="4389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C300"/>
              </a:buClr>
              <a:buSzPts val="1500"/>
              <a:buFont typeface="Arial"/>
              <a:buNone/>
            </a:pPr>
            <a:r>
              <a:rPr b="1" i="0" lang="en-US" sz="1500" u="none" cap="none" strike="noStrike">
                <a:solidFill>
                  <a:srgbClr val="67C300"/>
                </a:solidFill>
                <a:latin typeface="Arial"/>
                <a:ea typeface="Arial"/>
                <a:cs typeface="Arial"/>
                <a:sym typeface="Arial"/>
              </a:rPr>
              <a:t>→ better lane utilization</a:t>
            </a:r>
            <a:endParaRPr b="0" i="0" sz="1500" u="none" cap="none" strike="noStrike">
              <a:solidFill>
                <a:schemeClr val="dk1"/>
              </a:solidFill>
              <a:latin typeface="Arial"/>
              <a:ea typeface="Arial"/>
              <a:cs typeface="Arial"/>
              <a:sym typeface="Arial"/>
            </a:endParaRPr>
          </a:p>
        </p:txBody>
      </p:sp>
      <p:sp>
        <p:nvSpPr>
          <p:cNvPr id="325" name="Google Shape;325;p8"/>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326" name="Google Shape;326;p8"/>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9"/>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Reducing Divergence: Practical Rules</a:t>
            </a:r>
            <a:endParaRPr b="0" i="0" sz="2500" u="none" cap="none" strike="noStrike">
              <a:solidFill>
                <a:schemeClr val="dk1"/>
              </a:solidFill>
              <a:latin typeface="Arial"/>
              <a:ea typeface="Arial"/>
              <a:cs typeface="Arial"/>
              <a:sym typeface="Arial"/>
            </a:endParaRPr>
          </a:p>
        </p:txBody>
      </p:sp>
      <p:sp>
        <p:nvSpPr>
          <p:cNvPr id="333" name="Google Shape;333;p9"/>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Do not eliminate useful conditionals blindly; organize work so threads within a warp behave similarly when possible.</a:t>
            </a:r>
            <a:endParaRPr b="0" i="0" sz="1150" u="none" cap="none" strike="noStrike">
              <a:solidFill>
                <a:schemeClr val="dk1"/>
              </a:solidFill>
              <a:latin typeface="Arial"/>
              <a:ea typeface="Arial"/>
              <a:cs typeface="Arial"/>
              <a:sym typeface="Arial"/>
            </a:endParaRPr>
          </a:p>
        </p:txBody>
      </p:sp>
      <p:sp>
        <p:nvSpPr>
          <p:cNvPr id="334" name="Google Shape;334;p9"/>
          <p:cNvSpPr/>
          <p:nvPr/>
        </p:nvSpPr>
        <p:spPr>
          <a:xfrm>
            <a:off x="731520" y="1417320"/>
            <a:ext cx="5074920" cy="1325880"/>
          </a:xfrm>
          <a:prstGeom prst="roundRect">
            <a:avLst>
              <a:gd fmla="val 551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731520" y="1417320"/>
            <a:ext cx="73152" cy="132588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1005840" y="1618488"/>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Group similar work</a:t>
            </a:r>
            <a:endParaRPr b="0" i="0" sz="1600" u="none" cap="none" strike="noStrike">
              <a:solidFill>
                <a:schemeClr val="dk1"/>
              </a:solidFill>
              <a:latin typeface="Arial"/>
              <a:ea typeface="Arial"/>
              <a:cs typeface="Arial"/>
              <a:sym typeface="Arial"/>
            </a:endParaRPr>
          </a:p>
        </p:txBody>
      </p:sp>
      <p:sp>
        <p:nvSpPr>
          <p:cNvPr id="337" name="Google Shape;337;p9"/>
          <p:cNvSpPr/>
          <p:nvPr/>
        </p:nvSpPr>
        <p:spPr>
          <a:xfrm>
            <a:off x="1005840" y="2075688"/>
            <a:ext cx="43891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80"/>
              <a:buFont typeface="Arial"/>
              <a:buNone/>
            </a:pPr>
            <a:r>
              <a:rPr b="0" i="0" lang="en-US" sz="1180" u="none" cap="none" strike="noStrike">
                <a:solidFill>
                  <a:srgbClr val="26384C"/>
                </a:solidFill>
                <a:latin typeface="Arial"/>
                <a:ea typeface="Arial"/>
                <a:cs typeface="Arial"/>
                <a:sym typeface="Arial"/>
              </a:rPr>
              <a:t>Reorder or partition data so neighboring threads tend to take the same path.</a:t>
            </a:r>
            <a:endParaRPr b="0" i="0" sz="1180" u="none" cap="none" strike="noStrike">
              <a:solidFill>
                <a:schemeClr val="dk1"/>
              </a:solidFill>
              <a:latin typeface="Arial"/>
              <a:ea typeface="Arial"/>
              <a:cs typeface="Arial"/>
              <a:sym typeface="Arial"/>
            </a:endParaRPr>
          </a:p>
        </p:txBody>
      </p:sp>
      <p:sp>
        <p:nvSpPr>
          <p:cNvPr id="338" name="Google Shape;338;p9"/>
          <p:cNvSpPr/>
          <p:nvPr/>
        </p:nvSpPr>
        <p:spPr>
          <a:xfrm>
            <a:off x="6355080" y="1417320"/>
            <a:ext cx="5074920" cy="1325880"/>
          </a:xfrm>
          <a:prstGeom prst="roundRect">
            <a:avLst>
              <a:gd fmla="val 551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6355080" y="1417320"/>
            <a:ext cx="73152" cy="132588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6629400" y="1618500"/>
            <a:ext cx="314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Prefer warp-uniform conditions</a:t>
            </a:r>
            <a:endParaRPr b="0" i="0" sz="1600" u="none" cap="none" strike="noStrike">
              <a:solidFill>
                <a:schemeClr val="dk1"/>
              </a:solidFill>
              <a:latin typeface="Arial"/>
              <a:ea typeface="Arial"/>
              <a:cs typeface="Arial"/>
              <a:sym typeface="Arial"/>
            </a:endParaRPr>
          </a:p>
        </p:txBody>
      </p:sp>
      <p:sp>
        <p:nvSpPr>
          <p:cNvPr id="341" name="Google Shape;341;p9"/>
          <p:cNvSpPr/>
          <p:nvPr/>
        </p:nvSpPr>
        <p:spPr>
          <a:xfrm>
            <a:off x="6629400" y="2075688"/>
            <a:ext cx="43891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80"/>
              <a:buFont typeface="Arial"/>
              <a:buNone/>
            </a:pPr>
            <a:r>
              <a:rPr b="0" i="0" lang="en-US" sz="1180" u="none" cap="none" strike="noStrike">
                <a:solidFill>
                  <a:srgbClr val="26384C"/>
                </a:solidFill>
                <a:latin typeface="Arial"/>
                <a:ea typeface="Arial"/>
                <a:cs typeface="Arial"/>
                <a:sym typeface="Arial"/>
              </a:rPr>
              <a:t>Conditions based on block/warp identity often avoid intra-warp divergence.</a:t>
            </a:r>
            <a:endParaRPr b="0" i="0" sz="1180" u="none" cap="none" strike="noStrike">
              <a:solidFill>
                <a:schemeClr val="dk1"/>
              </a:solidFill>
              <a:latin typeface="Arial"/>
              <a:ea typeface="Arial"/>
              <a:cs typeface="Arial"/>
              <a:sym typeface="Arial"/>
            </a:endParaRPr>
          </a:p>
        </p:txBody>
      </p:sp>
      <p:sp>
        <p:nvSpPr>
          <p:cNvPr id="342" name="Google Shape;342;p9"/>
          <p:cNvSpPr/>
          <p:nvPr/>
        </p:nvSpPr>
        <p:spPr>
          <a:xfrm>
            <a:off x="731520" y="3246120"/>
            <a:ext cx="5074920" cy="1325880"/>
          </a:xfrm>
          <a:prstGeom prst="roundRect">
            <a:avLst>
              <a:gd fmla="val 551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731520" y="3246120"/>
            <a:ext cx="73152" cy="132588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1005859" y="3447300"/>
            <a:ext cx="3780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Keep short branches short</a:t>
            </a:r>
            <a:endParaRPr b="0" i="0" sz="1600" u="none" cap="none" strike="noStrike">
              <a:solidFill>
                <a:schemeClr val="dk1"/>
              </a:solidFill>
              <a:latin typeface="Arial"/>
              <a:ea typeface="Arial"/>
              <a:cs typeface="Arial"/>
              <a:sym typeface="Arial"/>
            </a:endParaRPr>
          </a:p>
        </p:txBody>
      </p:sp>
      <p:sp>
        <p:nvSpPr>
          <p:cNvPr id="345" name="Google Shape;345;p9"/>
          <p:cNvSpPr/>
          <p:nvPr/>
        </p:nvSpPr>
        <p:spPr>
          <a:xfrm>
            <a:off x="1005840" y="3904488"/>
            <a:ext cx="43891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80"/>
              <a:buFont typeface="Arial"/>
              <a:buNone/>
            </a:pPr>
            <a:r>
              <a:rPr b="0" i="0" lang="en-US" sz="1180" u="none" cap="none" strike="noStrike">
                <a:solidFill>
                  <a:srgbClr val="26384C"/>
                </a:solidFill>
                <a:latin typeface="Arial"/>
                <a:ea typeface="Arial"/>
                <a:cs typeface="Arial"/>
                <a:sym typeface="Arial"/>
              </a:rPr>
              <a:t>For tiny branches the compiler/hardware may use </a:t>
            </a:r>
            <a:r>
              <a:rPr lang="en-US" sz="1180">
                <a:solidFill>
                  <a:srgbClr val="26384C"/>
                </a:solidFill>
              </a:rPr>
              <a:t>prediction</a:t>
            </a:r>
            <a:r>
              <a:rPr b="0" i="0" lang="en-US" sz="1180" u="none" cap="none" strike="noStrike">
                <a:solidFill>
                  <a:srgbClr val="26384C"/>
                </a:solidFill>
                <a:latin typeface="Arial"/>
                <a:ea typeface="Arial"/>
                <a:cs typeface="Arial"/>
                <a:sym typeface="Arial"/>
              </a:rPr>
              <a:t>; huge branches are more expensive.</a:t>
            </a:r>
            <a:endParaRPr b="0" i="0" sz="1180" u="none" cap="none" strike="noStrike">
              <a:solidFill>
                <a:schemeClr val="dk1"/>
              </a:solidFill>
              <a:latin typeface="Arial"/>
              <a:ea typeface="Arial"/>
              <a:cs typeface="Arial"/>
              <a:sym typeface="Arial"/>
            </a:endParaRPr>
          </a:p>
        </p:txBody>
      </p:sp>
      <p:sp>
        <p:nvSpPr>
          <p:cNvPr id="346" name="Google Shape;346;p9"/>
          <p:cNvSpPr/>
          <p:nvPr/>
        </p:nvSpPr>
        <p:spPr>
          <a:xfrm>
            <a:off x="6355080" y="3246120"/>
            <a:ext cx="5074920" cy="1325880"/>
          </a:xfrm>
          <a:prstGeom prst="roundRect">
            <a:avLst>
              <a:gd fmla="val 5517"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6355080" y="3246120"/>
            <a:ext cx="73152" cy="132588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6629400" y="3447300"/>
            <a:ext cx="3245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Measure, don’t guess</a:t>
            </a:r>
            <a:endParaRPr b="0" i="0" sz="1600" u="none" cap="none" strike="noStrike">
              <a:solidFill>
                <a:schemeClr val="dk1"/>
              </a:solidFill>
              <a:latin typeface="Arial"/>
              <a:ea typeface="Arial"/>
              <a:cs typeface="Arial"/>
              <a:sym typeface="Arial"/>
            </a:endParaRPr>
          </a:p>
        </p:txBody>
      </p:sp>
      <p:sp>
        <p:nvSpPr>
          <p:cNvPr id="349" name="Google Shape;349;p9"/>
          <p:cNvSpPr/>
          <p:nvPr/>
        </p:nvSpPr>
        <p:spPr>
          <a:xfrm>
            <a:off x="6629400" y="3904488"/>
            <a:ext cx="43891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80"/>
              <a:buFont typeface="Arial"/>
              <a:buNone/>
            </a:pPr>
            <a:r>
              <a:rPr b="0" i="0" lang="en-US" sz="1180" u="none" cap="none" strike="noStrike">
                <a:solidFill>
                  <a:srgbClr val="26384C"/>
                </a:solidFill>
                <a:latin typeface="Arial"/>
                <a:ea typeface="Arial"/>
                <a:cs typeface="Arial"/>
                <a:sym typeface="Arial"/>
              </a:rPr>
              <a:t>Divergence is only one bottleneck; memory traffic or arithmetic can dominate.</a:t>
            </a:r>
            <a:endParaRPr b="0" i="0" sz="1180" u="none" cap="none" strike="noStrike">
              <a:solidFill>
                <a:schemeClr val="dk1"/>
              </a:solidFill>
              <a:latin typeface="Arial"/>
              <a:ea typeface="Arial"/>
              <a:cs typeface="Arial"/>
              <a:sym typeface="Arial"/>
            </a:endParaRPr>
          </a:p>
        </p:txBody>
      </p:sp>
      <p:sp>
        <p:nvSpPr>
          <p:cNvPr id="350" name="Google Shape;350;p9"/>
          <p:cNvSpPr/>
          <p:nvPr/>
        </p:nvSpPr>
        <p:spPr>
          <a:xfrm>
            <a:off x="2011680" y="5623560"/>
            <a:ext cx="82296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Rule of thumb: think in warps when reasoning about branch behavior.</a:t>
            </a:r>
            <a:endParaRPr b="0" i="0" sz="1800" u="none" cap="none" strike="noStrike">
              <a:solidFill>
                <a:schemeClr val="dk1"/>
              </a:solidFill>
              <a:latin typeface="Arial"/>
              <a:ea typeface="Arial"/>
              <a:cs typeface="Arial"/>
              <a:sym typeface="Arial"/>
            </a:endParaRPr>
          </a:p>
        </p:txBody>
      </p:sp>
      <p:sp>
        <p:nvSpPr>
          <p:cNvPr id="351" name="Google Shape;351;p9"/>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352" name="Google Shape;352;p9"/>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0"/>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Where Does GPU Latency Come From?</a:t>
            </a:r>
            <a:endParaRPr b="0" i="0" sz="2500" u="none" cap="none" strike="noStrike">
              <a:solidFill>
                <a:schemeClr val="dk1"/>
              </a:solidFill>
              <a:latin typeface="Arial"/>
              <a:ea typeface="Arial"/>
              <a:cs typeface="Arial"/>
              <a:sym typeface="Arial"/>
            </a:endParaRPr>
          </a:p>
        </p:txBody>
      </p:sp>
      <p:sp>
        <p:nvSpPr>
          <p:cNvPr id="359" name="Google Shape;359;p10"/>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A warp can be unable to issue because the data, resource, or synchronization it needs is not ready.</a:t>
            </a:r>
            <a:endParaRPr b="0" i="0" sz="1150" u="none" cap="none" strike="noStrike">
              <a:solidFill>
                <a:schemeClr val="dk1"/>
              </a:solidFill>
              <a:latin typeface="Arial"/>
              <a:ea typeface="Arial"/>
              <a:cs typeface="Arial"/>
              <a:sym typeface="Arial"/>
            </a:endParaRPr>
          </a:p>
        </p:txBody>
      </p:sp>
      <p:sp>
        <p:nvSpPr>
          <p:cNvPr id="360" name="Google Shape;360;p10"/>
          <p:cNvSpPr/>
          <p:nvPr/>
        </p:nvSpPr>
        <p:spPr>
          <a:xfrm>
            <a:off x="777240" y="1280160"/>
            <a:ext cx="10607040" cy="777240"/>
          </a:xfrm>
          <a:prstGeom prst="roundRect">
            <a:avLst>
              <a:gd fmla="val 941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777240" y="1280160"/>
            <a:ext cx="73152" cy="777240"/>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1097280" y="146304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550"/>
              <a:buFont typeface="Arial"/>
              <a:buNone/>
            </a:pPr>
            <a:r>
              <a:rPr b="1" i="0" lang="en-US" sz="1550" u="none" cap="none" strike="noStrike">
                <a:solidFill>
                  <a:srgbClr val="173E62"/>
                </a:solidFill>
                <a:latin typeface="Arial"/>
                <a:ea typeface="Arial"/>
                <a:cs typeface="Arial"/>
                <a:sym typeface="Arial"/>
              </a:rPr>
              <a:t>Global / local memory</a:t>
            </a:r>
            <a:endParaRPr b="0" i="0" sz="1550" u="none" cap="none" strike="noStrike">
              <a:solidFill>
                <a:schemeClr val="dk1"/>
              </a:solidFill>
              <a:latin typeface="Arial"/>
              <a:ea typeface="Arial"/>
              <a:cs typeface="Arial"/>
              <a:sym typeface="Arial"/>
            </a:endParaRPr>
          </a:p>
        </p:txBody>
      </p:sp>
      <p:sp>
        <p:nvSpPr>
          <p:cNvPr id="363" name="Google Shape;363;p10"/>
          <p:cNvSpPr/>
          <p:nvPr/>
        </p:nvSpPr>
        <p:spPr>
          <a:xfrm>
            <a:off x="3337560" y="1444752"/>
            <a:ext cx="7406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30"/>
              <a:buFont typeface="Arial"/>
              <a:buNone/>
            </a:pPr>
            <a:r>
              <a:rPr b="0" i="0" lang="en-US" sz="1230" u="none" cap="none" strike="noStrike">
                <a:solidFill>
                  <a:srgbClr val="26384C"/>
                </a:solidFill>
                <a:latin typeface="Arial"/>
                <a:ea typeface="Arial"/>
                <a:cs typeface="Arial"/>
                <a:sym typeface="Arial"/>
              </a:rPr>
              <a:t>Long-latency data access; often hundreds of cycles when not satisfied by cache</a:t>
            </a:r>
            <a:endParaRPr b="0" i="0" sz="1230" u="none" cap="none" strike="noStrike">
              <a:solidFill>
                <a:schemeClr val="dk1"/>
              </a:solidFill>
              <a:latin typeface="Arial"/>
              <a:ea typeface="Arial"/>
              <a:cs typeface="Arial"/>
              <a:sym typeface="Arial"/>
            </a:endParaRPr>
          </a:p>
        </p:txBody>
      </p:sp>
      <p:sp>
        <p:nvSpPr>
          <p:cNvPr id="364" name="Google Shape;364;p10"/>
          <p:cNvSpPr/>
          <p:nvPr/>
        </p:nvSpPr>
        <p:spPr>
          <a:xfrm>
            <a:off x="777240" y="2331720"/>
            <a:ext cx="10607040" cy="777240"/>
          </a:xfrm>
          <a:prstGeom prst="roundRect">
            <a:avLst>
              <a:gd fmla="val 941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0"/>
          <p:cNvSpPr/>
          <p:nvPr/>
        </p:nvSpPr>
        <p:spPr>
          <a:xfrm>
            <a:off x="777240" y="2331720"/>
            <a:ext cx="73152" cy="77724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0"/>
          <p:cNvSpPr/>
          <p:nvPr/>
        </p:nvSpPr>
        <p:spPr>
          <a:xfrm>
            <a:off x="1097280" y="251460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550"/>
              <a:buFont typeface="Arial"/>
              <a:buNone/>
            </a:pPr>
            <a:r>
              <a:rPr b="1" i="0" lang="en-US" sz="1550" u="none" cap="none" strike="noStrike">
                <a:solidFill>
                  <a:srgbClr val="173E62"/>
                </a:solidFill>
                <a:latin typeface="Arial"/>
                <a:ea typeface="Arial"/>
                <a:cs typeface="Arial"/>
                <a:sym typeface="Arial"/>
              </a:rPr>
              <a:t>Data dependency</a:t>
            </a:r>
            <a:endParaRPr b="0" i="0" sz="1550" u="none" cap="none" strike="noStrike">
              <a:solidFill>
                <a:schemeClr val="dk1"/>
              </a:solidFill>
              <a:latin typeface="Arial"/>
              <a:ea typeface="Arial"/>
              <a:cs typeface="Arial"/>
              <a:sym typeface="Arial"/>
            </a:endParaRPr>
          </a:p>
        </p:txBody>
      </p:sp>
      <p:sp>
        <p:nvSpPr>
          <p:cNvPr id="367" name="Google Shape;367;p10"/>
          <p:cNvSpPr/>
          <p:nvPr/>
        </p:nvSpPr>
        <p:spPr>
          <a:xfrm>
            <a:off x="3337560" y="2496312"/>
            <a:ext cx="7406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30"/>
              <a:buFont typeface="Arial"/>
              <a:buNone/>
            </a:pPr>
            <a:r>
              <a:rPr b="0" i="0" lang="en-US" sz="1230" u="none" cap="none" strike="noStrike">
                <a:solidFill>
                  <a:srgbClr val="26384C"/>
                </a:solidFill>
                <a:latin typeface="Arial"/>
                <a:ea typeface="Arial"/>
                <a:cs typeface="Arial"/>
                <a:sym typeface="Arial"/>
              </a:rPr>
              <a:t>An instruction needs the result of an earlier instruction</a:t>
            </a:r>
            <a:endParaRPr b="0" i="0" sz="1230" u="none" cap="none" strike="noStrike">
              <a:solidFill>
                <a:schemeClr val="dk1"/>
              </a:solidFill>
              <a:latin typeface="Arial"/>
              <a:ea typeface="Arial"/>
              <a:cs typeface="Arial"/>
              <a:sym typeface="Arial"/>
            </a:endParaRPr>
          </a:p>
        </p:txBody>
      </p:sp>
      <p:sp>
        <p:nvSpPr>
          <p:cNvPr id="368" name="Google Shape;368;p10"/>
          <p:cNvSpPr/>
          <p:nvPr/>
        </p:nvSpPr>
        <p:spPr>
          <a:xfrm>
            <a:off x="777240" y="3383280"/>
            <a:ext cx="10607040" cy="777240"/>
          </a:xfrm>
          <a:prstGeom prst="roundRect">
            <a:avLst>
              <a:gd fmla="val 941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
          <p:cNvSpPr/>
          <p:nvPr/>
        </p:nvSpPr>
        <p:spPr>
          <a:xfrm>
            <a:off x="777240" y="3383280"/>
            <a:ext cx="73152" cy="77724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
          <p:cNvSpPr/>
          <p:nvPr/>
        </p:nvSpPr>
        <p:spPr>
          <a:xfrm>
            <a:off x="1097280" y="356616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550"/>
              <a:buFont typeface="Arial"/>
              <a:buNone/>
            </a:pPr>
            <a:r>
              <a:rPr b="1" i="0" lang="en-US" sz="1550" u="none" cap="none" strike="noStrike">
                <a:solidFill>
                  <a:srgbClr val="173E62"/>
                </a:solidFill>
                <a:latin typeface="Arial"/>
                <a:ea typeface="Arial"/>
                <a:cs typeface="Arial"/>
                <a:sym typeface="Arial"/>
              </a:rPr>
              <a:t>Synchronization</a:t>
            </a:r>
            <a:endParaRPr b="0" i="0" sz="1550" u="none" cap="none" strike="noStrike">
              <a:solidFill>
                <a:schemeClr val="dk1"/>
              </a:solidFill>
              <a:latin typeface="Arial"/>
              <a:ea typeface="Arial"/>
              <a:cs typeface="Arial"/>
              <a:sym typeface="Arial"/>
            </a:endParaRPr>
          </a:p>
        </p:txBody>
      </p:sp>
      <p:sp>
        <p:nvSpPr>
          <p:cNvPr id="371" name="Google Shape;371;p10"/>
          <p:cNvSpPr/>
          <p:nvPr/>
        </p:nvSpPr>
        <p:spPr>
          <a:xfrm>
            <a:off x="3337560" y="3547872"/>
            <a:ext cx="7406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30"/>
              <a:buFont typeface="Arial"/>
              <a:buNone/>
            </a:pPr>
            <a:r>
              <a:rPr b="0" i="0" lang="en-US" sz="1230" u="none" cap="none" strike="noStrike">
                <a:solidFill>
                  <a:srgbClr val="26384C"/>
                </a:solidFill>
                <a:latin typeface="Arial"/>
                <a:ea typeface="Arial"/>
                <a:cs typeface="Arial"/>
                <a:sym typeface="Arial"/>
              </a:rPr>
              <a:t>Waiting at __syncthreads() or other coordination point</a:t>
            </a:r>
            <a:endParaRPr b="0" i="0" sz="1230" u="none" cap="none" strike="noStrike">
              <a:solidFill>
                <a:schemeClr val="dk1"/>
              </a:solidFill>
              <a:latin typeface="Arial"/>
              <a:ea typeface="Arial"/>
              <a:cs typeface="Arial"/>
              <a:sym typeface="Arial"/>
            </a:endParaRPr>
          </a:p>
        </p:txBody>
      </p:sp>
      <p:sp>
        <p:nvSpPr>
          <p:cNvPr id="372" name="Google Shape;372;p10"/>
          <p:cNvSpPr/>
          <p:nvPr/>
        </p:nvSpPr>
        <p:spPr>
          <a:xfrm>
            <a:off x="777240" y="4434840"/>
            <a:ext cx="10607040" cy="777240"/>
          </a:xfrm>
          <a:prstGeom prst="roundRect">
            <a:avLst>
              <a:gd fmla="val 941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0"/>
          <p:cNvSpPr/>
          <p:nvPr/>
        </p:nvSpPr>
        <p:spPr>
          <a:xfrm>
            <a:off x="777240" y="4434840"/>
            <a:ext cx="73152" cy="77724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0"/>
          <p:cNvSpPr/>
          <p:nvPr/>
        </p:nvSpPr>
        <p:spPr>
          <a:xfrm>
            <a:off x="1097280" y="4617720"/>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550"/>
              <a:buFont typeface="Arial"/>
              <a:buNone/>
            </a:pPr>
            <a:r>
              <a:rPr b="1" i="0" lang="en-US" sz="1550" u="none" cap="none" strike="noStrike">
                <a:solidFill>
                  <a:srgbClr val="173E62"/>
                </a:solidFill>
                <a:latin typeface="Arial"/>
                <a:ea typeface="Arial"/>
                <a:cs typeface="Arial"/>
                <a:sym typeface="Arial"/>
              </a:rPr>
              <a:t>Execution-resource pressure</a:t>
            </a:r>
            <a:endParaRPr b="0" i="0" sz="1550" u="none" cap="none" strike="noStrike">
              <a:solidFill>
                <a:schemeClr val="dk1"/>
              </a:solidFill>
              <a:latin typeface="Arial"/>
              <a:ea typeface="Arial"/>
              <a:cs typeface="Arial"/>
              <a:sym typeface="Arial"/>
            </a:endParaRPr>
          </a:p>
        </p:txBody>
      </p:sp>
      <p:sp>
        <p:nvSpPr>
          <p:cNvPr id="375" name="Google Shape;375;p10"/>
          <p:cNvSpPr/>
          <p:nvPr/>
        </p:nvSpPr>
        <p:spPr>
          <a:xfrm>
            <a:off x="3337560" y="4599432"/>
            <a:ext cx="7406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30"/>
              <a:buFont typeface="Arial"/>
              <a:buNone/>
            </a:pPr>
            <a:r>
              <a:rPr b="0" i="0" lang="en-US" sz="1230" u="none" cap="none" strike="noStrike">
                <a:solidFill>
                  <a:srgbClr val="26384C"/>
                </a:solidFill>
                <a:latin typeface="Arial"/>
                <a:ea typeface="Arial"/>
                <a:cs typeface="Arial"/>
                <a:sym typeface="Arial"/>
              </a:rPr>
              <a:t>The needed pipeline/unit may be busy</a:t>
            </a:r>
            <a:endParaRPr b="0" i="0" sz="1230" u="none" cap="none" strike="noStrike">
              <a:solidFill>
                <a:schemeClr val="dk1"/>
              </a:solidFill>
              <a:latin typeface="Arial"/>
              <a:ea typeface="Arial"/>
              <a:cs typeface="Arial"/>
              <a:sym typeface="Arial"/>
            </a:endParaRPr>
          </a:p>
        </p:txBody>
      </p:sp>
      <p:sp>
        <p:nvSpPr>
          <p:cNvPr id="376" name="Google Shape;376;p10"/>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377" name="Google Shape;377;p10"/>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h5b5df217b602b3c7_0_58"/>
          <p:cNvSpPr/>
          <p:nvPr/>
        </p:nvSpPr>
        <p:spPr>
          <a:xfrm>
            <a:off x="0" y="0"/>
            <a:ext cx="12191700" cy="73200"/>
          </a:xfrm>
          <a:prstGeom prst="rect">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4" name="Google Shape;384;h5b5df217b602b3c7_0_58"/>
          <p:cNvSpPr txBox="1"/>
          <p:nvPr/>
        </p:nvSpPr>
        <p:spPr>
          <a:xfrm>
            <a:off x="530352" y="292608"/>
            <a:ext cx="110643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500" u="none" cap="none" strike="noStrike">
                <a:solidFill>
                  <a:srgbClr val="163D5E"/>
                </a:solidFill>
                <a:latin typeface="Play"/>
                <a:ea typeface="Play"/>
                <a:cs typeface="Play"/>
                <a:sym typeface="Play"/>
              </a:rPr>
              <a:t>Latency Tolerance: Hide Waiting with Other Warps</a:t>
            </a:r>
            <a:endParaRPr/>
          </a:p>
        </p:txBody>
      </p:sp>
      <p:sp>
        <p:nvSpPr>
          <p:cNvPr id="385" name="Google Shape;385;h5b5df217b602b3c7_0_58"/>
          <p:cNvSpPr txBox="1"/>
          <p:nvPr/>
        </p:nvSpPr>
        <p:spPr>
          <a:xfrm>
            <a:off x="548640" y="758952"/>
            <a:ext cx="109728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B6F89"/>
                </a:solidFill>
                <a:latin typeface="Arial"/>
                <a:ea typeface="Arial"/>
                <a:cs typeface="Arial"/>
                <a:sym typeface="Arial"/>
              </a:rPr>
              <a:t>A GPU keeps many warps resident so useful work can continue while one warp is waiting</a:t>
            </a:r>
            <a:endParaRPr/>
          </a:p>
        </p:txBody>
      </p:sp>
      <p:sp>
        <p:nvSpPr>
          <p:cNvPr id="386" name="Google Shape;386;h5b5df217b602b3c7_0_58"/>
          <p:cNvSpPr txBox="1"/>
          <p:nvPr/>
        </p:nvSpPr>
        <p:spPr>
          <a:xfrm>
            <a:off x="685800" y="1078992"/>
            <a:ext cx="10972800" cy="2523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400" u="none" cap="none" strike="noStrike">
                <a:solidFill>
                  <a:srgbClr val="163D5E"/>
                </a:solidFill>
                <a:latin typeface="Arial"/>
                <a:ea typeface="Arial"/>
                <a:cs typeface="Arial"/>
                <a:sym typeface="Arial"/>
              </a:rPr>
              <a:t>Conceptual timeline — global-memory access stalls one warp, but the SM can issue from another ready warp</a:t>
            </a:r>
            <a:endParaRPr/>
          </a:p>
        </p:txBody>
      </p:sp>
      <p:sp>
        <p:nvSpPr>
          <p:cNvPr id="387" name="Google Shape;387;h5b5df217b602b3c7_0_58"/>
          <p:cNvSpPr txBox="1"/>
          <p:nvPr/>
        </p:nvSpPr>
        <p:spPr>
          <a:xfrm>
            <a:off x="685800" y="1682496"/>
            <a:ext cx="777300" cy="2217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200" u="none" cap="none" strike="noStrike">
                <a:solidFill>
                  <a:srgbClr val="163D5E"/>
                </a:solidFill>
                <a:latin typeface="Arial"/>
                <a:ea typeface="Arial"/>
                <a:cs typeface="Arial"/>
                <a:sym typeface="Arial"/>
              </a:rPr>
              <a:t>Warp 0</a:t>
            </a:r>
            <a:endParaRPr/>
          </a:p>
        </p:txBody>
      </p:sp>
      <p:sp>
        <p:nvSpPr>
          <p:cNvPr id="388" name="Google Shape;388;h5b5df217b602b3c7_0_58"/>
          <p:cNvSpPr/>
          <p:nvPr/>
        </p:nvSpPr>
        <p:spPr>
          <a:xfrm>
            <a:off x="1600200" y="1600200"/>
            <a:ext cx="9327000" cy="402300"/>
          </a:xfrm>
          <a:prstGeom prst="rect">
            <a:avLst/>
          </a:prstGeom>
          <a:solidFill>
            <a:srgbClr val="EEF2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9" name="Google Shape;389;h5b5df217b602b3c7_0_58"/>
          <p:cNvSpPr txBox="1"/>
          <p:nvPr/>
        </p:nvSpPr>
        <p:spPr>
          <a:xfrm>
            <a:off x="685800" y="2340863"/>
            <a:ext cx="777300" cy="2217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200" u="none" cap="none" strike="noStrike">
                <a:solidFill>
                  <a:srgbClr val="163D5E"/>
                </a:solidFill>
                <a:latin typeface="Arial"/>
                <a:ea typeface="Arial"/>
                <a:cs typeface="Arial"/>
                <a:sym typeface="Arial"/>
              </a:rPr>
              <a:t>Warp 1</a:t>
            </a:r>
            <a:endParaRPr/>
          </a:p>
        </p:txBody>
      </p:sp>
      <p:sp>
        <p:nvSpPr>
          <p:cNvPr id="390" name="Google Shape;390;h5b5df217b602b3c7_0_58"/>
          <p:cNvSpPr/>
          <p:nvPr/>
        </p:nvSpPr>
        <p:spPr>
          <a:xfrm>
            <a:off x="1600200" y="2258568"/>
            <a:ext cx="9327000" cy="402300"/>
          </a:xfrm>
          <a:prstGeom prst="rect">
            <a:avLst/>
          </a:prstGeom>
          <a:solidFill>
            <a:srgbClr val="EEF2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1" name="Google Shape;391;h5b5df217b602b3c7_0_58"/>
          <p:cNvSpPr txBox="1"/>
          <p:nvPr/>
        </p:nvSpPr>
        <p:spPr>
          <a:xfrm>
            <a:off x="685800" y="2999232"/>
            <a:ext cx="777300" cy="2217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200" u="none" cap="none" strike="noStrike">
                <a:solidFill>
                  <a:srgbClr val="163D5E"/>
                </a:solidFill>
                <a:latin typeface="Arial"/>
                <a:ea typeface="Arial"/>
                <a:cs typeface="Arial"/>
                <a:sym typeface="Arial"/>
              </a:rPr>
              <a:t>Warp 2</a:t>
            </a:r>
            <a:endParaRPr/>
          </a:p>
        </p:txBody>
      </p:sp>
      <p:sp>
        <p:nvSpPr>
          <p:cNvPr id="392" name="Google Shape;392;h5b5df217b602b3c7_0_58"/>
          <p:cNvSpPr/>
          <p:nvPr/>
        </p:nvSpPr>
        <p:spPr>
          <a:xfrm>
            <a:off x="1600200" y="2916936"/>
            <a:ext cx="9327000" cy="402300"/>
          </a:xfrm>
          <a:prstGeom prst="rect">
            <a:avLst/>
          </a:prstGeom>
          <a:solidFill>
            <a:srgbClr val="EEF2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3" name="Google Shape;393;h5b5df217b602b3c7_0_58"/>
          <p:cNvSpPr txBox="1"/>
          <p:nvPr/>
        </p:nvSpPr>
        <p:spPr>
          <a:xfrm>
            <a:off x="685800" y="3657600"/>
            <a:ext cx="777300" cy="221700"/>
          </a:xfrm>
          <a:prstGeom prst="rect">
            <a:avLst/>
          </a:prstGeom>
          <a:noFill/>
          <a:ln>
            <a:noFill/>
          </a:ln>
        </p:spPr>
        <p:txBody>
          <a:bodyPr anchorCtr="0" anchor="t" bIns="18275" lIns="27425" spcFirstLastPara="1" rIns="27425" wrap="square" tIns="18275">
            <a:spAutoFit/>
          </a:bodyPr>
          <a:lstStyle/>
          <a:p>
            <a:pPr indent="0" lvl="0" marL="0" marR="0" rtl="0" algn="l">
              <a:spcBef>
                <a:spcPts val="0"/>
              </a:spcBef>
              <a:spcAft>
                <a:spcPts val="0"/>
              </a:spcAft>
              <a:buNone/>
            </a:pPr>
            <a:r>
              <a:rPr b="1" i="0" lang="en-US" sz="1200" u="none" cap="none" strike="noStrike">
                <a:solidFill>
                  <a:srgbClr val="163D5E"/>
                </a:solidFill>
                <a:latin typeface="Arial"/>
                <a:ea typeface="Arial"/>
                <a:cs typeface="Arial"/>
                <a:sym typeface="Arial"/>
              </a:rPr>
              <a:t>Warp 3</a:t>
            </a:r>
            <a:endParaRPr/>
          </a:p>
        </p:txBody>
      </p:sp>
      <p:sp>
        <p:nvSpPr>
          <p:cNvPr id="394" name="Google Shape;394;h5b5df217b602b3c7_0_58"/>
          <p:cNvSpPr/>
          <p:nvPr/>
        </p:nvSpPr>
        <p:spPr>
          <a:xfrm>
            <a:off x="1600200" y="3575304"/>
            <a:ext cx="9327000" cy="402300"/>
          </a:xfrm>
          <a:prstGeom prst="rect">
            <a:avLst/>
          </a:prstGeom>
          <a:solidFill>
            <a:srgbClr val="EEF2F6"/>
          </a:solidFill>
          <a:ln cap="flat" cmpd="sng" w="9525">
            <a:solidFill>
              <a:srgbClr val="CED9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5" name="Google Shape;395;h5b5df217b602b3c7_0_58"/>
          <p:cNvSpPr/>
          <p:nvPr/>
        </p:nvSpPr>
        <p:spPr>
          <a:xfrm>
            <a:off x="1600200" y="1618488"/>
            <a:ext cx="1536300" cy="365700"/>
          </a:xfrm>
          <a:prstGeom prst="roundRect">
            <a:avLst>
              <a:gd fmla="val 16667" name="adj"/>
            </a:avLst>
          </a:prstGeom>
          <a:solidFill>
            <a:srgbClr val="65BE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6" name="Google Shape;396;h5b5df217b602b3c7_0_58"/>
          <p:cNvSpPr txBox="1"/>
          <p:nvPr/>
        </p:nvSpPr>
        <p:spPr>
          <a:xfrm>
            <a:off x="1600200" y="1673352"/>
            <a:ext cx="15363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397" name="Google Shape;397;h5b5df217b602b3c7_0_58"/>
          <p:cNvSpPr/>
          <p:nvPr/>
        </p:nvSpPr>
        <p:spPr>
          <a:xfrm>
            <a:off x="3136391" y="1618488"/>
            <a:ext cx="4389000" cy="365700"/>
          </a:xfrm>
          <a:prstGeom prst="roundRect">
            <a:avLst>
              <a:gd fmla="val 16667" name="adj"/>
            </a:avLst>
          </a:prstGeom>
          <a:solidFill>
            <a:srgbClr val="FCEB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8" name="Google Shape;398;h5b5df217b602b3c7_0_58"/>
          <p:cNvSpPr txBox="1"/>
          <p:nvPr/>
        </p:nvSpPr>
        <p:spPr>
          <a:xfrm>
            <a:off x="3136391" y="1673352"/>
            <a:ext cx="43890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163D5E"/>
                </a:solidFill>
                <a:latin typeface="Arial"/>
                <a:ea typeface="Arial"/>
                <a:cs typeface="Arial"/>
                <a:sym typeface="Arial"/>
              </a:rPr>
              <a:t>memory wait</a:t>
            </a:r>
            <a:endParaRPr/>
          </a:p>
        </p:txBody>
      </p:sp>
      <p:sp>
        <p:nvSpPr>
          <p:cNvPr id="399" name="Google Shape;399;h5b5df217b602b3c7_0_58"/>
          <p:cNvSpPr/>
          <p:nvPr/>
        </p:nvSpPr>
        <p:spPr>
          <a:xfrm>
            <a:off x="7525512" y="1618488"/>
            <a:ext cx="1426500" cy="365700"/>
          </a:xfrm>
          <a:prstGeom prst="roundRect">
            <a:avLst>
              <a:gd fmla="val 16667" name="adj"/>
            </a:avLst>
          </a:prstGeom>
          <a:solidFill>
            <a:srgbClr val="65BE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0" name="Google Shape;400;h5b5df217b602b3c7_0_58"/>
          <p:cNvSpPr txBox="1"/>
          <p:nvPr/>
        </p:nvSpPr>
        <p:spPr>
          <a:xfrm>
            <a:off x="7525512" y="1673352"/>
            <a:ext cx="14265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401" name="Google Shape;401;h5b5df217b602b3c7_0_58"/>
          <p:cNvSpPr/>
          <p:nvPr/>
        </p:nvSpPr>
        <p:spPr>
          <a:xfrm>
            <a:off x="3026664" y="2276856"/>
            <a:ext cx="1865400" cy="365700"/>
          </a:xfrm>
          <a:prstGeom prst="roundRect">
            <a:avLst>
              <a:gd fmla="val 16667" name="adj"/>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2" name="Google Shape;402;h5b5df217b602b3c7_0_58"/>
          <p:cNvSpPr txBox="1"/>
          <p:nvPr/>
        </p:nvSpPr>
        <p:spPr>
          <a:xfrm>
            <a:off x="3026664" y="2331720"/>
            <a:ext cx="18654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403" name="Google Shape;403;h5b5df217b602b3c7_0_58"/>
          <p:cNvSpPr/>
          <p:nvPr/>
        </p:nvSpPr>
        <p:spPr>
          <a:xfrm>
            <a:off x="4892040" y="2276856"/>
            <a:ext cx="1316700" cy="365700"/>
          </a:xfrm>
          <a:prstGeom prst="roundRect">
            <a:avLst>
              <a:gd fmla="val 16667" name="adj"/>
            </a:avLst>
          </a:prstGeom>
          <a:solidFill>
            <a:srgbClr val="FCF2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4" name="Google Shape;404;h5b5df217b602b3c7_0_58"/>
          <p:cNvSpPr txBox="1"/>
          <p:nvPr/>
        </p:nvSpPr>
        <p:spPr>
          <a:xfrm>
            <a:off x="4892040" y="2331720"/>
            <a:ext cx="13167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163D5E"/>
                </a:solidFill>
                <a:latin typeface="Arial"/>
                <a:ea typeface="Arial"/>
                <a:cs typeface="Arial"/>
                <a:sym typeface="Arial"/>
              </a:rPr>
              <a:t>wait</a:t>
            </a:r>
            <a:endParaRPr/>
          </a:p>
        </p:txBody>
      </p:sp>
      <p:sp>
        <p:nvSpPr>
          <p:cNvPr id="405" name="Google Shape;405;h5b5df217b602b3c7_0_58"/>
          <p:cNvSpPr/>
          <p:nvPr/>
        </p:nvSpPr>
        <p:spPr>
          <a:xfrm>
            <a:off x="6208776" y="2276856"/>
            <a:ext cx="1755600" cy="365700"/>
          </a:xfrm>
          <a:prstGeom prst="roundRect">
            <a:avLst>
              <a:gd fmla="val 16667" name="adj"/>
            </a:avLst>
          </a:prstGeom>
          <a:solidFill>
            <a:srgbClr val="2369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6" name="Google Shape;406;h5b5df217b602b3c7_0_58"/>
          <p:cNvSpPr txBox="1"/>
          <p:nvPr/>
        </p:nvSpPr>
        <p:spPr>
          <a:xfrm>
            <a:off x="6208776" y="2331720"/>
            <a:ext cx="17556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407" name="Google Shape;407;h5b5df217b602b3c7_0_58"/>
          <p:cNvSpPr/>
          <p:nvPr/>
        </p:nvSpPr>
        <p:spPr>
          <a:xfrm>
            <a:off x="4782312" y="2935224"/>
            <a:ext cx="1645800" cy="365700"/>
          </a:xfrm>
          <a:prstGeom prst="roundRect">
            <a:avLst>
              <a:gd fmla="val 16667" name="adj"/>
            </a:avLst>
          </a:prstGeom>
          <a:solidFill>
            <a:srgbClr val="1B93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8" name="Google Shape;408;h5b5df217b602b3c7_0_58"/>
          <p:cNvSpPr txBox="1"/>
          <p:nvPr/>
        </p:nvSpPr>
        <p:spPr>
          <a:xfrm>
            <a:off x="4782312" y="2990088"/>
            <a:ext cx="16458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409" name="Google Shape;409;h5b5df217b602b3c7_0_58"/>
          <p:cNvSpPr/>
          <p:nvPr/>
        </p:nvSpPr>
        <p:spPr>
          <a:xfrm>
            <a:off x="6428232" y="2935224"/>
            <a:ext cx="1097400" cy="365700"/>
          </a:xfrm>
          <a:prstGeom prst="roundRect">
            <a:avLst>
              <a:gd fmla="val 16667" name="adj"/>
            </a:avLst>
          </a:prstGeom>
          <a:solidFill>
            <a:srgbClr val="FCF2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10" name="Google Shape;410;h5b5df217b602b3c7_0_58"/>
          <p:cNvSpPr txBox="1"/>
          <p:nvPr/>
        </p:nvSpPr>
        <p:spPr>
          <a:xfrm>
            <a:off x="6428232" y="2990088"/>
            <a:ext cx="10974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163D5E"/>
                </a:solidFill>
                <a:latin typeface="Arial"/>
                <a:ea typeface="Arial"/>
                <a:cs typeface="Arial"/>
                <a:sym typeface="Arial"/>
              </a:rPr>
              <a:t>wait</a:t>
            </a:r>
            <a:endParaRPr/>
          </a:p>
        </p:txBody>
      </p:sp>
      <p:sp>
        <p:nvSpPr>
          <p:cNvPr id="411" name="Google Shape;411;h5b5df217b602b3c7_0_58"/>
          <p:cNvSpPr/>
          <p:nvPr/>
        </p:nvSpPr>
        <p:spPr>
          <a:xfrm>
            <a:off x="7525512" y="2935224"/>
            <a:ext cx="1536300" cy="365700"/>
          </a:xfrm>
          <a:prstGeom prst="roundRect">
            <a:avLst>
              <a:gd fmla="val 16667" name="adj"/>
            </a:avLst>
          </a:prstGeom>
          <a:solidFill>
            <a:srgbClr val="1B93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12" name="Google Shape;412;h5b5df217b602b3c7_0_58"/>
          <p:cNvSpPr txBox="1"/>
          <p:nvPr/>
        </p:nvSpPr>
        <p:spPr>
          <a:xfrm>
            <a:off x="7525512" y="2990088"/>
            <a:ext cx="15363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413" name="Google Shape;413;h5b5df217b602b3c7_0_58"/>
          <p:cNvSpPr/>
          <p:nvPr/>
        </p:nvSpPr>
        <p:spPr>
          <a:xfrm>
            <a:off x="6099047" y="3593592"/>
            <a:ext cx="1865400" cy="365700"/>
          </a:xfrm>
          <a:prstGeom prst="roundRect">
            <a:avLst>
              <a:gd fmla="val 16667" name="adj"/>
            </a:avLst>
          </a:prstGeom>
          <a:solidFill>
            <a:srgbClr val="C77A1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14" name="Google Shape;414;h5b5df217b602b3c7_0_58"/>
          <p:cNvSpPr txBox="1"/>
          <p:nvPr/>
        </p:nvSpPr>
        <p:spPr>
          <a:xfrm>
            <a:off x="6099047" y="3648456"/>
            <a:ext cx="18654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FFFFFF"/>
                </a:solidFill>
                <a:latin typeface="Arial"/>
                <a:ea typeface="Arial"/>
                <a:cs typeface="Arial"/>
                <a:sym typeface="Arial"/>
              </a:rPr>
              <a:t>compute</a:t>
            </a:r>
            <a:endParaRPr/>
          </a:p>
        </p:txBody>
      </p:sp>
      <p:sp>
        <p:nvSpPr>
          <p:cNvPr id="415" name="Google Shape;415;h5b5df217b602b3c7_0_58"/>
          <p:cNvSpPr/>
          <p:nvPr/>
        </p:nvSpPr>
        <p:spPr>
          <a:xfrm>
            <a:off x="7964424" y="3593592"/>
            <a:ext cx="1097400" cy="365700"/>
          </a:xfrm>
          <a:prstGeom prst="roundRect">
            <a:avLst>
              <a:gd fmla="val 16667" name="adj"/>
            </a:avLst>
          </a:prstGeom>
          <a:solidFill>
            <a:srgbClr val="FCF2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16" name="Google Shape;416;h5b5df217b602b3c7_0_58"/>
          <p:cNvSpPr txBox="1"/>
          <p:nvPr/>
        </p:nvSpPr>
        <p:spPr>
          <a:xfrm>
            <a:off x="7964424" y="3648456"/>
            <a:ext cx="1097400" cy="175500"/>
          </a:xfrm>
          <a:prstGeom prst="rect">
            <a:avLst/>
          </a:prstGeom>
          <a:noFill/>
          <a:ln>
            <a:noFill/>
          </a:ln>
        </p:spPr>
        <p:txBody>
          <a:bodyPr anchorCtr="0" anchor="t" bIns="18275" lIns="27425" spcFirstLastPara="1" rIns="27425" wrap="square" tIns="18275">
            <a:spAutoFit/>
          </a:bodyPr>
          <a:lstStyle/>
          <a:p>
            <a:pPr indent="0" lvl="0" marL="0" marR="0" rtl="0" algn="ctr">
              <a:spcBef>
                <a:spcPts val="0"/>
              </a:spcBef>
              <a:spcAft>
                <a:spcPts val="0"/>
              </a:spcAft>
              <a:buNone/>
            </a:pPr>
            <a:r>
              <a:rPr b="1" i="0" lang="en-US" sz="900" u="none" cap="none" strike="noStrike">
                <a:solidFill>
                  <a:srgbClr val="163D5E"/>
                </a:solidFill>
                <a:latin typeface="Arial"/>
                <a:ea typeface="Arial"/>
                <a:cs typeface="Arial"/>
                <a:sym typeface="Arial"/>
              </a:rPr>
              <a:t>wait</a:t>
            </a:r>
            <a:endParaRPr/>
          </a:p>
        </p:txBody>
      </p:sp>
      <p:sp>
        <p:nvSpPr>
          <p:cNvPr id="417" name="Google Shape;417;h5b5df217b602b3c7_0_58"/>
          <p:cNvSpPr txBox="1"/>
          <p:nvPr/>
        </p:nvSpPr>
        <p:spPr>
          <a:xfrm>
            <a:off x="7315200" y="6236208"/>
            <a:ext cx="4297800" cy="152400"/>
          </a:xfrm>
          <a:prstGeom prst="rect">
            <a:avLst/>
          </a:prstGeom>
          <a:noFill/>
          <a:ln>
            <a:noFill/>
          </a:ln>
        </p:spPr>
        <p:txBody>
          <a:bodyPr anchorCtr="0" anchor="t" bIns="18275" lIns="27425" spcFirstLastPara="1" rIns="27425" wrap="square" tIns="18275">
            <a:spAutoFit/>
          </a:bodyPr>
          <a:lstStyle/>
          <a:p>
            <a:pPr indent="0" lvl="0" marL="0" marR="0" rtl="0" algn="r">
              <a:spcBef>
                <a:spcPts val="0"/>
              </a:spcBef>
              <a:spcAft>
                <a:spcPts val="0"/>
              </a:spcAft>
              <a:buNone/>
            </a:pPr>
            <a:r>
              <a:rPr b="0" i="0" lang="en-US" sz="750" u="none" cap="none" strike="noStrike">
                <a:solidFill>
                  <a:srgbClr val="5B6F89"/>
                </a:solidFill>
                <a:latin typeface="Arial"/>
                <a:ea typeface="Arial"/>
                <a:cs typeface="Arial"/>
                <a:sym typeface="Arial"/>
              </a:rPr>
              <a:t>Source: NVIDIA CUDA Best Practices Guide</a:t>
            </a:r>
            <a:endParaRPr/>
          </a:p>
        </p:txBody>
      </p:sp>
      <p:sp>
        <p:nvSpPr>
          <p:cNvPr id="418" name="Google Shape;418;h5b5df217b602b3c7_0_58"/>
          <p:cNvSpPr txBox="1"/>
          <p:nvPr/>
        </p:nvSpPr>
        <p:spPr>
          <a:xfrm>
            <a:off x="502920" y="6537960"/>
            <a:ext cx="41148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B6F89"/>
                </a:solidFill>
                <a:latin typeface="Arial"/>
                <a:ea typeface="Arial"/>
                <a:cs typeface="Arial"/>
                <a:sym typeface="Arial"/>
              </a:rPr>
              <a:t>CS455 — Intro GPU Cluster Programming</a:t>
            </a:r>
            <a:endParaRPr/>
          </a:p>
        </p:txBody>
      </p:sp>
      <p:sp>
        <p:nvSpPr>
          <p:cNvPr id="419" name="Google Shape;419;h5b5df217b602b3c7_0_58"/>
          <p:cNvSpPr txBox="1"/>
          <p:nvPr/>
        </p:nvSpPr>
        <p:spPr>
          <a:xfrm>
            <a:off x="9692640" y="6537960"/>
            <a:ext cx="20118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B6F89"/>
                </a:solidFill>
                <a:latin typeface="Arial"/>
                <a:ea typeface="Arial"/>
                <a:cs typeface="Arial"/>
                <a:sym typeface="Arial"/>
              </a:rPr>
              <a:t>GPU Architecture     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2"/>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Scheduling + Divergence + Latency: The Performance Chain</a:t>
            </a:r>
            <a:endParaRPr b="0" i="0" sz="2500" u="none" cap="none" strike="noStrike">
              <a:solidFill>
                <a:schemeClr val="dk1"/>
              </a:solidFill>
              <a:latin typeface="Arial"/>
              <a:ea typeface="Arial"/>
              <a:cs typeface="Arial"/>
              <a:sym typeface="Arial"/>
            </a:endParaRPr>
          </a:p>
        </p:txBody>
      </p:sp>
      <p:sp>
        <p:nvSpPr>
          <p:cNvPr id="426" name="Google Shape;426;p12"/>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These mechanisms interact rather than acting independently.</a:t>
            </a:r>
            <a:endParaRPr b="0" i="0" sz="1150" u="none" cap="none" strike="noStrike">
              <a:solidFill>
                <a:schemeClr val="dk1"/>
              </a:solidFill>
              <a:latin typeface="Arial"/>
              <a:ea typeface="Arial"/>
              <a:cs typeface="Arial"/>
              <a:sym typeface="Arial"/>
            </a:endParaRPr>
          </a:p>
        </p:txBody>
      </p:sp>
      <p:sp>
        <p:nvSpPr>
          <p:cNvPr id="427" name="Google Shape;427;p12"/>
          <p:cNvSpPr/>
          <p:nvPr/>
        </p:nvSpPr>
        <p:spPr>
          <a:xfrm>
            <a:off x="640080" y="1554480"/>
            <a:ext cx="2423160" cy="1874520"/>
          </a:xfrm>
          <a:prstGeom prst="roundRect">
            <a:avLst>
              <a:gd fmla="val 390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2"/>
          <p:cNvSpPr/>
          <p:nvPr/>
        </p:nvSpPr>
        <p:spPr>
          <a:xfrm>
            <a:off x="640080" y="1554480"/>
            <a:ext cx="73152" cy="187452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
          <p:cNvSpPr/>
          <p:nvPr/>
        </p:nvSpPr>
        <p:spPr>
          <a:xfrm>
            <a:off x="822960" y="1828800"/>
            <a:ext cx="2011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500"/>
              <a:buFont typeface="Arial"/>
              <a:buNone/>
            </a:pPr>
            <a:r>
              <a:rPr b="1" i="0" lang="en-US" sz="1500" u="none" cap="none" strike="noStrike">
                <a:solidFill>
                  <a:srgbClr val="173E62"/>
                </a:solidFill>
                <a:latin typeface="Arial"/>
                <a:ea typeface="Arial"/>
                <a:cs typeface="Arial"/>
                <a:sym typeface="Arial"/>
              </a:rPr>
              <a:t>Block residency</a:t>
            </a:r>
            <a:endParaRPr b="0" i="0" sz="1500" u="none" cap="none" strike="noStrike">
              <a:solidFill>
                <a:schemeClr val="dk1"/>
              </a:solidFill>
              <a:latin typeface="Arial"/>
              <a:ea typeface="Arial"/>
              <a:cs typeface="Arial"/>
              <a:sym typeface="Arial"/>
            </a:endParaRPr>
          </a:p>
        </p:txBody>
      </p:sp>
      <p:sp>
        <p:nvSpPr>
          <p:cNvPr id="430" name="Google Shape;430;p12"/>
          <p:cNvSpPr/>
          <p:nvPr/>
        </p:nvSpPr>
        <p:spPr>
          <a:xfrm>
            <a:off x="841248" y="2331720"/>
            <a:ext cx="19659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080"/>
              <a:buFont typeface="Arial"/>
              <a:buNone/>
            </a:pPr>
            <a:r>
              <a:rPr b="0" i="0" lang="en-US" sz="1080" u="none" cap="none" strike="noStrike">
                <a:solidFill>
                  <a:srgbClr val="26384C"/>
                </a:solidFill>
                <a:latin typeface="Arial"/>
                <a:ea typeface="Arial"/>
                <a:cs typeface="Arial"/>
                <a:sym typeface="Arial"/>
              </a:rPr>
              <a:t>Registers + shared memory determine how many blocks/warps can reside</a:t>
            </a:r>
            <a:endParaRPr b="0" i="0" sz="1080" u="none" cap="none" strike="noStrike">
              <a:solidFill>
                <a:schemeClr val="dk1"/>
              </a:solidFill>
              <a:latin typeface="Arial"/>
              <a:ea typeface="Arial"/>
              <a:cs typeface="Arial"/>
              <a:sym typeface="Arial"/>
            </a:endParaRPr>
          </a:p>
        </p:txBody>
      </p:sp>
      <p:cxnSp>
        <p:nvCxnSpPr>
          <p:cNvPr id="431" name="Google Shape;431;p12"/>
          <p:cNvCxnSpPr/>
          <p:nvPr/>
        </p:nvCxnSpPr>
        <p:spPr>
          <a:xfrm>
            <a:off x="3063240" y="2487168"/>
            <a:ext cx="365760" cy="0"/>
          </a:xfrm>
          <a:prstGeom prst="straightConnector1">
            <a:avLst/>
          </a:prstGeom>
          <a:noFill/>
          <a:ln cap="flat" cmpd="sng" w="19050">
            <a:solidFill>
              <a:srgbClr val="61738B"/>
            </a:solidFill>
            <a:prstDash val="solid"/>
            <a:round/>
            <a:headEnd len="sm" w="sm" type="none"/>
            <a:tailEnd len="med" w="med" type="triangle"/>
          </a:ln>
        </p:spPr>
      </p:cxnSp>
      <p:sp>
        <p:nvSpPr>
          <p:cNvPr id="432" name="Google Shape;432;p12"/>
          <p:cNvSpPr/>
          <p:nvPr/>
        </p:nvSpPr>
        <p:spPr>
          <a:xfrm>
            <a:off x="3520440" y="1554480"/>
            <a:ext cx="2423160" cy="1874520"/>
          </a:xfrm>
          <a:prstGeom prst="roundRect">
            <a:avLst>
              <a:gd fmla="val 390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
          <p:cNvSpPr/>
          <p:nvPr/>
        </p:nvSpPr>
        <p:spPr>
          <a:xfrm>
            <a:off x="3520440" y="1554480"/>
            <a:ext cx="73152" cy="187452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2"/>
          <p:cNvSpPr/>
          <p:nvPr/>
        </p:nvSpPr>
        <p:spPr>
          <a:xfrm>
            <a:off x="3703320" y="1828800"/>
            <a:ext cx="2011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500"/>
              <a:buFont typeface="Arial"/>
              <a:buNone/>
            </a:pPr>
            <a:r>
              <a:rPr b="1" i="0" lang="en-US" sz="1500" u="none" cap="none" strike="noStrike">
                <a:solidFill>
                  <a:srgbClr val="173E62"/>
                </a:solidFill>
                <a:latin typeface="Arial"/>
                <a:ea typeface="Arial"/>
                <a:cs typeface="Arial"/>
                <a:sym typeface="Arial"/>
              </a:rPr>
              <a:t>Ready warps</a:t>
            </a:r>
            <a:endParaRPr b="0" i="0" sz="1500" u="none" cap="none" strike="noStrike">
              <a:solidFill>
                <a:schemeClr val="dk1"/>
              </a:solidFill>
              <a:latin typeface="Arial"/>
              <a:ea typeface="Arial"/>
              <a:cs typeface="Arial"/>
              <a:sym typeface="Arial"/>
            </a:endParaRPr>
          </a:p>
        </p:txBody>
      </p:sp>
      <p:sp>
        <p:nvSpPr>
          <p:cNvPr id="435" name="Google Shape;435;p12"/>
          <p:cNvSpPr/>
          <p:nvPr/>
        </p:nvSpPr>
        <p:spPr>
          <a:xfrm>
            <a:off x="3721608" y="2331720"/>
            <a:ext cx="19659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080"/>
              <a:buFont typeface="Arial"/>
              <a:buNone/>
            </a:pPr>
            <a:r>
              <a:rPr b="0" i="0" lang="en-US" sz="1080" u="none" cap="none" strike="noStrike">
                <a:solidFill>
                  <a:srgbClr val="26384C"/>
                </a:solidFill>
                <a:latin typeface="Arial"/>
                <a:ea typeface="Arial"/>
                <a:cs typeface="Arial"/>
                <a:sym typeface="Arial"/>
              </a:rPr>
              <a:t>More independent ready warps increase scheduling choices</a:t>
            </a:r>
            <a:endParaRPr b="0" i="0" sz="1080" u="none" cap="none" strike="noStrike">
              <a:solidFill>
                <a:schemeClr val="dk1"/>
              </a:solidFill>
              <a:latin typeface="Arial"/>
              <a:ea typeface="Arial"/>
              <a:cs typeface="Arial"/>
              <a:sym typeface="Arial"/>
            </a:endParaRPr>
          </a:p>
        </p:txBody>
      </p:sp>
      <p:cxnSp>
        <p:nvCxnSpPr>
          <p:cNvPr id="436" name="Google Shape;436;p12"/>
          <p:cNvCxnSpPr/>
          <p:nvPr/>
        </p:nvCxnSpPr>
        <p:spPr>
          <a:xfrm>
            <a:off x="5943600" y="2487168"/>
            <a:ext cx="365760" cy="0"/>
          </a:xfrm>
          <a:prstGeom prst="straightConnector1">
            <a:avLst/>
          </a:prstGeom>
          <a:noFill/>
          <a:ln cap="flat" cmpd="sng" w="19050">
            <a:solidFill>
              <a:srgbClr val="61738B"/>
            </a:solidFill>
            <a:prstDash val="solid"/>
            <a:round/>
            <a:headEnd len="sm" w="sm" type="none"/>
            <a:tailEnd len="med" w="med" type="triangle"/>
          </a:ln>
        </p:spPr>
      </p:cxnSp>
      <p:sp>
        <p:nvSpPr>
          <p:cNvPr id="437" name="Google Shape;437;p12"/>
          <p:cNvSpPr/>
          <p:nvPr/>
        </p:nvSpPr>
        <p:spPr>
          <a:xfrm>
            <a:off x="6400800" y="1554480"/>
            <a:ext cx="2423160" cy="1874520"/>
          </a:xfrm>
          <a:prstGeom prst="roundRect">
            <a:avLst>
              <a:gd fmla="val 390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2"/>
          <p:cNvSpPr/>
          <p:nvPr/>
        </p:nvSpPr>
        <p:spPr>
          <a:xfrm>
            <a:off x="6400800" y="1554480"/>
            <a:ext cx="73152" cy="187452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2"/>
          <p:cNvSpPr/>
          <p:nvPr/>
        </p:nvSpPr>
        <p:spPr>
          <a:xfrm>
            <a:off x="6583680" y="1828800"/>
            <a:ext cx="2011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500"/>
              <a:buFont typeface="Arial"/>
              <a:buNone/>
            </a:pPr>
            <a:r>
              <a:rPr b="1" i="0" lang="en-US" sz="1500" u="none" cap="none" strike="noStrike">
                <a:solidFill>
                  <a:srgbClr val="173E62"/>
                </a:solidFill>
                <a:latin typeface="Arial"/>
                <a:ea typeface="Arial"/>
                <a:cs typeface="Arial"/>
                <a:sym typeface="Arial"/>
              </a:rPr>
              <a:t>Latency hiding</a:t>
            </a:r>
            <a:endParaRPr b="0" i="0" sz="1500" u="none" cap="none" strike="noStrike">
              <a:solidFill>
                <a:schemeClr val="dk1"/>
              </a:solidFill>
              <a:latin typeface="Arial"/>
              <a:ea typeface="Arial"/>
              <a:cs typeface="Arial"/>
              <a:sym typeface="Arial"/>
            </a:endParaRPr>
          </a:p>
        </p:txBody>
      </p:sp>
      <p:sp>
        <p:nvSpPr>
          <p:cNvPr id="440" name="Google Shape;440;p12"/>
          <p:cNvSpPr/>
          <p:nvPr/>
        </p:nvSpPr>
        <p:spPr>
          <a:xfrm>
            <a:off x="6601968" y="2331720"/>
            <a:ext cx="19659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080"/>
              <a:buFont typeface="Arial"/>
              <a:buNone/>
            </a:pPr>
            <a:r>
              <a:rPr b="0" i="0" lang="en-US" sz="1080" u="none" cap="none" strike="noStrike">
                <a:solidFill>
                  <a:srgbClr val="26384C"/>
                </a:solidFill>
                <a:latin typeface="Arial"/>
                <a:ea typeface="Arial"/>
                <a:cs typeface="Arial"/>
                <a:sym typeface="Arial"/>
              </a:rPr>
              <a:t>Scheduler issues from another ready warp when one stalls</a:t>
            </a:r>
            <a:endParaRPr b="0" i="0" sz="1080" u="none" cap="none" strike="noStrike">
              <a:solidFill>
                <a:schemeClr val="dk1"/>
              </a:solidFill>
              <a:latin typeface="Arial"/>
              <a:ea typeface="Arial"/>
              <a:cs typeface="Arial"/>
              <a:sym typeface="Arial"/>
            </a:endParaRPr>
          </a:p>
        </p:txBody>
      </p:sp>
      <p:cxnSp>
        <p:nvCxnSpPr>
          <p:cNvPr id="441" name="Google Shape;441;p12"/>
          <p:cNvCxnSpPr/>
          <p:nvPr/>
        </p:nvCxnSpPr>
        <p:spPr>
          <a:xfrm>
            <a:off x="8823960" y="2487168"/>
            <a:ext cx="365760" cy="0"/>
          </a:xfrm>
          <a:prstGeom prst="straightConnector1">
            <a:avLst/>
          </a:prstGeom>
          <a:noFill/>
          <a:ln cap="flat" cmpd="sng" w="19050">
            <a:solidFill>
              <a:srgbClr val="61738B"/>
            </a:solidFill>
            <a:prstDash val="solid"/>
            <a:round/>
            <a:headEnd len="sm" w="sm" type="none"/>
            <a:tailEnd len="med" w="med" type="triangle"/>
          </a:ln>
        </p:spPr>
      </p:cxnSp>
      <p:sp>
        <p:nvSpPr>
          <p:cNvPr id="442" name="Google Shape;442;p12"/>
          <p:cNvSpPr/>
          <p:nvPr/>
        </p:nvSpPr>
        <p:spPr>
          <a:xfrm>
            <a:off x="9281160" y="1554480"/>
            <a:ext cx="2423160" cy="1874520"/>
          </a:xfrm>
          <a:prstGeom prst="roundRect">
            <a:avLst>
              <a:gd fmla="val 3902"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2"/>
          <p:cNvSpPr/>
          <p:nvPr/>
        </p:nvSpPr>
        <p:spPr>
          <a:xfrm>
            <a:off x="9281160" y="1554480"/>
            <a:ext cx="73152" cy="1874520"/>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2"/>
          <p:cNvSpPr/>
          <p:nvPr/>
        </p:nvSpPr>
        <p:spPr>
          <a:xfrm>
            <a:off x="9464040" y="1828800"/>
            <a:ext cx="2011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500"/>
              <a:buFont typeface="Arial"/>
              <a:buNone/>
            </a:pPr>
            <a:r>
              <a:rPr b="1" i="0" lang="en-US" sz="1500" u="none" cap="none" strike="noStrike">
                <a:solidFill>
                  <a:srgbClr val="173E62"/>
                </a:solidFill>
                <a:latin typeface="Arial"/>
                <a:ea typeface="Arial"/>
                <a:cs typeface="Arial"/>
                <a:sym typeface="Arial"/>
              </a:rPr>
              <a:t>Divergence</a:t>
            </a:r>
            <a:endParaRPr b="0" i="0" sz="1500" u="none" cap="none" strike="noStrike">
              <a:solidFill>
                <a:schemeClr val="dk1"/>
              </a:solidFill>
              <a:latin typeface="Arial"/>
              <a:ea typeface="Arial"/>
              <a:cs typeface="Arial"/>
              <a:sym typeface="Arial"/>
            </a:endParaRPr>
          </a:p>
        </p:txBody>
      </p:sp>
      <p:sp>
        <p:nvSpPr>
          <p:cNvPr id="445" name="Google Shape;445;p12"/>
          <p:cNvSpPr/>
          <p:nvPr/>
        </p:nvSpPr>
        <p:spPr>
          <a:xfrm>
            <a:off x="9482328" y="2331720"/>
            <a:ext cx="19659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080"/>
              <a:buFont typeface="Arial"/>
              <a:buNone/>
            </a:pPr>
            <a:r>
              <a:rPr b="0" i="0" lang="en-US" sz="1080" u="none" cap="none" strike="noStrike">
                <a:solidFill>
                  <a:srgbClr val="26384C"/>
                </a:solidFill>
                <a:latin typeface="Arial"/>
                <a:ea typeface="Arial"/>
                <a:cs typeface="Arial"/>
                <a:sym typeface="Arial"/>
              </a:rPr>
              <a:t>Can reduce useful work per issued warp instruction</a:t>
            </a:r>
            <a:endParaRPr b="0" i="0" sz="1080" u="none" cap="none" strike="noStrike">
              <a:solidFill>
                <a:schemeClr val="dk1"/>
              </a:solidFill>
              <a:latin typeface="Arial"/>
              <a:ea typeface="Arial"/>
              <a:cs typeface="Arial"/>
              <a:sym typeface="Arial"/>
            </a:endParaRPr>
          </a:p>
        </p:txBody>
      </p:sp>
      <p:sp>
        <p:nvSpPr>
          <p:cNvPr id="446" name="Google Shape;446;p12"/>
          <p:cNvSpPr/>
          <p:nvPr/>
        </p:nvSpPr>
        <p:spPr>
          <a:xfrm>
            <a:off x="1280160" y="4251960"/>
            <a:ext cx="9601200" cy="1097280"/>
          </a:xfrm>
          <a:prstGeom prst="roundRect">
            <a:avLst>
              <a:gd fmla="val 6667" name="adj"/>
            </a:avLst>
          </a:prstGeom>
          <a:solidFill>
            <a:srgbClr val="FFF5E5"/>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2"/>
          <p:cNvSpPr/>
          <p:nvPr/>
        </p:nvSpPr>
        <p:spPr>
          <a:xfrm>
            <a:off x="1280160" y="4251960"/>
            <a:ext cx="73152" cy="109728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2"/>
          <p:cNvSpPr/>
          <p:nvPr/>
        </p:nvSpPr>
        <p:spPr>
          <a:xfrm>
            <a:off x="1737360" y="4572000"/>
            <a:ext cx="8686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700"/>
              <a:buFont typeface="Arial"/>
              <a:buNone/>
            </a:pPr>
            <a:r>
              <a:rPr b="1" i="0" lang="en-US" sz="1700" u="none" cap="none" strike="noStrike">
                <a:solidFill>
                  <a:srgbClr val="173E62"/>
                </a:solidFill>
                <a:latin typeface="Arial"/>
                <a:ea typeface="Arial"/>
                <a:cs typeface="Arial"/>
                <a:sym typeface="Arial"/>
              </a:rPr>
              <a:t>A fast kernel usually needs enough scheduling flexibility, low enough divergence, and good memory behavior.</a:t>
            </a:r>
            <a:endParaRPr b="0" i="0" sz="1700" u="none" cap="none" strike="noStrike">
              <a:solidFill>
                <a:schemeClr val="dk1"/>
              </a:solidFill>
              <a:latin typeface="Arial"/>
              <a:ea typeface="Arial"/>
              <a:cs typeface="Arial"/>
              <a:sym typeface="Arial"/>
            </a:endParaRPr>
          </a:p>
        </p:txBody>
      </p:sp>
      <p:sp>
        <p:nvSpPr>
          <p:cNvPr id="449" name="Google Shape;449;p12"/>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3"/>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CUDA Memory Architecture: Scope, Speed, and Locality</a:t>
            </a:r>
            <a:endParaRPr b="0" i="0" sz="2500" u="none" cap="none" strike="noStrike">
              <a:solidFill>
                <a:schemeClr val="dk1"/>
              </a:solidFill>
              <a:latin typeface="Arial"/>
              <a:ea typeface="Arial"/>
              <a:cs typeface="Arial"/>
              <a:sym typeface="Arial"/>
            </a:endParaRPr>
          </a:p>
        </p:txBody>
      </p:sp>
      <p:sp>
        <p:nvSpPr>
          <p:cNvPr id="456" name="Google Shape;456;p13"/>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Choose memory based on who needs the data, how long it lives, and how often it is reused.</a:t>
            </a:r>
            <a:endParaRPr b="0" i="0" sz="1150" u="none" cap="none" strike="noStrike">
              <a:solidFill>
                <a:schemeClr val="dk1"/>
              </a:solidFill>
              <a:latin typeface="Arial"/>
              <a:ea typeface="Arial"/>
              <a:cs typeface="Arial"/>
              <a:sym typeface="Arial"/>
            </a:endParaRPr>
          </a:p>
        </p:txBody>
      </p:sp>
      <p:sp>
        <p:nvSpPr>
          <p:cNvPr id="457" name="Google Shape;457;p13"/>
          <p:cNvSpPr/>
          <p:nvPr/>
        </p:nvSpPr>
        <p:spPr>
          <a:xfrm>
            <a:off x="594360" y="1234440"/>
            <a:ext cx="1965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250"/>
              <a:buFont typeface="Arial"/>
              <a:buNone/>
            </a:pPr>
            <a:r>
              <a:rPr b="1" i="0" lang="en-US" sz="1250" u="none" cap="none" strike="noStrike">
                <a:solidFill>
                  <a:srgbClr val="173E62"/>
                </a:solidFill>
                <a:latin typeface="Arial"/>
                <a:ea typeface="Arial"/>
                <a:cs typeface="Arial"/>
                <a:sym typeface="Arial"/>
              </a:rPr>
              <a:t>Memory</a:t>
            </a:r>
            <a:endParaRPr b="0" i="0" sz="1250" u="none" cap="none" strike="noStrike">
              <a:solidFill>
                <a:schemeClr val="dk1"/>
              </a:solidFill>
              <a:latin typeface="Arial"/>
              <a:ea typeface="Arial"/>
              <a:cs typeface="Arial"/>
              <a:sym typeface="Arial"/>
            </a:endParaRPr>
          </a:p>
        </p:txBody>
      </p:sp>
      <p:sp>
        <p:nvSpPr>
          <p:cNvPr id="458" name="Google Shape;458;p13"/>
          <p:cNvSpPr/>
          <p:nvPr/>
        </p:nvSpPr>
        <p:spPr>
          <a:xfrm>
            <a:off x="2651760" y="1234440"/>
            <a:ext cx="1508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250"/>
              <a:buFont typeface="Arial"/>
              <a:buNone/>
            </a:pPr>
            <a:r>
              <a:rPr b="1" i="0" lang="en-US" sz="1250" u="none" cap="none" strike="noStrike">
                <a:solidFill>
                  <a:srgbClr val="173E62"/>
                </a:solidFill>
                <a:latin typeface="Arial"/>
                <a:ea typeface="Arial"/>
                <a:cs typeface="Arial"/>
                <a:sym typeface="Arial"/>
              </a:rPr>
              <a:t>Visibility</a:t>
            </a:r>
            <a:endParaRPr b="0" i="0" sz="1250" u="none" cap="none" strike="noStrike">
              <a:solidFill>
                <a:schemeClr val="dk1"/>
              </a:solidFill>
              <a:latin typeface="Arial"/>
              <a:ea typeface="Arial"/>
              <a:cs typeface="Arial"/>
              <a:sym typeface="Arial"/>
            </a:endParaRPr>
          </a:p>
        </p:txBody>
      </p:sp>
      <p:sp>
        <p:nvSpPr>
          <p:cNvPr id="459" name="Google Shape;459;p13"/>
          <p:cNvSpPr/>
          <p:nvPr/>
        </p:nvSpPr>
        <p:spPr>
          <a:xfrm>
            <a:off x="4251960" y="123444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250"/>
              <a:buFont typeface="Arial"/>
              <a:buNone/>
            </a:pPr>
            <a:r>
              <a:rPr b="1" i="0" lang="en-US" sz="1250" u="none" cap="none" strike="noStrike">
                <a:solidFill>
                  <a:srgbClr val="173E62"/>
                </a:solidFill>
                <a:latin typeface="Arial"/>
                <a:ea typeface="Arial"/>
                <a:cs typeface="Arial"/>
                <a:sym typeface="Arial"/>
              </a:rPr>
              <a:t>Typical location</a:t>
            </a:r>
            <a:endParaRPr b="0" i="0" sz="1250" u="none" cap="none" strike="noStrike">
              <a:solidFill>
                <a:schemeClr val="dk1"/>
              </a:solidFill>
              <a:latin typeface="Arial"/>
              <a:ea typeface="Arial"/>
              <a:cs typeface="Arial"/>
              <a:sym typeface="Arial"/>
            </a:endParaRPr>
          </a:p>
        </p:txBody>
      </p:sp>
      <p:sp>
        <p:nvSpPr>
          <p:cNvPr id="460" name="Google Shape;460;p13"/>
          <p:cNvSpPr/>
          <p:nvPr/>
        </p:nvSpPr>
        <p:spPr>
          <a:xfrm>
            <a:off x="6720840" y="1234440"/>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250"/>
              <a:buFont typeface="Arial"/>
              <a:buNone/>
            </a:pPr>
            <a:r>
              <a:rPr b="1" i="0" lang="en-US" sz="1250" u="none" cap="none" strike="noStrike">
                <a:solidFill>
                  <a:srgbClr val="173E62"/>
                </a:solidFill>
                <a:latin typeface="Arial"/>
                <a:ea typeface="Arial"/>
                <a:cs typeface="Arial"/>
                <a:sym typeface="Arial"/>
              </a:rPr>
              <a:t>Access characteristic</a:t>
            </a:r>
            <a:endParaRPr b="0" i="0" sz="1250" u="none" cap="none" strike="noStrike">
              <a:solidFill>
                <a:schemeClr val="dk1"/>
              </a:solidFill>
              <a:latin typeface="Arial"/>
              <a:ea typeface="Arial"/>
              <a:cs typeface="Arial"/>
              <a:sym typeface="Arial"/>
            </a:endParaRPr>
          </a:p>
        </p:txBody>
      </p:sp>
      <p:sp>
        <p:nvSpPr>
          <p:cNvPr id="461" name="Google Shape;461;p13"/>
          <p:cNvSpPr/>
          <p:nvPr/>
        </p:nvSpPr>
        <p:spPr>
          <a:xfrm>
            <a:off x="8961120" y="1234440"/>
            <a:ext cx="2423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250"/>
              <a:buFont typeface="Arial"/>
              <a:buNone/>
            </a:pPr>
            <a:r>
              <a:rPr b="1" i="0" lang="en-US" sz="1250" u="none" cap="none" strike="noStrike">
                <a:solidFill>
                  <a:srgbClr val="173E62"/>
                </a:solidFill>
                <a:latin typeface="Arial"/>
                <a:ea typeface="Arial"/>
                <a:cs typeface="Arial"/>
                <a:sym typeface="Arial"/>
              </a:rPr>
              <a:t>Lifetime</a:t>
            </a:r>
            <a:endParaRPr b="0" i="0" sz="1250" u="none" cap="none" strike="noStrike">
              <a:solidFill>
                <a:schemeClr val="dk1"/>
              </a:solidFill>
              <a:latin typeface="Arial"/>
              <a:ea typeface="Arial"/>
              <a:cs typeface="Arial"/>
              <a:sym typeface="Arial"/>
            </a:endParaRPr>
          </a:p>
        </p:txBody>
      </p:sp>
      <p:sp>
        <p:nvSpPr>
          <p:cNvPr id="462" name="Google Shape;462;p13"/>
          <p:cNvSpPr/>
          <p:nvPr/>
        </p:nvSpPr>
        <p:spPr>
          <a:xfrm>
            <a:off x="530352" y="1554480"/>
            <a:ext cx="10972800" cy="530352"/>
          </a:xfrm>
          <a:prstGeom prst="rect">
            <a:avLst/>
          </a:prstGeom>
          <a:solidFill>
            <a:srgbClr val="FFFFFF"/>
          </a:solidFill>
          <a:ln cap="flat" cmpd="sng" w="9525">
            <a:solidFill>
              <a:srgbClr val="E3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530352" y="1554480"/>
            <a:ext cx="64008" cy="530352"/>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640073" y="1691650"/>
            <a:ext cx="196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070"/>
              <a:buFont typeface="Arial"/>
              <a:buNone/>
            </a:pPr>
            <a:r>
              <a:rPr b="1" i="0" lang="en-US" sz="1070" u="none" cap="none" strike="noStrike">
                <a:solidFill>
                  <a:srgbClr val="173E62"/>
                </a:solidFill>
                <a:latin typeface="Arial"/>
                <a:ea typeface="Arial"/>
                <a:cs typeface="Arial"/>
                <a:sym typeface="Arial"/>
              </a:rPr>
              <a:t>Registers</a:t>
            </a:r>
            <a:endParaRPr b="0" i="0" sz="1070" u="none" cap="none" strike="noStrike">
              <a:solidFill>
                <a:schemeClr val="dk1"/>
              </a:solidFill>
              <a:latin typeface="Arial"/>
              <a:ea typeface="Arial"/>
              <a:cs typeface="Arial"/>
              <a:sym typeface="Arial"/>
            </a:endParaRPr>
          </a:p>
        </p:txBody>
      </p:sp>
      <p:sp>
        <p:nvSpPr>
          <p:cNvPr id="465" name="Google Shape;465;p13"/>
          <p:cNvSpPr/>
          <p:nvPr/>
        </p:nvSpPr>
        <p:spPr>
          <a:xfrm>
            <a:off x="2651760" y="1600200"/>
            <a:ext cx="1508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thread</a:t>
            </a:r>
            <a:endParaRPr b="0" i="0" sz="1070" u="none" cap="none" strike="noStrike">
              <a:solidFill>
                <a:schemeClr val="dk1"/>
              </a:solidFill>
              <a:latin typeface="Arial"/>
              <a:ea typeface="Arial"/>
              <a:cs typeface="Arial"/>
              <a:sym typeface="Arial"/>
            </a:endParaRPr>
          </a:p>
        </p:txBody>
      </p:sp>
      <p:sp>
        <p:nvSpPr>
          <p:cNvPr id="466" name="Google Shape;466;p13"/>
          <p:cNvSpPr/>
          <p:nvPr/>
        </p:nvSpPr>
        <p:spPr>
          <a:xfrm>
            <a:off x="4251960" y="160020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on-chip</a:t>
            </a:r>
            <a:endParaRPr b="0" i="0" sz="1070" u="none" cap="none" strike="noStrike">
              <a:solidFill>
                <a:schemeClr val="dk1"/>
              </a:solidFill>
              <a:latin typeface="Arial"/>
              <a:ea typeface="Arial"/>
              <a:cs typeface="Arial"/>
              <a:sym typeface="Arial"/>
            </a:endParaRPr>
          </a:p>
        </p:txBody>
      </p:sp>
      <p:sp>
        <p:nvSpPr>
          <p:cNvPr id="467" name="Google Shape;467;p13"/>
          <p:cNvSpPr/>
          <p:nvPr/>
        </p:nvSpPr>
        <p:spPr>
          <a:xfrm>
            <a:off x="6720840" y="1600200"/>
            <a:ext cx="2148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very low latency</a:t>
            </a:r>
            <a:endParaRPr b="0" i="0" sz="1070" u="none" cap="none" strike="noStrike">
              <a:solidFill>
                <a:schemeClr val="dk1"/>
              </a:solidFill>
              <a:latin typeface="Arial"/>
              <a:ea typeface="Arial"/>
              <a:cs typeface="Arial"/>
              <a:sym typeface="Arial"/>
            </a:endParaRPr>
          </a:p>
        </p:txBody>
      </p:sp>
      <p:sp>
        <p:nvSpPr>
          <p:cNvPr id="468" name="Google Shape;468;p13"/>
          <p:cNvSpPr/>
          <p:nvPr/>
        </p:nvSpPr>
        <p:spPr>
          <a:xfrm>
            <a:off x="8961120" y="1600200"/>
            <a:ext cx="2423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thread</a:t>
            </a:r>
            <a:endParaRPr b="0" i="0" sz="1070" u="none" cap="none" strike="noStrike">
              <a:solidFill>
                <a:schemeClr val="dk1"/>
              </a:solidFill>
              <a:latin typeface="Arial"/>
              <a:ea typeface="Arial"/>
              <a:cs typeface="Arial"/>
              <a:sym typeface="Arial"/>
            </a:endParaRPr>
          </a:p>
        </p:txBody>
      </p:sp>
      <p:sp>
        <p:nvSpPr>
          <p:cNvPr id="469" name="Google Shape;469;p13"/>
          <p:cNvSpPr/>
          <p:nvPr/>
        </p:nvSpPr>
        <p:spPr>
          <a:xfrm>
            <a:off x="530352" y="2212848"/>
            <a:ext cx="10972800" cy="530352"/>
          </a:xfrm>
          <a:prstGeom prst="rect">
            <a:avLst/>
          </a:prstGeom>
          <a:solidFill>
            <a:srgbClr val="F8FAFC"/>
          </a:solidFill>
          <a:ln cap="flat" cmpd="sng" w="9525">
            <a:solidFill>
              <a:srgbClr val="E3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3"/>
          <p:cNvSpPr/>
          <p:nvPr/>
        </p:nvSpPr>
        <p:spPr>
          <a:xfrm>
            <a:off x="530352" y="2212848"/>
            <a:ext cx="64008" cy="530352"/>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640073" y="2350018"/>
            <a:ext cx="196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070"/>
              <a:buFont typeface="Arial"/>
              <a:buNone/>
            </a:pPr>
            <a:r>
              <a:rPr b="1" i="0" lang="en-US" sz="1070" u="none" cap="none" strike="noStrike">
                <a:solidFill>
                  <a:srgbClr val="173E62"/>
                </a:solidFill>
                <a:latin typeface="Arial"/>
                <a:ea typeface="Arial"/>
                <a:cs typeface="Arial"/>
                <a:sym typeface="Arial"/>
              </a:rPr>
              <a:t>Shared memory</a:t>
            </a:r>
            <a:endParaRPr b="0" i="0" sz="1070" u="none" cap="none" strike="noStrike">
              <a:solidFill>
                <a:schemeClr val="dk1"/>
              </a:solidFill>
              <a:latin typeface="Arial"/>
              <a:ea typeface="Arial"/>
              <a:cs typeface="Arial"/>
              <a:sym typeface="Arial"/>
            </a:endParaRPr>
          </a:p>
        </p:txBody>
      </p:sp>
      <p:sp>
        <p:nvSpPr>
          <p:cNvPr id="472" name="Google Shape;472;p13"/>
          <p:cNvSpPr/>
          <p:nvPr/>
        </p:nvSpPr>
        <p:spPr>
          <a:xfrm>
            <a:off x="2651760" y="2258568"/>
            <a:ext cx="1508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block</a:t>
            </a:r>
            <a:endParaRPr b="0" i="0" sz="1070" u="none" cap="none" strike="noStrike">
              <a:solidFill>
                <a:schemeClr val="dk1"/>
              </a:solidFill>
              <a:latin typeface="Arial"/>
              <a:ea typeface="Arial"/>
              <a:cs typeface="Arial"/>
              <a:sym typeface="Arial"/>
            </a:endParaRPr>
          </a:p>
        </p:txBody>
      </p:sp>
      <p:sp>
        <p:nvSpPr>
          <p:cNvPr id="473" name="Google Shape;473;p13"/>
          <p:cNvSpPr/>
          <p:nvPr/>
        </p:nvSpPr>
        <p:spPr>
          <a:xfrm>
            <a:off x="4251960" y="2258568"/>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on-chip</a:t>
            </a:r>
            <a:endParaRPr b="0" i="0" sz="1070" u="none" cap="none" strike="noStrike">
              <a:solidFill>
                <a:schemeClr val="dk1"/>
              </a:solidFill>
              <a:latin typeface="Arial"/>
              <a:ea typeface="Arial"/>
              <a:cs typeface="Arial"/>
              <a:sym typeface="Arial"/>
            </a:endParaRPr>
          </a:p>
        </p:txBody>
      </p:sp>
      <p:sp>
        <p:nvSpPr>
          <p:cNvPr id="474" name="Google Shape;474;p13"/>
          <p:cNvSpPr/>
          <p:nvPr/>
        </p:nvSpPr>
        <p:spPr>
          <a:xfrm>
            <a:off x="6720840" y="2258568"/>
            <a:ext cx="2148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low latency</a:t>
            </a:r>
            <a:endParaRPr b="0" i="0" sz="1070" u="none" cap="none" strike="noStrike">
              <a:solidFill>
                <a:schemeClr val="dk1"/>
              </a:solidFill>
              <a:latin typeface="Arial"/>
              <a:ea typeface="Arial"/>
              <a:cs typeface="Arial"/>
              <a:sym typeface="Arial"/>
            </a:endParaRPr>
          </a:p>
        </p:txBody>
      </p:sp>
      <p:sp>
        <p:nvSpPr>
          <p:cNvPr id="475" name="Google Shape;475;p13"/>
          <p:cNvSpPr/>
          <p:nvPr/>
        </p:nvSpPr>
        <p:spPr>
          <a:xfrm>
            <a:off x="8961120" y="2258568"/>
            <a:ext cx="2423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block</a:t>
            </a:r>
            <a:endParaRPr b="0" i="0" sz="1070" u="none" cap="none" strike="noStrike">
              <a:solidFill>
                <a:schemeClr val="dk1"/>
              </a:solidFill>
              <a:latin typeface="Arial"/>
              <a:ea typeface="Arial"/>
              <a:cs typeface="Arial"/>
              <a:sym typeface="Arial"/>
            </a:endParaRPr>
          </a:p>
        </p:txBody>
      </p:sp>
      <p:sp>
        <p:nvSpPr>
          <p:cNvPr id="476" name="Google Shape;476;p13"/>
          <p:cNvSpPr/>
          <p:nvPr/>
        </p:nvSpPr>
        <p:spPr>
          <a:xfrm>
            <a:off x="530352" y="2871216"/>
            <a:ext cx="10972800" cy="530352"/>
          </a:xfrm>
          <a:prstGeom prst="rect">
            <a:avLst/>
          </a:prstGeom>
          <a:solidFill>
            <a:srgbClr val="FFFFFF"/>
          </a:solidFill>
          <a:ln cap="flat" cmpd="sng" w="9525">
            <a:solidFill>
              <a:srgbClr val="E3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530352" y="2871216"/>
            <a:ext cx="64008" cy="530352"/>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640073" y="3008386"/>
            <a:ext cx="196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070"/>
              <a:buFont typeface="Arial"/>
              <a:buNone/>
            </a:pPr>
            <a:r>
              <a:rPr b="1" i="0" lang="en-US" sz="1070" u="none" cap="none" strike="noStrike">
                <a:solidFill>
                  <a:srgbClr val="173E62"/>
                </a:solidFill>
                <a:latin typeface="Arial"/>
                <a:ea typeface="Arial"/>
                <a:cs typeface="Arial"/>
                <a:sym typeface="Arial"/>
              </a:rPr>
              <a:t>Constant memory</a:t>
            </a:r>
            <a:endParaRPr b="0" i="0" sz="1070" u="none" cap="none" strike="noStrike">
              <a:solidFill>
                <a:schemeClr val="dk1"/>
              </a:solidFill>
              <a:latin typeface="Arial"/>
              <a:ea typeface="Arial"/>
              <a:cs typeface="Arial"/>
              <a:sym typeface="Arial"/>
            </a:endParaRPr>
          </a:p>
        </p:txBody>
      </p:sp>
      <p:sp>
        <p:nvSpPr>
          <p:cNvPr id="479" name="Google Shape;479;p13"/>
          <p:cNvSpPr/>
          <p:nvPr/>
        </p:nvSpPr>
        <p:spPr>
          <a:xfrm>
            <a:off x="2651760" y="2916936"/>
            <a:ext cx="1508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all threads</a:t>
            </a:r>
            <a:endParaRPr b="0" i="0" sz="1070" u="none" cap="none" strike="noStrike">
              <a:solidFill>
                <a:schemeClr val="dk1"/>
              </a:solidFill>
              <a:latin typeface="Arial"/>
              <a:ea typeface="Arial"/>
              <a:cs typeface="Arial"/>
              <a:sym typeface="Arial"/>
            </a:endParaRPr>
          </a:p>
        </p:txBody>
      </p:sp>
      <p:sp>
        <p:nvSpPr>
          <p:cNvPr id="480" name="Google Shape;480;p13"/>
          <p:cNvSpPr/>
          <p:nvPr/>
        </p:nvSpPr>
        <p:spPr>
          <a:xfrm>
            <a:off x="4251960" y="2916936"/>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device memory + cache</a:t>
            </a:r>
            <a:endParaRPr b="0" i="0" sz="1070" u="none" cap="none" strike="noStrike">
              <a:solidFill>
                <a:schemeClr val="dk1"/>
              </a:solidFill>
              <a:latin typeface="Arial"/>
              <a:ea typeface="Arial"/>
              <a:cs typeface="Arial"/>
              <a:sym typeface="Arial"/>
            </a:endParaRPr>
          </a:p>
        </p:txBody>
      </p:sp>
      <p:sp>
        <p:nvSpPr>
          <p:cNvPr id="481" name="Google Shape;481;p13"/>
          <p:cNvSpPr/>
          <p:nvPr/>
        </p:nvSpPr>
        <p:spPr>
          <a:xfrm>
            <a:off x="6720840" y="2916936"/>
            <a:ext cx="2148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read-only / cached</a:t>
            </a:r>
            <a:endParaRPr b="0" i="0" sz="1070" u="none" cap="none" strike="noStrike">
              <a:solidFill>
                <a:schemeClr val="dk1"/>
              </a:solidFill>
              <a:latin typeface="Arial"/>
              <a:ea typeface="Arial"/>
              <a:cs typeface="Arial"/>
              <a:sym typeface="Arial"/>
            </a:endParaRPr>
          </a:p>
        </p:txBody>
      </p:sp>
      <p:sp>
        <p:nvSpPr>
          <p:cNvPr id="482" name="Google Shape;482;p13"/>
          <p:cNvSpPr/>
          <p:nvPr/>
        </p:nvSpPr>
        <p:spPr>
          <a:xfrm>
            <a:off x="8961120" y="2916936"/>
            <a:ext cx="2423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allocation</a:t>
            </a:r>
            <a:endParaRPr b="0" i="0" sz="1070" u="none" cap="none" strike="noStrike">
              <a:solidFill>
                <a:schemeClr val="dk1"/>
              </a:solidFill>
              <a:latin typeface="Arial"/>
              <a:ea typeface="Arial"/>
              <a:cs typeface="Arial"/>
              <a:sym typeface="Arial"/>
            </a:endParaRPr>
          </a:p>
        </p:txBody>
      </p:sp>
      <p:sp>
        <p:nvSpPr>
          <p:cNvPr id="483" name="Google Shape;483;p13"/>
          <p:cNvSpPr/>
          <p:nvPr/>
        </p:nvSpPr>
        <p:spPr>
          <a:xfrm>
            <a:off x="530352" y="3529584"/>
            <a:ext cx="10972800" cy="530352"/>
          </a:xfrm>
          <a:prstGeom prst="rect">
            <a:avLst/>
          </a:prstGeom>
          <a:solidFill>
            <a:srgbClr val="F8FAFC"/>
          </a:solidFill>
          <a:ln cap="flat" cmpd="sng" w="9525">
            <a:solidFill>
              <a:srgbClr val="E3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3"/>
          <p:cNvSpPr/>
          <p:nvPr/>
        </p:nvSpPr>
        <p:spPr>
          <a:xfrm>
            <a:off x="530352" y="3529584"/>
            <a:ext cx="64008" cy="530352"/>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
          <p:cNvSpPr/>
          <p:nvPr/>
        </p:nvSpPr>
        <p:spPr>
          <a:xfrm>
            <a:off x="640073" y="3666754"/>
            <a:ext cx="196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070"/>
              <a:buFont typeface="Arial"/>
              <a:buNone/>
            </a:pPr>
            <a:r>
              <a:rPr b="1" i="0" lang="en-US" sz="1070" u="none" cap="none" strike="noStrike">
                <a:solidFill>
                  <a:srgbClr val="173E62"/>
                </a:solidFill>
                <a:latin typeface="Arial"/>
                <a:ea typeface="Arial"/>
                <a:cs typeface="Arial"/>
                <a:sym typeface="Arial"/>
              </a:rPr>
              <a:t>Global memory</a:t>
            </a:r>
            <a:endParaRPr b="0" i="0" sz="1070" u="none" cap="none" strike="noStrike">
              <a:solidFill>
                <a:schemeClr val="dk1"/>
              </a:solidFill>
              <a:latin typeface="Arial"/>
              <a:ea typeface="Arial"/>
              <a:cs typeface="Arial"/>
              <a:sym typeface="Arial"/>
            </a:endParaRPr>
          </a:p>
        </p:txBody>
      </p:sp>
      <p:sp>
        <p:nvSpPr>
          <p:cNvPr id="486" name="Google Shape;486;p13"/>
          <p:cNvSpPr/>
          <p:nvPr/>
        </p:nvSpPr>
        <p:spPr>
          <a:xfrm>
            <a:off x="2507048" y="3675892"/>
            <a:ext cx="1508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all threads on GPU + host APIs</a:t>
            </a:r>
            <a:endParaRPr b="0" i="0" sz="1070" u="none" cap="none" strike="noStrike">
              <a:solidFill>
                <a:schemeClr val="dk1"/>
              </a:solidFill>
              <a:latin typeface="Arial"/>
              <a:ea typeface="Arial"/>
              <a:cs typeface="Arial"/>
              <a:sym typeface="Arial"/>
            </a:endParaRPr>
          </a:p>
        </p:txBody>
      </p:sp>
      <p:sp>
        <p:nvSpPr>
          <p:cNvPr id="487" name="Google Shape;487;p13"/>
          <p:cNvSpPr/>
          <p:nvPr/>
        </p:nvSpPr>
        <p:spPr>
          <a:xfrm>
            <a:off x="4251960" y="3575304"/>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device DRAM</a:t>
            </a:r>
            <a:endParaRPr b="0" i="0" sz="1070" u="none" cap="none" strike="noStrike">
              <a:solidFill>
                <a:schemeClr val="dk1"/>
              </a:solidFill>
              <a:latin typeface="Arial"/>
              <a:ea typeface="Arial"/>
              <a:cs typeface="Arial"/>
              <a:sym typeface="Arial"/>
            </a:endParaRPr>
          </a:p>
        </p:txBody>
      </p:sp>
      <p:sp>
        <p:nvSpPr>
          <p:cNvPr id="488" name="Google Shape;488;p13"/>
          <p:cNvSpPr/>
          <p:nvPr/>
        </p:nvSpPr>
        <p:spPr>
          <a:xfrm>
            <a:off x="6720840" y="3575304"/>
            <a:ext cx="2148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high latency</a:t>
            </a:r>
            <a:endParaRPr b="0" i="0" sz="1070" u="none" cap="none" strike="noStrike">
              <a:solidFill>
                <a:schemeClr val="dk1"/>
              </a:solidFill>
              <a:latin typeface="Arial"/>
              <a:ea typeface="Arial"/>
              <a:cs typeface="Arial"/>
              <a:sym typeface="Arial"/>
            </a:endParaRPr>
          </a:p>
        </p:txBody>
      </p:sp>
      <p:sp>
        <p:nvSpPr>
          <p:cNvPr id="489" name="Google Shape;489;p13"/>
          <p:cNvSpPr/>
          <p:nvPr/>
        </p:nvSpPr>
        <p:spPr>
          <a:xfrm>
            <a:off x="8961120" y="3575304"/>
            <a:ext cx="2423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allocation</a:t>
            </a:r>
            <a:endParaRPr b="0" i="0" sz="1070" u="none" cap="none" strike="noStrike">
              <a:solidFill>
                <a:schemeClr val="dk1"/>
              </a:solidFill>
              <a:latin typeface="Arial"/>
              <a:ea typeface="Arial"/>
              <a:cs typeface="Arial"/>
              <a:sym typeface="Arial"/>
            </a:endParaRPr>
          </a:p>
        </p:txBody>
      </p:sp>
      <p:sp>
        <p:nvSpPr>
          <p:cNvPr id="490" name="Google Shape;490;p13"/>
          <p:cNvSpPr/>
          <p:nvPr/>
        </p:nvSpPr>
        <p:spPr>
          <a:xfrm>
            <a:off x="530352" y="4187952"/>
            <a:ext cx="10972800" cy="530400"/>
          </a:xfrm>
          <a:prstGeom prst="rect">
            <a:avLst/>
          </a:prstGeom>
          <a:solidFill>
            <a:srgbClr val="FFFFFF"/>
          </a:solidFill>
          <a:ln cap="flat" cmpd="sng" w="9525">
            <a:solidFill>
              <a:srgbClr val="E3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
          <p:cNvSpPr/>
          <p:nvPr/>
        </p:nvSpPr>
        <p:spPr>
          <a:xfrm>
            <a:off x="530352" y="4187952"/>
            <a:ext cx="64008" cy="530352"/>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p:nvPr/>
        </p:nvSpPr>
        <p:spPr>
          <a:xfrm>
            <a:off x="640073" y="4325122"/>
            <a:ext cx="196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070"/>
              <a:buFont typeface="Arial"/>
              <a:buNone/>
            </a:pPr>
            <a:r>
              <a:rPr b="1" i="0" lang="en-US" sz="1070" u="none" cap="none" strike="noStrike">
                <a:solidFill>
                  <a:srgbClr val="173E62"/>
                </a:solidFill>
                <a:latin typeface="Arial"/>
                <a:ea typeface="Arial"/>
                <a:cs typeface="Arial"/>
                <a:sym typeface="Arial"/>
              </a:rPr>
              <a:t>Local memory</a:t>
            </a:r>
            <a:endParaRPr b="0" i="0" sz="1070" u="none" cap="none" strike="noStrike">
              <a:solidFill>
                <a:schemeClr val="dk1"/>
              </a:solidFill>
              <a:latin typeface="Arial"/>
              <a:ea typeface="Arial"/>
              <a:cs typeface="Arial"/>
              <a:sym typeface="Arial"/>
            </a:endParaRPr>
          </a:p>
        </p:txBody>
      </p:sp>
      <p:sp>
        <p:nvSpPr>
          <p:cNvPr id="493" name="Google Shape;493;p13"/>
          <p:cNvSpPr/>
          <p:nvPr/>
        </p:nvSpPr>
        <p:spPr>
          <a:xfrm>
            <a:off x="2507085" y="4334247"/>
            <a:ext cx="1508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thread-private address space</a:t>
            </a:r>
            <a:endParaRPr b="0" i="0" sz="1070" u="none" cap="none" strike="noStrike">
              <a:solidFill>
                <a:schemeClr val="dk1"/>
              </a:solidFill>
              <a:latin typeface="Arial"/>
              <a:ea typeface="Arial"/>
              <a:cs typeface="Arial"/>
              <a:sym typeface="Arial"/>
            </a:endParaRPr>
          </a:p>
        </p:txBody>
      </p:sp>
      <p:sp>
        <p:nvSpPr>
          <p:cNvPr id="494" name="Google Shape;494;p13"/>
          <p:cNvSpPr/>
          <p:nvPr/>
        </p:nvSpPr>
        <p:spPr>
          <a:xfrm>
            <a:off x="4251960" y="4233672"/>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device memory + cache</a:t>
            </a:r>
            <a:endParaRPr b="0" i="0" sz="1070" u="none" cap="none" strike="noStrike">
              <a:solidFill>
                <a:schemeClr val="dk1"/>
              </a:solidFill>
              <a:latin typeface="Arial"/>
              <a:ea typeface="Arial"/>
              <a:cs typeface="Arial"/>
              <a:sym typeface="Arial"/>
            </a:endParaRPr>
          </a:p>
        </p:txBody>
      </p:sp>
      <p:sp>
        <p:nvSpPr>
          <p:cNvPr id="495" name="Google Shape;495;p13"/>
          <p:cNvSpPr/>
          <p:nvPr/>
        </p:nvSpPr>
        <p:spPr>
          <a:xfrm>
            <a:off x="6720840" y="4233672"/>
            <a:ext cx="2148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high latency if accessed</a:t>
            </a:r>
            <a:endParaRPr b="0" i="0" sz="1070" u="none" cap="none" strike="noStrike">
              <a:solidFill>
                <a:schemeClr val="dk1"/>
              </a:solidFill>
              <a:latin typeface="Arial"/>
              <a:ea typeface="Arial"/>
              <a:cs typeface="Arial"/>
              <a:sym typeface="Arial"/>
            </a:endParaRPr>
          </a:p>
        </p:txBody>
      </p:sp>
      <p:sp>
        <p:nvSpPr>
          <p:cNvPr id="496" name="Google Shape;496;p13"/>
          <p:cNvSpPr/>
          <p:nvPr/>
        </p:nvSpPr>
        <p:spPr>
          <a:xfrm>
            <a:off x="8961120" y="4233672"/>
            <a:ext cx="2423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thread</a:t>
            </a:r>
            <a:endParaRPr b="0" i="0" sz="1070" u="none" cap="none" strike="noStrike">
              <a:solidFill>
                <a:schemeClr val="dk1"/>
              </a:solidFill>
              <a:latin typeface="Arial"/>
              <a:ea typeface="Arial"/>
              <a:cs typeface="Arial"/>
              <a:sym typeface="Arial"/>
            </a:endParaRPr>
          </a:p>
        </p:txBody>
      </p:sp>
      <p:sp>
        <p:nvSpPr>
          <p:cNvPr id="497" name="Google Shape;497;p13"/>
          <p:cNvSpPr/>
          <p:nvPr/>
        </p:nvSpPr>
        <p:spPr>
          <a:xfrm>
            <a:off x="530352" y="4846320"/>
            <a:ext cx="10972800" cy="530352"/>
          </a:xfrm>
          <a:prstGeom prst="rect">
            <a:avLst/>
          </a:prstGeom>
          <a:solidFill>
            <a:srgbClr val="F8FAFC"/>
          </a:solidFill>
          <a:ln cap="flat" cmpd="sng" w="9525">
            <a:solidFill>
              <a:srgbClr val="E3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3"/>
          <p:cNvSpPr/>
          <p:nvPr/>
        </p:nvSpPr>
        <p:spPr>
          <a:xfrm>
            <a:off x="530352" y="4846320"/>
            <a:ext cx="64008" cy="530352"/>
          </a:xfrm>
          <a:prstGeom prst="rect">
            <a:avLst/>
          </a:prstGeom>
          <a:solidFill>
            <a:srgbClr val="173E62"/>
          </a:solidFill>
          <a:ln cap="flat" cmpd="sng" w="12700">
            <a:solidFill>
              <a:srgbClr val="173E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3"/>
          <p:cNvSpPr/>
          <p:nvPr/>
        </p:nvSpPr>
        <p:spPr>
          <a:xfrm>
            <a:off x="640073" y="4983490"/>
            <a:ext cx="196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070"/>
              <a:buFont typeface="Arial"/>
              <a:buNone/>
            </a:pPr>
            <a:r>
              <a:rPr b="1" i="0" lang="en-US" sz="1070" u="none" cap="none" strike="noStrike">
                <a:solidFill>
                  <a:srgbClr val="173E62"/>
                </a:solidFill>
                <a:latin typeface="Arial"/>
                <a:ea typeface="Arial"/>
                <a:cs typeface="Arial"/>
                <a:sym typeface="Arial"/>
              </a:rPr>
              <a:t>Host memory</a:t>
            </a:r>
            <a:endParaRPr b="0" i="0" sz="1070" u="none" cap="none" strike="noStrike">
              <a:solidFill>
                <a:schemeClr val="dk1"/>
              </a:solidFill>
              <a:latin typeface="Arial"/>
              <a:ea typeface="Arial"/>
              <a:cs typeface="Arial"/>
              <a:sym typeface="Arial"/>
            </a:endParaRPr>
          </a:p>
        </p:txBody>
      </p:sp>
      <p:sp>
        <p:nvSpPr>
          <p:cNvPr id="500" name="Google Shape;500;p13"/>
          <p:cNvSpPr/>
          <p:nvPr/>
        </p:nvSpPr>
        <p:spPr>
          <a:xfrm>
            <a:off x="2651735" y="4997203"/>
            <a:ext cx="1508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CPU / host</a:t>
            </a:r>
            <a:endParaRPr b="0" i="0" sz="1070" u="none" cap="none" strike="noStrike">
              <a:solidFill>
                <a:schemeClr val="dk1"/>
              </a:solidFill>
              <a:latin typeface="Arial"/>
              <a:ea typeface="Arial"/>
              <a:cs typeface="Arial"/>
              <a:sym typeface="Arial"/>
            </a:endParaRPr>
          </a:p>
        </p:txBody>
      </p:sp>
      <p:sp>
        <p:nvSpPr>
          <p:cNvPr id="501" name="Google Shape;501;p13"/>
          <p:cNvSpPr/>
          <p:nvPr/>
        </p:nvSpPr>
        <p:spPr>
          <a:xfrm>
            <a:off x="4251960" y="489204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system DRAM</a:t>
            </a:r>
            <a:endParaRPr b="0" i="0" sz="1070" u="none" cap="none" strike="noStrike">
              <a:solidFill>
                <a:schemeClr val="dk1"/>
              </a:solidFill>
              <a:latin typeface="Arial"/>
              <a:ea typeface="Arial"/>
              <a:cs typeface="Arial"/>
              <a:sym typeface="Arial"/>
            </a:endParaRPr>
          </a:p>
        </p:txBody>
      </p:sp>
      <p:sp>
        <p:nvSpPr>
          <p:cNvPr id="502" name="Google Shape;502;p13"/>
          <p:cNvSpPr/>
          <p:nvPr/>
        </p:nvSpPr>
        <p:spPr>
          <a:xfrm>
            <a:off x="6720840" y="4892040"/>
            <a:ext cx="2148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host-side</a:t>
            </a:r>
            <a:endParaRPr b="0" i="0" sz="1070" u="none" cap="none" strike="noStrike">
              <a:solidFill>
                <a:schemeClr val="dk1"/>
              </a:solidFill>
              <a:latin typeface="Arial"/>
              <a:ea typeface="Arial"/>
              <a:cs typeface="Arial"/>
              <a:sym typeface="Arial"/>
            </a:endParaRPr>
          </a:p>
        </p:txBody>
      </p:sp>
      <p:sp>
        <p:nvSpPr>
          <p:cNvPr id="503" name="Google Shape;503;p13"/>
          <p:cNvSpPr/>
          <p:nvPr/>
        </p:nvSpPr>
        <p:spPr>
          <a:xfrm>
            <a:off x="8961120" y="4892040"/>
            <a:ext cx="2423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070"/>
              <a:buFont typeface="Arial"/>
              <a:buNone/>
            </a:pPr>
            <a:r>
              <a:rPr b="0" i="0" lang="en-US" sz="1070" u="none" cap="none" strike="noStrike">
                <a:solidFill>
                  <a:srgbClr val="26384C"/>
                </a:solidFill>
                <a:latin typeface="Arial"/>
                <a:ea typeface="Arial"/>
                <a:cs typeface="Arial"/>
                <a:sym typeface="Arial"/>
              </a:rPr>
              <a:t>host allocation</a:t>
            </a:r>
            <a:endParaRPr b="0" i="0" sz="1070" u="none" cap="none" strike="noStrike">
              <a:solidFill>
                <a:schemeClr val="dk1"/>
              </a:solidFill>
              <a:latin typeface="Arial"/>
              <a:ea typeface="Arial"/>
              <a:cs typeface="Arial"/>
              <a:sym typeface="Arial"/>
            </a:endParaRPr>
          </a:p>
        </p:txBody>
      </p:sp>
      <p:sp>
        <p:nvSpPr>
          <p:cNvPr id="504" name="Google Shape;504;p13"/>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505" name="Google Shape;505;p13"/>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4"/>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Host Memory vs. Device Global Memory</a:t>
            </a:r>
            <a:endParaRPr b="0" i="0" sz="2500" u="none" cap="none" strike="noStrike">
              <a:solidFill>
                <a:schemeClr val="dk1"/>
              </a:solidFill>
              <a:latin typeface="Arial"/>
              <a:ea typeface="Arial"/>
              <a:cs typeface="Arial"/>
              <a:sym typeface="Arial"/>
            </a:endParaRPr>
          </a:p>
        </p:txBody>
      </p:sp>
      <p:sp>
        <p:nvSpPr>
          <p:cNvPr id="512" name="Google Shape;512;p14"/>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Discrete GPUs typically have separate CPU system memory and GPU device memory.</a:t>
            </a:r>
            <a:endParaRPr b="0" i="0" sz="1150" u="none" cap="none" strike="noStrike">
              <a:solidFill>
                <a:schemeClr val="dk1"/>
              </a:solidFill>
              <a:latin typeface="Arial"/>
              <a:ea typeface="Arial"/>
              <a:cs typeface="Arial"/>
              <a:sym typeface="Arial"/>
            </a:endParaRPr>
          </a:p>
        </p:txBody>
      </p:sp>
      <p:sp>
        <p:nvSpPr>
          <p:cNvPr id="513" name="Google Shape;513;p14"/>
          <p:cNvSpPr/>
          <p:nvPr/>
        </p:nvSpPr>
        <p:spPr>
          <a:xfrm>
            <a:off x="731520" y="1325880"/>
            <a:ext cx="3977640" cy="3200400"/>
          </a:xfrm>
          <a:prstGeom prst="roundRect">
            <a:avLst>
              <a:gd fmla="val 2286"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731520" y="1325880"/>
            <a:ext cx="73152" cy="3200400"/>
          </a:xfrm>
          <a:prstGeom prst="rect">
            <a:avLst/>
          </a:prstGeom>
          <a:solidFill>
            <a:srgbClr val="173E62"/>
          </a:solidFill>
          <a:ln cap="flat" cmpd="sng" w="12700">
            <a:solidFill>
              <a:srgbClr val="173E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4"/>
          <p:cNvSpPr/>
          <p:nvPr/>
        </p:nvSpPr>
        <p:spPr>
          <a:xfrm>
            <a:off x="1097280" y="1645920"/>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2000"/>
              <a:buFont typeface="Arial"/>
              <a:buNone/>
            </a:pPr>
            <a:r>
              <a:rPr b="1" i="0" lang="en-US" sz="2000" u="none" cap="none" strike="noStrike">
                <a:solidFill>
                  <a:srgbClr val="173E62"/>
                </a:solidFill>
                <a:latin typeface="Arial"/>
                <a:ea typeface="Arial"/>
                <a:cs typeface="Arial"/>
                <a:sym typeface="Arial"/>
              </a:rPr>
              <a:t>HOST (CPU)</a:t>
            </a:r>
            <a:endParaRPr b="0" i="0" sz="2000" u="none" cap="none" strike="noStrike">
              <a:solidFill>
                <a:schemeClr val="dk1"/>
              </a:solidFill>
              <a:latin typeface="Arial"/>
              <a:ea typeface="Arial"/>
              <a:cs typeface="Arial"/>
              <a:sym typeface="Arial"/>
            </a:endParaRPr>
          </a:p>
        </p:txBody>
      </p:sp>
      <p:sp>
        <p:nvSpPr>
          <p:cNvPr id="516" name="Google Shape;516;p14"/>
          <p:cNvSpPr/>
          <p:nvPr/>
        </p:nvSpPr>
        <p:spPr>
          <a:xfrm>
            <a:off x="1325880" y="2331720"/>
            <a:ext cx="2743200" cy="1097280"/>
          </a:xfrm>
          <a:prstGeom prst="roundRect">
            <a:avLst>
              <a:gd fmla="val 3333"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1645920" y="2606040"/>
            <a:ext cx="21031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500"/>
              <a:buFont typeface="Arial"/>
              <a:buNone/>
            </a:pPr>
            <a:r>
              <a:rPr b="1" i="0" lang="en-US" sz="1500" u="none" cap="none" strike="noStrike">
                <a:solidFill>
                  <a:srgbClr val="26384C"/>
                </a:solidFill>
                <a:latin typeface="Arial"/>
                <a:ea typeface="Arial"/>
                <a:cs typeface="Arial"/>
                <a:sym typeface="Arial"/>
              </a:rPr>
              <a:t>System DRAM</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500"/>
              <a:buFont typeface="Arial"/>
              <a:buNone/>
            </a:pPr>
            <a:r>
              <a:rPr b="1" i="0" lang="en-US" sz="1500" u="none" cap="none" strike="noStrike">
                <a:solidFill>
                  <a:srgbClr val="26384C"/>
                </a:solidFill>
                <a:latin typeface="Arial"/>
                <a:ea typeface="Arial"/>
                <a:cs typeface="Arial"/>
                <a:sym typeface="Arial"/>
              </a:rPr>
              <a:t>A_h, B_h, C_h</a:t>
            </a:r>
            <a:endParaRPr b="0" i="0" sz="1500" u="none" cap="none" strike="noStrike">
              <a:solidFill>
                <a:schemeClr val="dk1"/>
              </a:solidFill>
              <a:latin typeface="Arial"/>
              <a:ea typeface="Arial"/>
              <a:cs typeface="Arial"/>
              <a:sym typeface="Arial"/>
            </a:endParaRPr>
          </a:p>
        </p:txBody>
      </p:sp>
      <p:sp>
        <p:nvSpPr>
          <p:cNvPr id="518" name="Google Shape;518;p14"/>
          <p:cNvSpPr/>
          <p:nvPr/>
        </p:nvSpPr>
        <p:spPr>
          <a:xfrm>
            <a:off x="7452360" y="1325880"/>
            <a:ext cx="3977640" cy="3200400"/>
          </a:xfrm>
          <a:prstGeom prst="roundRect">
            <a:avLst>
              <a:gd fmla="val 2286"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
          <p:cNvSpPr/>
          <p:nvPr/>
        </p:nvSpPr>
        <p:spPr>
          <a:xfrm>
            <a:off x="7452360" y="1325880"/>
            <a:ext cx="73152" cy="320040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4"/>
          <p:cNvSpPr/>
          <p:nvPr/>
        </p:nvSpPr>
        <p:spPr>
          <a:xfrm>
            <a:off x="7818120" y="1645920"/>
            <a:ext cx="3200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2000"/>
              <a:buFont typeface="Arial"/>
              <a:buNone/>
            </a:pPr>
            <a:r>
              <a:rPr b="1" i="0" lang="en-US" sz="2000" u="none" cap="none" strike="noStrike">
                <a:solidFill>
                  <a:srgbClr val="173E62"/>
                </a:solidFill>
                <a:latin typeface="Arial"/>
                <a:ea typeface="Arial"/>
                <a:cs typeface="Arial"/>
                <a:sym typeface="Arial"/>
              </a:rPr>
              <a:t>DEVICE (GPU)</a:t>
            </a:r>
            <a:endParaRPr b="0" i="0" sz="2000" u="none" cap="none" strike="noStrike">
              <a:solidFill>
                <a:schemeClr val="dk1"/>
              </a:solidFill>
              <a:latin typeface="Arial"/>
              <a:ea typeface="Arial"/>
              <a:cs typeface="Arial"/>
              <a:sym typeface="Arial"/>
            </a:endParaRPr>
          </a:p>
        </p:txBody>
      </p:sp>
      <p:sp>
        <p:nvSpPr>
          <p:cNvPr id="521" name="Google Shape;521;p14"/>
          <p:cNvSpPr/>
          <p:nvPr/>
        </p:nvSpPr>
        <p:spPr>
          <a:xfrm>
            <a:off x="8046720" y="2331720"/>
            <a:ext cx="2743200" cy="1097280"/>
          </a:xfrm>
          <a:prstGeom prst="roundRect">
            <a:avLst>
              <a:gd fmla="val 3333"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4"/>
          <p:cNvSpPr/>
          <p:nvPr/>
        </p:nvSpPr>
        <p:spPr>
          <a:xfrm>
            <a:off x="8321040" y="2606040"/>
            <a:ext cx="21945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500"/>
              <a:buFont typeface="Arial"/>
              <a:buNone/>
            </a:pPr>
            <a:r>
              <a:rPr b="1" i="0" lang="en-US" sz="1500" u="none" cap="none" strike="noStrike">
                <a:solidFill>
                  <a:srgbClr val="26384C"/>
                </a:solidFill>
                <a:latin typeface="Arial"/>
                <a:ea typeface="Arial"/>
                <a:cs typeface="Arial"/>
                <a:sym typeface="Arial"/>
              </a:rPr>
              <a:t>Global / device DRAM</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500"/>
              <a:buFont typeface="Arial"/>
              <a:buNone/>
            </a:pPr>
            <a:r>
              <a:rPr b="1" i="0" lang="en-US" sz="1500" u="none" cap="none" strike="noStrike">
                <a:solidFill>
                  <a:srgbClr val="26384C"/>
                </a:solidFill>
                <a:latin typeface="Arial"/>
                <a:ea typeface="Arial"/>
                <a:cs typeface="Arial"/>
                <a:sym typeface="Arial"/>
              </a:rPr>
              <a:t>d_A, d_B, d_C</a:t>
            </a:r>
            <a:endParaRPr b="0" i="0" sz="1500" u="none" cap="none" strike="noStrike">
              <a:solidFill>
                <a:schemeClr val="dk1"/>
              </a:solidFill>
              <a:latin typeface="Arial"/>
              <a:ea typeface="Arial"/>
              <a:cs typeface="Arial"/>
              <a:sym typeface="Arial"/>
            </a:endParaRPr>
          </a:p>
        </p:txBody>
      </p:sp>
      <p:cxnSp>
        <p:nvCxnSpPr>
          <p:cNvPr id="523" name="Google Shape;523;p14"/>
          <p:cNvCxnSpPr/>
          <p:nvPr/>
        </p:nvCxnSpPr>
        <p:spPr>
          <a:xfrm>
            <a:off x="4892040" y="2834640"/>
            <a:ext cx="2377440" cy="0"/>
          </a:xfrm>
          <a:prstGeom prst="straightConnector1">
            <a:avLst/>
          </a:prstGeom>
          <a:noFill/>
          <a:ln cap="flat" cmpd="sng" w="31750">
            <a:solidFill>
              <a:srgbClr val="C27A12"/>
            </a:solidFill>
            <a:prstDash val="solid"/>
            <a:round/>
            <a:headEnd len="sm" w="sm" type="none"/>
            <a:tailEnd len="med" w="med" type="triangle"/>
          </a:ln>
        </p:spPr>
      </p:cxnSp>
      <p:sp>
        <p:nvSpPr>
          <p:cNvPr id="524" name="Google Shape;524;p14"/>
          <p:cNvSpPr/>
          <p:nvPr/>
        </p:nvSpPr>
        <p:spPr>
          <a:xfrm>
            <a:off x="4983480" y="2377440"/>
            <a:ext cx="21488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7A12"/>
              </a:buClr>
              <a:buSzPts val="1250"/>
              <a:buFont typeface="Arial"/>
              <a:buNone/>
            </a:pPr>
            <a:r>
              <a:rPr b="1" i="0" lang="en-US" sz="1250" u="none" cap="none" strike="noStrike">
                <a:solidFill>
                  <a:srgbClr val="C27A12"/>
                </a:solidFill>
                <a:latin typeface="Arial"/>
                <a:ea typeface="Arial"/>
                <a:cs typeface="Arial"/>
                <a:sym typeface="Arial"/>
              </a:rPr>
              <a:t>cudaMemcpy / transfer</a:t>
            </a:r>
            <a:endParaRPr b="0" i="0" sz="1250" u="none" cap="none" strike="noStrike">
              <a:solidFill>
                <a:schemeClr val="dk1"/>
              </a:solidFill>
              <a:latin typeface="Arial"/>
              <a:ea typeface="Arial"/>
              <a:cs typeface="Arial"/>
              <a:sym typeface="Arial"/>
            </a:endParaRPr>
          </a:p>
        </p:txBody>
      </p:sp>
      <p:sp>
        <p:nvSpPr>
          <p:cNvPr id="525" name="Google Shape;525;p14"/>
          <p:cNvSpPr/>
          <p:nvPr/>
        </p:nvSpPr>
        <p:spPr>
          <a:xfrm>
            <a:off x="1097280" y="4892040"/>
            <a:ext cx="9966960" cy="960120"/>
          </a:xfrm>
          <a:prstGeom prst="roundRect">
            <a:avLst>
              <a:gd fmla="val 4762"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4"/>
          <p:cNvSpPr/>
          <p:nvPr/>
        </p:nvSpPr>
        <p:spPr>
          <a:xfrm>
            <a:off x="1298448" y="5038344"/>
            <a:ext cx="9564624" cy="6675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cudaMalloc(&amp;d_A, bytes);</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cudaMemcpy(d_A, h_A, bytes, cudaMemcpyHostToDevice);</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50"/>
              <a:buFont typeface="Arial"/>
              <a:buNone/>
            </a:pPr>
            <a:r>
              <a:t/>
            </a:r>
            <a:endParaRPr b="0" i="0" sz="12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250"/>
              <a:buFont typeface="Courier New"/>
              <a:buNone/>
            </a:pPr>
            <a:r>
              <a:rPr b="0" i="0" lang="en-US" sz="1250" u="none" cap="none" strike="noStrike">
                <a:solidFill>
                  <a:srgbClr val="F3F6FA"/>
                </a:solidFill>
                <a:latin typeface="Courier New"/>
                <a:ea typeface="Courier New"/>
                <a:cs typeface="Courier New"/>
                <a:sym typeface="Courier New"/>
              </a:rPr>
              <a:t>kernel&lt;&lt;&lt;grid, block&gt;&gt;&gt;(d_A, ...);</a:t>
            </a:r>
            <a:endParaRPr b="0" i="0" sz="1250" u="none" cap="none" strike="noStrike">
              <a:solidFill>
                <a:schemeClr val="dk1"/>
              </a:solidFill>
              <a:latin typeface="Arial"/>
              <a:ea typeface="Arial"/>
              <a:cs typeface="Arial"/>
              <a:sym typeface="Arial"/>
            </a:endParaRPr>
          </a:p>
        </p:txBody>
      </p:sp>
      <p:sp>
        <p:nvSpPr>
          <p:cNvPr id="527" name="Google Shape;527;p14"/>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528" name="Google Shape;528;p14"/>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5"/>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Global Memory: Large but Expensive — Access Pattern Matters</a:t>
            </a:r>
            <a:endParaRPr b="0" i="0" sz="2500" u="none" cap="none" strike="noStrike">
              <a:solidFill>
                <a:schemeClr val="dk1"/>
              </a:solidFill>
              <a:latin typeface="Arial"/>
              <a:ea typeface="Arial"/>
              <a:cs typeface="Arial"/>
              <a:sym typeface="Arial"/>
            </a:endParaRPr>
          </a:p>
        </p:txBody>
      </p:sp>
      <p:sp>
        <p:nvSpPr>
          <p:cNvPr id="535" name="Google Shape;535;p15"/>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Threads in a warp should ideally access nearby addresses so requests can be coalesced into fewer memory transactions.</a:t>
            </a:r>
            <a:endParaRPr b="0" i="0" sz="1150" u="none" cap="none" strike="noStrike">
              <a:solidFill>
                <a:schemeClr val="dk1"/>
              </a:solidFill>
              <a:latin typeface="Arial"/>
              <a:ea typeface="Arial"/>
              <a:cs typeface="Arial"/>
              <a:sym typeface="Arial"/>
            </a:endParaRPr>
          </a:p>
        </p:txBody>
      </p:sp>
      <p:sp>
        <p:nvSpPr>
          <p:cNvPr id="536" name="Google Shape;536;p15"/>
          <p:cNvSpPr/>
          <p:nvPr/>
        </p:nvSpPr>
        <p:spPr>
          <a:xfrm>
            <a:off x="685800" y="123444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C300"/>
              </a:buClr>
              <a:buSzPts val="1400"/>
              <a:buFont typeface="Arial"/>
              <a:buNone/>
            </a:pPr>
            <a:r>
              <a:rPr b="1" i="0" lang="en-US" sz="1400" u="none" cap="none" strike="noStrike">
                <a:solidFill>
                  <a:srgbClr val="67C300"/>
                </a:solidFill>
                <a:latin typeface="Arial"/>
                <a:ea typeface="Arial"/>
                <a:cs typeface="Arial"/>
                <a:sym typeface="Arial"/>
              </a:rPr>
              <a:t>Coalesced pattern</a:t>
            </a:r>
            <a:endParaRPr b="0" i="0" sz="1400" u="none" cap="none" strike="noStrike">
              <a:solidFill>
                <a:schemeClr val="dk1"/>
              </a:solidFill>
              <a:latin typeface="Arial"/>
              <a:ea typeface="Arial"/>
              <a:cs typeface="Arial"/>
              <a:sym typeface="Arial"/>
            </a:endParaRPr>
          </a:p>
        </p:txBody>
      </p:sp>
      <p:sp>
        <p:nvSpPr>
          <p:cNvPr id="537" name="Google Shape;537;p15"/>
          <p:cNvSpPr/>
          <p:nvPr/>
        </p:nvSpPr>
        <p:spPr>
          <a:xfrm>
            <a:off x="731520"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5"/>
          <p:cNvSpPr/>
          <p:nvPr/>
        </p:nvSpPr>
        <p:spPr>
          <a:xfrm>
            <a:off x="731520"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T0</a:t>
            </a:r>
            <a:endParaRPr b="0" i="0" sz="850" u="none" cap="none" strike="noStrike">
              <a:solidFill>
                <a:schemeClr val="dk1"/>
              </a:solidFill>
              <a:latin typeface="Arial"/>
              <a:ea typeface="Arial"/>
              <a:cs typeface="Arial"/>
              <a:sym typeface="Arial"/>
            </a:endParaRPr>
          </a:p>
        </p:txBody>
      </p:sp>
      <p:sp>
        <p:nvSpPr>
          <p:cNvPr id="539" name="Google Shape;539;p15"/>
          <p:cNvSpPr/>
          <p:nvPr/>
        </p:nvSpPr>
        <p:spPr>
          <a:xfrm>
            <a:off x="731520"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5"/>
          <p:cNvSpPr/>
          <p:nvPr/>
        </p:nvSpPr>
        <p:spPr>
          <a:xfrm>
            <a:off x="731520"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A[0]</a:t>
            </a:r>
            <a:endParaRPr b="0" i="0" sz="800" u="none" cap="none" strike="noStrike">
              <a:solidFill>
                <a:schemeClr val="dk1"/>
              </a:solidFill>
              <a:latin typeface="Arial"/>
              <a:ea typeface="Arial"/>
              <a:cs typeface="Arial"/>
              <a:sym typeface="Arial"/>
            </a:endParaRPr>
          </a:p>
        </p:txBody>
      </p:sp>
      <p:cxnSp>
        <p:nvCxnSpPr>
          <p:cNvPr id="541" name="Google Shape;541;p15"/>
          <p:cNvCxnSpPr/>
          <p:nvPr/>
        </p:nvCxnSpPr>
        <p:spPr>
          <a:xfrm>
            <a:off x="987552"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42" name="Google Shape;542;p15"/>
          <p:cNvSpPr/>
          <p:nvPr/>
        </p:nvSpPr>
        <p:spPr>
          <a:xfrm>
            <a:off x="1344168"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5"/>
          <p:cNvSpPr/>
          <p:nvPr/>
        </p:nvSpPr>
        <p:spPr>
          <a:xfrm>
            <a:off x="1344168"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T1</a:t>
            </a:r>
            <a:endParaRPr b="0" i="0" sz="850" u="none" cap="none" strike="noStrike">
              <a:solidFill>
                <a:schemeClr val="dk1"/>
              </a:solidFill>
              <a:latin typeface="Arial"/>
              <a:ea typeface="Arial"/>
              <a:cs typeface="Arial"/>
              <a:sym typeface="Arial"/>
            </a:endParaRPr>
          </a:p>
        </p:txBody>
      </p:sp>
      <p:sp>
        <p:nvSpPr>
          <p:cNvPr id="544" name="Google Shape;544;p15"/>
          <p:cNvSpPr/>
          <p:nvPr/>
        </p:nvSpPr>
        <p:spPr>
          <a:xfrm>
            <a:off x="1344168"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5"/>
          <p:cNvSpPr/>
          <p:nvPr/>
        </p:nvSpPr>
        <p:spPr>
          <a:xfrm>
            <a:off x="1344168"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A[1]</a:t>
            </a:r>
            <a:endParaRPr b="0" i="0" sz="800" u="none" cap="none" strike="noStrike">
              <a:solidFill>
                <a:schemeClr val="dk1"/>
              </a:solidFill>
              <a:latin typeface="Arial"/>
              <a:ea typeface="Arial"/>
              <a:cs typeface="Arial"/>
              <a:sym typeface="Arial"/>
            </a:endParaRPr>
          </a:p>
        </p:txBody>
      </p:sp>
      <p:cxnSp>
        <p:nvCxnSpPr>
          <p:cNvPr id="546" name="Google Shape;546;p15"/>
          <p:cNvCxnSpPr/>
          <p:nvPr/>
        </p:nvCxnSpPr>
        <p:spPr>
          <a:xfrm>
            <a:off x="1600200"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47" name="Google Shape;547;p15"/>
          <p:cNvSpPr/>
          <p:nvPr/>
        </p:nvSpPr>
        <p:spPr>
          <a:xfrm>
            <a:off x="1956816"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5"/>
          <p:cNvSpPr/>
          <p:nvPr/>
        </p:nvSpPr>
        <p:spPr>
          <a:xfrm>
            <a:off x="1956816"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T2</a:t>
            </a:r>
            <a:endParaRPr b="0" i="0" sz="850" u="none" cap="none" strike="noStrike">
              <a:solidFill>
                <a:schemeClr val="dk1"/>
              </a:solidFill>
              <a:latin typeface="Arial"/>
              <a:ea typeface="Arial"/>
              <a:cs typeface="Arial"/>
              <a:sym typeface="Arial"/>
            </a:endParaRPr>
          </a:p>
        </p:txBody>
      </p:sp>
      <p:sp>
        <p:nvSpPr>
          <p:cNvPr id="549" name="Google Shape;549;p15"/>
          <p:cNvSpPr/>
          <p:nvPr/>
        </p:nvSpPr>
        <p:spPr>
          <a:xfrm>
            <a:off x="1956816"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5"/>
          <p:cNvSpPr/>
          <p:nvPr/>
        </p:nvSpPr>
        <p:spPr>
          <a:xfrm>
            <a:off x="1956816"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A[2]</a:t>
            </a:r>
            <a:endParaRPr b="0" i="0" sz="800" u="none" cap="none" strike="noStrike">
              <a:solidFill>
                <a:schemeClr val="dk1"/>
              </a:solidFill>
              <a:latin typeface="Arial"/>
              <a:ea typeface="Arial"/>
              <a:cs typeface="Arial"/>
              <a:sym typeface="Arial"/>
            </a:endParaRPr>
          </a:p>
        </p:txBody>
      </p:sp>
      <p:cxnSp>
        <p:nvCxnSpPr>
          <p:cNvPr id="551" name="Google Shape;551;p15"/>
          <p:cNvCxnSpPr/>
          <p:nvPr/>
        </p:nvCxnSpPr>
        <p:spPr>
          <a:xfrm>
            <a:off x="2212848"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52" name="Google Shape;552;p15"/>
          <p:cNvSpPr/>
          <p:nvPr/>
        </p:nvSpPr>
        <p:spPr>
          <a:xfrm>
            <a:off x="2569464"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5"/>
          <p:cNvSpPr/>
          <p:nvPr/>
        </p:nvSpPr>
        <p:spPr>
          <a:xfrm>
            <a:off x="2569464"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T3</a:t>
            </a:r>
            <a:endParaRPr b="0" i="0" sz="850" u="none" cap="none" strike="noStrike">
              <a:solidFill>
                <a:schemeClr val="dk1"/>
              </a:solidFill>
              <a:latin typeface="Arial"/>
              <a:ea typeface="Arial"/>
              <a:cs typeface="Arial"/>
              <a:sym typeface="Arial"/>
            </a:endParaRPr>
          </a:p>
        </p:txBody>
      </p:sp>
      <p:sp>
        <p:nvSpPr>
          <p:cNvPr id="554" name="Google Shape;554;p15"/>
          <p:cNvSpPr/>
          <p:nvPr/>
        </p:nvSpPr>
        <p:spPr>
          <a:xfrm>
            <a:off x="2569464"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5"/>
          <p:cNvSpPr/>
          <p:nvPr/>
        </p:nvSpPr>
        <p:spPr>
          <a:xfrm>
            <a:off x="2569464"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A[3]</a:t>
            </a:r>
            <a:endParaRPr b="0" i="0" sz="800" u="none" cap="none" strike="noStrike">
              <a:solidFill>
                <a:schemeClr val="dk1"/>
              </a:solidFill>
              <a:latin typeface="Arial"/>
              <a:ea typeface="Arial"/>
              <a:cs typeface="Arial"/>
              <a:sym typeface="Arial"/>
            </a:endParaRPr>
          </a:p>
        </p:txBody>
      </p:sp>
      <p:cxnSp>
        <p:nvCxnSpPr>
          <p:cNvPr id="556" name="Google Shape;556;p15"/>
          <p:cNvCxnSpPr/>
          <p:nvPr/>
        </p:nvCxnSpPr>
        <p:spPr>
          <a:xfrm>
            <a:off x="2825496"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57" name="Google Shape;557;p15"/>
          <p:cNvSpPr/>
          <p:nvPr/>
        </p:nvSpPr>
        <p:spPr>
          <a:xfrm>
            <a:off x="3182112"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3182112"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T4</a:t>
            </a:r>
            <a:endParaRPr b="0" i="0" sz="850" u="none" cap="none" strike="noStrike">
              <a:solidFill>
                <a:schemeClr val="dk1"/>
              </a:solidFill>
              <a:latin typeface="Arial"/>
              <a:ea typeface="Arial"/>
              <a:cs typeface="Arial"/>
              <a:sym typeface="Arial"/>
            </a:endParaRPr>
          </a:p>
        </p:txBody>
      </p:sp>
      <p:sp>
        <p:nvSpPr>
          <p:cNvPr id="559" name="Google Shape;559;p15"/>
          <p:cNvSpPr/>
          <p:nvPr/>
        </p:nvSpPr>
        <p:spPr>
          <a:xfrm>
            <a:off x="3182112"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3182112"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A[4]</a:t>
            </a:r>
            <a:endParaRPr b="0" i="0" sz="800" u="none" cap="none" strike="noStrike">
              <a:solidFill>
                <a:schemeClr val="dk1"/>
              </a:solidFill>
              <a:latin typeface="Arial"/>
              <a:ea typeface="Arial"/>
              <a:cs typeface="Arial"/>
              <a:sym typeface="Arial"/>
            </a:endParaRPr>
          </a:p>
        </p:txBody>
      </p:sp>
      <p:cxnSp>
        <p:nvCxnSpPr>
          <p:cNvPr id="561" name="Google Shape;561;p15"/>
          <p:cNvCxnSpPr/>
          <p:nvPr/>
        </p:nvCxnSpPr>
        <p:spPr>
          <a:xfrm>
            <a:off x="3438144"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62" name="Google Shape;562;p15"/>
          <p:cNvSpPr/>
          <p:nvPr/>
        </p:nvSpPr>
        <p:spPr>
          <a:xfrm>
            <a:off x="3794760"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5"/>
          <p:cNvSpPr/>
          <p:nvPr/>
        </p:nvSpPr>
        <p:spPr>
          <a:xfrm>
            <a:off x="3794760"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T5</a:t>
            </a:r>
            <a:endParaRPr b="0" i="0" sz="850" u="none" cap="none" strike="noStrike">
              <a:solidFill>
                <a:schemeClr val="dk1"/>
              </a:solidFill>
              <a:latin typeface="Arial"/>
              <a:ea typeface="Arial"/>
              <a:cs typeface="Arial"/>
              <a:sym typeface="Arial"/>
            </a:endParaRPr>
          </a:p>
        </p:txBody>
      </p:sp>
      <p:sp>
        <p:nvSpPr>
          <p:cNvPr id="564" name="Google Shape;564;p15"/>
          <p:cNvSpPr/>
          <p:nvPr/>
        </p:nvSpPr>
        <p:spPr>
          <a:xfrm>
            <a:off x="3794760"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5"/>
          <p:cNvSpPr/>
          <p:nvPr/>
        </p:nvSpPr>
        <p:spPr>
          <a:xfrm>
            <a:off x="3794760"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A[5]</a:t>
            </a:r>
            <a:endParaRPr b="0" i="0" sz="800" u="none" cap="none" strike="noStrike">
              <a:solidFill>
                <a:schemeClr val="dk1"/>
              </a:solidFill>
              <a:latin typeface="Arial"/>
              <a:ea typeface="Arial"/>
              <a:cs typeface="Arial"/>
              <a:sym typeface="Arial"/>
            </a:endParaRPr>
          </a:p>
        </p:txBody>
      </p:sp>
      <p:cxnSp>
        <p:nvCxnSpPr>
          <p:cNvPr id="566" name="Google Shape;566;p15"/>
          <p:cNvCxnSpPr/>
          <p:nvPr/>
        </p:nvCxnSpPr>
        <p:spPr>
          <a:xfrm>
            <a:off x="4050792"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67" name="Google Shape;567;p15"/>
          <p:cNvSpPr/>
          <p:nvPr/>
        </p:nvSpPr>
        <p:spPr>
          <a:xfrm>
            <a:off x="4407408"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4407408"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T6</a:t>
            </a:r>
            <a:endParaRPr b="0" i="0" sz="850" u="none" cap="none" strike="noStrike">
              <a:solidFill>
                <a:schemeClr val="dk1"/>
              </a:solidFill>
              <a:latin typeface="Arial"/>
              <a:ea typeface="Arial"/>
              <a:cs typeface="Arial"/>
              <a:sym typeface="Arial"/>
            </a:endParaRPr>
          </a:p>
        </p:txBody>
      </p:sp>
      <p:sp>
        <p:nvSpPr>
          <p:cNvPr id="569" name="Google Shape;569;p15"/>
          <p:cNvSpPr/>
          <p:nvPr/>
        </p:nvSpPr>
        <p:spPr>
          <a:xfrm>
            <a:off x="4407408"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p:nvPr/>
        </p:nvSpPr>
        <p:spPr>
          <a:xfrm>
            <a:off x="4407408"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A[6]</a:t>
            </a:r>
            <a:endParaRPr b="0" i="0" sz="800" u="none" cap="none" strike="noStrike">
              <a:solidFill>
                <a:schemeClr val="dk1"/>
              </a:solidFill>
              <a:latin typeface="Arial"/>
              <a:ea typeface="Arial"/>
              <a:cs typeface="Arial"/>
              <a:sym typeface="Arial"/>
            </a:endParaRPr>
          </a:p>
        </p:txBody>
      </p:sp>
      <p:cxnSp>
        <p:nvCxnSpPr>
          <p:cNvPr id="571" name="Google Shape;571;p15"/>
          <p:cNvCxnSpPr/>
          <p:nvPr/>
        </p:nvCxnSpPr>
        <p:spPr>
          <a:xfrm>
            <a:off x="4663440"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72" name="Google Shape;572;p15"/>
          <p:cNvSpPr/>
          <p:nvPr/>
        </p:nvSpPr>
        <p:spPr>
          <a:xfrm>
            <a:off x="5020056" y="1691640"/>
            <a:ext cx="512064" cy="457200"/>
          </a:xfrm>
          <a:prstGeom prst="roundRect">
            <a:avLst>
              <a:gd fmla="val 4000" name="adj"/>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a:off x="5020056"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T7</a:t>
            </a:r>
            <a:endParaRPr b="0" i="0" sz="850" u="none" cap="none" strike="noStrike">
              <a:solidFill>
                <a:schemeClr val="dk1"/>
              </a:solidFill>
              <a:latin typeface="Arial"/>
              <a:ea typeface="Arial"/>
              <a:cs typeface="Arial"/>
              <a:sym typeface="Arial"/>
            </a:endParaRPr>
          </a:p>
        </p:txBody>
      </p:sp>
      <p:sp>
        <p:nvSpPr>
          <p:cNvPr id="574" name="Google Shape;574;p15"/>
          <p:cNvSpPr/>
          <p:nvPr/>
        </p:nvSpPr>
        <p:spPr>
          <a:xfrm>
            <a:off x="5020056" y="2423160"/>
            <a:ext cx="512064" cy="457200"/>
          </a:xfrm>
          <a:prstGeom prst="roundRect">
            <a:avLst>
              <a:gd fmla="val 4000" name="adj"/>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5"/>
          <p:cNvSpPr/>
          <p:nvPr/>
        </p:nvSpPr>
        <p:spPr>
          <a:xfrm>
            <a:off x="5020056"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00"/>
              <a:buFont typeface="Arial"/>
              <a:buNone/>
            </a:pPr>
            <a:r>
              <a:rPr b="0" i="0" lang="en-US" sz="800" u="none" cap="none" strike="noStrike">
                <a:solidFill>
                  <a:srgbClr val="173E62"/>
                </a:solidFill>
                <a:latin typeface="Arial"/>
                <a:ea typeface="Arial"/>
                <a:cs typeface="Arial"/>
                <a:sym typeface="Arial"/>
              </a:rPr>
              <a:t>A[7]</a:t>
            </a:r>
            <a:endParaRPr b="0" i="0" sz="800" u="none" cap="none" strike="noStrike">
              <a:solidFill>
                <a:schemeClr val="dk1"/>
              </a:solidFill>
              <a:latin typeface="Arial"/>
              <a:ea typeface="Arial"/>
              <a:cs typeface="Arial"/>
              <a:sym typeface="Arial"/>
            </a:endParaRPr>
          </a:p>
        </p:txBody>
      </p:sp>
      <p:cxnSp>
        <p:nvCxnSpPr>
          <p:cNvPr id="576" name="Google Shape;576;p15"/>
          <p:cNvCxnSpPr/>
          <p:nvPr/>
        </p:nvCxnSpPr>
        <p:spPr>
          <a:xfrm>
            <a:off x="5276088" y="2148840"/>
            <a:ext cx="0" cy="228600"/>
          </a:xfrm>
          <a:prstGeom prst="straightConnector1">
            <a:avLst/>
          </a:prstGeom>
          <a:noFill/>
          <a:ln cap="flat" cmpd="sng" w="12700">
            <a:solidFill>
              <a:srgbClr val="67C300"/>
            </a:solidFill>
            <a:prstDash val="solid"/>
            <a:round/>
            <a:headEnd len="sm" w="sm" type="none"/>
            <a:tailEnd len="med" w="med" type="triangle"/>
          </a:ln>
        </p:spPr>
      </p:cxnSp>
      <p:sp>
        <p:nvSpPr>
          <p:cNvPr id="577" name="Google Shape;577;p15"/>
          <p:cNvSpPr/>
          <p:nvPr/>
        </p:nvSpPr>
        <p:spPr>
          <a:xfrm>
            <a:off x="1005840" y="3108960"/>
            <a:ext cx="3657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400"/>
              <a:buFont typeface="Arial"/>
              <a:buNone/>
            </a:pPr>
            <a:r>
              <a:rPr b="1" i="0" lang="en-US" sz="1400" u="none" cap="none" strike="noStrike">
                <a:solidFill>
                  <a:srgbClr val="67C300"/>
                </a:solidFill>
                <a:latin typeface="Arial"/>
                <a:ea typeface="Arial"/>
                <a:cs typeface="Arial"/>
                <a:sym typeface="Arial"/>
              </a:rPr>
              <a:t>Adjacent threads → adjacent words</a:t>
            </a:r>
            <a:endParaRPr b="0" i="0" sz="1400" u="none" cap="none" strike="noStrike">
              <a:solidFill>
                <a:schemeClr val="dk1"/>
              </a:solidFill>
              <a:latin typeface="Arial"/>
              <a:ea typeface="Arial"/>
              <a:cs typeface="Arial"/>
              <a:sym typeface="Arial"/>
            </a:endParaRPr>
          </a:p>
        </p:txBody>
      </p:sp>
      <p:sp>
        <p:nvSpPr>
          <p:cNvPr id="578" name="Google Shape;578;p15"/>
          <p:cNvSpPr/>
          <p:nvPr/>
        </p:nvSpPr>
        <p:spPr>
          <a:xfrm>
            <a:off x="6400800" y="123444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483B"/>
              </a:buClr>
              <a:buSzPts val="1400"/>
              <a:buFont typeface="Arial"/>
              <a:buNone/>
            </a:pPr>
            <a:r>
              <a:rPr b="1" i="0" lang="en-US" sz="1400" u="none" cap="none" strike="noStrike">
                <a:solidFill>
                  <a:srgbClr val="D4483B"/>
                </a:solidFill>
                <a:latin typeface="Arial"/>
                <a:ea typeface="Arial"/>
                <a:cs typeface="Arial"/>
                <a:sym typeface="Arial"/>
              </a:rPr>
              <a:t>Strided / scattered pattern</a:t>
            </a:r>
            <a:endParaRPr b="0" i="0" sz="1400" u="none" cap="none" strike="noStrike">
              <a:solidFill>
                <a:schemeClr val="dk1"/>
              </a:solidFill>
              <a:latin typeface="Arial"/>
              <a:ea typeface="Arial"/>
              <a:cs typeface="Arial"/>
              <a:sym typeface="Arial"/>
            </a:endParaRPr>
          </a:p>
        </p:txBody>
      </p:sp>
      <p:sp>
        <p:nvSpPr>
          <p:cNvPr id="579" name="Google Shape;579;p15"/>
          <p:cNvSpPr/>
          <p:nvPr/>
        </p:nvSpPr>
        <p:spPr>
          <a:xfrm>
            <a:off x="6446520"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6446520"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T0</a:t>
            </a:r>
            <a:endParaRPr b="0" i="0" sz="850" u="none" cap="none" strike="noStrike">
              <a:solidFill>
                <a:schemeClr val="dk1"/>
              </a:solidFill>
              <a:latin typeface="Arial"/>
              <a:ea typeface="Arial"/>
              <a:cs typeface="Arial"/>
              <a:sym typeface="Arial"/>
            </a:endParaRPr>
          </a:p>
        </p:txBody>
      </p:sp>
      <p:sp>
        <p:nvSpPr>
          <p:cNvPr id="581" name="Google Shape;581;p15"/>
          <p:cNvSpPr/>
          <p:nvPr/>
        </p:nvSpPr>
        <p:spPr>
          <a:xfrm>
            <a:off x="6446520"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6446520"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A[0]</a:t>
            </a:r>
            <a:endParaRPr b="0" i="0" sz="750" u="none" cap="none" strike="noStrike">
              <a:solidFill>
                <a:schemeClr val="dk1"/>
              </a:solidFill>
              <a:latin typeface="Arial"/>
              <a:ea typeface="Arial"/>
              <a:cs typeface="Arial"/>
              <a:sym typeface="Arial"/>
            </a:endParaRPr>
          </a:p>
        </p:txBody>
      </p:sp>
      <p:cxnSp>
        <p:nvCxnSpPr>
          <p:cNvPr id="583" name="Google Shape;583;p15"/>
          <p:cNvCxnSpPr/>
          <p:nvPr/>
        </p:nvCxnSpPr>
        <p:spPr>
          <a:xfrm>
            <a:off x="6702552"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584" name="Google Shape;584;p15"/>
          <p:cNvSpPr/>
          <p:nvPr/>
        </p:nvSpPr>
        <p:spPr>
          <a:xfrm>
            <a:off x="7059168"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7059168"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T1</a:t>
            </a:r>
            <a:endParaRPr b="0" i="0" sz="850" u="none" cap="none" strike="noStrike">
              <a:solidFill>
                <a:schemeClr val="dk1"/>
              </a:solidFill>
              <a:latin typeface="Arial"/>
              <a:ea typeface="Arial"/>
              <a:cs typeface="Arial"/>
              <a:sym typeface="Arial"/>
            </a:endParaRPr>
          </a:p>
        </p:txBody>
      </p:sp>
      <p:sp>
        <p:nvSpPr>
          <p:cNvPr id="586" name="Google Shape;586;p15"/>
          <p:cNvSpPr/>
          <p:nvPr/>
        </p:nvSpPr>
        <p:spPr>
          <a:xfrm>
            <a:off x="7059168"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7059168"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A[8]</a:t>
            </a:r>
            <a:endParaRPr b="0" i="0" sz="750" u="none" cap="none" strike="noStrike">
              <a:solidFill>
                <a:schemeClr val="dk1"/>
              </a:solidFill>
              <a:latin typeface="Arial"/>
              <a:ea typeface="Arial"/>
              <a:cs typeface="Arial"/>
              <a:sym typeface="Arial"/>
            </a:endParaRPr>
          </a:p>
        </p:txBody>
      </p:sp>
      <p:cxnSp>
        <p:nvCxnSpPr>
          <p:cNvPr id="588" name="Google Shape;588;p15"/>
          <p:cNvCxnSpPr/>
          <p:nvPr/>
        </p:nvCxnSpPr>
        <p:spPr>
          <a:xfrm>
            <a:off x="7315200"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589" name="Google Shape;589;p15"/>
          <p:cNvSpPr/>
          <p:nvPr/>
        </p:nvSpPr>
        <p:spPr>
          <a:xfrm>
            <a:off x="7671816"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7671816"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T2</a:t>
            </a:r>
            <a:endParaRPr b="0" i="0" sz="850" u="none" cap="none" strike="noStrike">
              <a:solidFill>
                <a:schemeClr val="dk1"/>
              </a:solidFill>
              <a:latin typeface="Arial"/>
              <a:ea typeface="Arial"/>
              <a:cs typeface="Arial"/>
              <a:sym typeface="Arial"/>
            </a:endParaRPr>
          </a:p>
        </p:txBody>
      </p:sp>
      <p:sp>
        <p:nvSpPr>
          <p:cNvPr id="591" name="Google Shape;591;p15"/>
          <p:cNvSpPr/>
          <p:nvPr/>
        </p:nvSpPr>
        <p:spPr>
          <a:xfrm>
            <a:off x="7671816"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7671816"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A[16]</a:t>
            </a:r>
            <a:endParaRPr b="0" i="0" sz="750" u="none" cap="none" strike="noStrike">
              <a:solidFill>
                <a:schemeClr val="dk1"/>
              </a:solidFill>
              <a:latin typeface="Arial"/>
              <a:ea typeface="Arial"/>
              <a:cs typeface="Arial"/>
              <a:sym typeface="Arial"/>
            </a:endParaRPr>
          </a:p>
        </p:txBody>
      </p:sp>
      <p:cxnSp>
        <p:nvCxnSpPr>
          <p:cNvPr id="593" name="Google Shape;593;p15"/>
          <p:cNvCxnSpPr/>
          <p:nvPr/>
        </p:nvCxnSpPr>
        <p:spPr>
          <a:xfrm>
            <a:off x="7927848"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594" name="Google Shape;594;p15"/>
          <p:cNvSpPr/>
          <p:nvPr/>
        </p:nvSpPr>
        <p:spPr>
          <a:xfrm>
            <a:off x="8284464"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8284464"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T3</a:t>
            </a:r>
            <a:endParaRPr b="0" i="0" sz="850" u="none" cap="none" strike="noStrike">
              <a:solidFill>
                <a:schemeClr val="dk1"/>
              </a:solidFill>
              <a:latin typeface="Arial"/>
              <a:ea typeface="Arial"/>
              <a:cs typeface="Arial"/>
              <a:sym typeface="Arial"/>
            </a:endParaRPr>
          </a:p>
        </p:txBody>
      </p:sp>
      <p:sp>
        <p:nvSpPr>
          <p:cNvPr id="596" name="Google Shape;596;p15"/>
          <p:cNvSpPr/>
          <p:nvPr/>
        </p:nvSpPr>
        <p:spPr>
          <a:xfrm>
            <a:off x="8284464"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8284464"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A[24]</a:t>
            </a:r>
            <a:endParaRPr b="0" i="0" sz="750" u="none" cap="none" strike="noStrike">
              <a:solidFill>
                <a:schemeClr val="dk1"/>
              </a:solidFill>
              <a:latin typeface="Arial"/>
              <a:ea typeface="Arial"/>
              <a:cs typeface="Arial"/>
              <a:sym typeface="Arial"/>
            </a:endParaRPr>
          </a:p>
        </p:txBody>
      </p:sp>
      <p:cxnSp>
        <p:nvCxnSpPr>
          <p:cNvPr id="598" name="Google Shape;598;p15"/>
          <p:cNvCxnSpPr/>
          <p:nvPr/>
        </p:nvCxnSpPr>
        <p:spPr>
          <a:xfrm>
            <a:off x="8540496"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599" name="Google Shape;599;p15"/>
          <p:cNvSpPr/>
          <p:nvPr/>
        </p:nvSpPr>
        <p:spPr>
          <a:xfrm>
            <a:off x="8897112"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8897112"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T4</a:t>
            </a:r>
            <a:endParaRPr b="0" i="0" sz="850" u="none" cap="none" strike="noStrike">
              <a:solidFill>
                <a:schemeClr val="dk1"/>
              </a:solidFill>
              <a:latin typeface="Arial"/>
              <a:ea typeface="Arial"/>
              <a:cs typeface="Arial"/>
              <a:sym typeface="Arial"/>
            </a:endParaRPr>
          </a:p>
        </p:txBody>
      </p:sp>
      <p:sp>
        <p:nvSpPr>
          <p:cNvPr id="601" name="Google Shape;601;p15"/>
          <p:cNvSpPr/>
          <p:nvPr/>
        </p:nvSpPr>
        <p:spPr>
          <a:xfrm>
            <a:off x="8897112"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8897112"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A[32]</a:t>
            </a:r>
            <a:endParaRPr b="0" i="0" sz="750" u="none" cap="none" strike="noStrike">
              <a:solidFill>
                <a:schemeClr val="dk1"/>
              </a:solidFill>
              <a:latin typeface="Arial"/>
              <a:ea typeface="Arial"/>
              <a:cs typeface="Arial"/>
              <a:sym typeface="Arial"/>
            </a:endParaRPr>
          </a:p>
        </p:txBody>
      </p:sp>
      <p:cxnSp>
        <p:nvCxnSpPr>
          <p:cNvPr id="603" name="Google Shape;603;p15"/>
          <p:cNvCxnSpPr/>
          <p:nvPr/>
        </p:nvCxnSpPr>
        <p:spPr>
          <a:xfrm>
            <a:off x="9153144"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604" name="Google Shape;604;p15"/>
          <p:cNvSpPr/>
          <p:nvPr/>
        </p:nvSpPr>
        <p:spPr>
          <a:xfrm>
            <a:off x="9509760"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9509760"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T5</a:t>
            </a:r>
            <a:endParaRPr b="0" i="0" sz="850" u="none" cap="none" strike="noStrike">
              <a:solidFill>
                <a:schemeClr val="dk1"/>
              </a:solidFill>
              <a:latin typeface="Arial"/>
              <a:ea typeface="Arial"/>
              <a:cs typeface="Arial"/>
              <a:sym typeface="Arial"/>
            </a:endParaRPr>
          </a:p>
        </p:txBody>
      </p:sp>
      <p:sp>
        <p:nvSpPr>
          <p:cNvPr id="606" name="Google Shape;606;p15"/>
          <p:cNvSpPr/>
          <p:nvPr/>
        </p:nvSpPr>
        <p:spPr>
          <a:xfrm>
            <a:off x="9509760"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5"/>
          <p:cNvSpPr/>
          <p:nvPr/>
        </p:nvSpPr>
        <p:spPr>
          <a:xfrm>
            <a:off x="9509760"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A[40]</a:t>
            </a:r>
            <a:endParaRPr b="0" i="0" sz="750" u="none" cap="none" strike="noStrike">
              <a:solidFill>
                <a:schemeClr val="dk1"/>
              </a:solidFill>
              <a:latin typeface="Arial"/>
              <a:ea typeface="Arial"/>
              <a:cs typeface="Arial"/>
              <a:sym typeface="Arial"/>
            </a:endParaRPr>
          </a:p>
        </p:txBody>
      </p:sp>
      <p:cxnSp>
        <p:nvCxnSpPr>
          <p:cNvPr id="608" name="Google Shape;608;p15"/>
          <p:cNvCxnSpPr/>
          <p:nvPr/>
        </p:nvCxnSpPr>
        <p:spPr>
          <a:xfrm>
            <a:off x="9765792"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609" name="Google Shape;609;p15"/>
          <p:cNvSpPr/>
          <p:nvPr/>
        </p:nvSpPr>
        <p:spPr>
          <a:xfrm>
            <a:off x="10122408"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5"/>
          <p:cNvSpPr/>
          <p:nvPr/>
        </p:nvSpPr>
        <p:spPr>
          <a:xfrm>
            <a:off x="10122408"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T6</a:t>
            </a:r>
            <a:endParaRPr b="0" i="0" sz="850" u="none" cap="none" strike="noStrike">
              <a:solidFill>
                <a:schemeClr val="dk1"/>
              </a:solidFill>
              <a:latin typeface="Arial"/>
              <a:ea typeface="Arial"/>
              <a:cs typeface="Arial"/>
              <a:sym typeface="Arial"/>
            </a:endParaRPr>
          </a:p>
        </p:txBody>
      </p:sp>
      <p:sp>
        <p:nvSpPr>
          <p:cNvPr id="611" name="Google Shape;611;p15"/>
          <p:cNvSpPr/>
          <p:nvPr/>
        </p:nvSpPr>
        <p:spPr>
          <a:xfrm>
            <a:off x="10122408"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5"/>
          <p:cNvSpPr/>
          <p:nvPr/>
        </p:nvSpPr>
        <p:spPr>
          <a:xfrm>
            <a:off x="10122408"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A[48]</a:t>
            </a:r>
            <a:endParaRPr b="0" i="0" sz="750" u="none" cap="none" strike="noStrike">
              <a:solidFill>
                <a:schemeClr val="dk1"/>
              </a:solidFill>
              <a:latin typeface="Arial"/>
              <a:ea typeface="Arial"/>
              <a:cs typeface="Arial"/>
              <a:sym typeface="Arial"/>
            </a:endParaRPr>
          </a:p>
        </p:txBody>
      </p:sp>
      <p:cxnSp>
        <p:nvCxnSpPr>
          <p:cNvPr id="613" name="Google Shape;613;p15"/>
          <p:cNvCxnSpPr/>
          <p:nvPr/>
        </p:nvCxnSpPr>
        <p:spPr>
          <a:xfrm>
            <a:off x="10378440"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614" name="Google Shape;614;p15"/>
          <p:cNvSpPr/>
          <p:nvPr/>
        </p:nvSpPr>
        <p:spPr>
          <a:xfrm>
            <a:off x="10735056" y="1691640"/>
            <a:ext cx="512064" cy="457200"/>
          </a:xfrm>
          <a:prstGeom prst="roundRect">
            <a:avLst>
              <a:gd fmla="val 4000" name="adj"/>
            </a:avLst>
          </a:prstGeom>
          <a:solidFill>
            <a:srgbClr val="FDEDEA"/>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5"/>
          <p:cNvSpPr/>
          <p:nvPr/>
        </p:nvSpPr>
        <p:spPr>
          <a:xfrm>
            <a:off x="10735056" y="181965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850"/>
              <a:buFont typeface="Arial"/>
              <a:buNone/>
            </a:pPr>
            <a:r>
              <a:rPr b="1" i="0" lang="en-US" sz="850" u="none" cap="none" strike="noStrike">
                <a:solidFill>
                  <a:srgbClr val="173E62"/>
                </a:solidFill>
                <a:latin typeface="Arial"/>
                <a:ea typeface="Arial"/>
                <a:cs typeface="Arial"/>
                <a:sym typeface="Arial"/>
              </a:rPr>
              <a:t>T7</a:t>
            </a:r>
            <a:endParaRPr b="0" i="0" sz="850" u="none" cap="none" strike="noStrike">
              <a:solidFill>
                <a:schemeClr val="dk1"/>
              </a:solidFill>
              <a:latin typeface="Arial"/>
              <a:ea typeface="Arial"/>
              <a:cs typeface="Arial"/>
              <a:sym typeface="Arial"/>
            </a:endParaRPr>
          </a:p>
        </p:txBody>
      </p:sp>
      <p:sp>
        <p:nvSpPr>
          <p:cNvPr id="616" name="Google Shape;616;p15"/>
          <p:cNvSpPr/>
          <p:nvPr/>
        </p:nvSpPr>
        <p:spPr>
          <a:xfrm>
            <a:off x="10735056" y="2423160"/>
            <a:ext cx="512064" cy="457200"/>
          </a:xfrm>
          <a:prstGeom prst="roundRect">
            <a:avLst>
              <a:gd fmla="val 4000" name="adj"/>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5"/>
          <p:cNvSpPr/>
          <p:nvPr/>
        </p:nvSpPr>
        <p:spPr>
          <a:xfrm>
            <a:off x="10735056" y="2551176"/>
            <a:ext cx="51206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750"/>
              <a:buFont typeface="Arial"/>
              <a:buNone/>
            </a:pPr>
            <a:r>
              <a:rPr b="0" i="0" lang="en-US" sz="750" u="none" cap="none" strike="noStrike">
                <a:solidFill>
                  <a:srgbClr val="173E62"/>
                </a:solidFill>
                <a:latin typeface="Arial"/>
                <a:ea typeface="Arial"/>
                <a:cs typeface="Arial"/>
                <a:sym typeface="Arial"/>
              </a:rPr>
              <a:t>A[56]</a:t>
            </a:r>
            <a:endParaRPr b="0" i="0" sz="750" u="none" cap="none" strike="noStrike">
              <a:solidFill>
                <a:schemeClr val="dk1"/>
              </a:solidFill>
              <a:latin typeface="Arial"/>
              <a:ea typeface="Arial"/>
              <a:cs typeface="Arial"/>
              <a:sym typeface="Arial"/>
            </a:endParaRPr>
          </a:p>
        </p:txBody>
      </p:sp>
      <p:cxnSp>
        <p:nvCxnSpPr>
          <p:cNvPr id="618" name="Google Shape;618;p15"/>
          <p:cNvCxnSpPr/>
          <p:nvPr/>
        </p:nvCxnSpPr>
        <p:spPr>
          <a:xfrm>
            <a:off x="10991088" y="2148840"/>
            <a:ext cx="0" cy="228600"/>
          </a:xfrm>
          <a:prstGeom prst="straightConnector1">
            <a:avLst/>
          </a:prstGeom>
          <a:noFill/>
          <a:ln cap="flat" cmpd="sng" w="12700">
            <a:solidFill>
              <a:srgbClr val="D4483B"/>
            </a:solidFill>
            <a:prstDash val="solid"/>
            <a:round/>
            <a:headEnd len="sm" w="sm" type="none"/>
            <a:tailEnd len="med" w="med" type="triangle"/>
          </a:ln>
        </p:spPr>
      </p:cxnSp>
      <p:sp>
        <p:nvSpPr>
          <p:cNvPr id="619" name="Google Shape;619;p15"/>
          <p:cNvSpPr/>
          <p:nvPr/>
        </p:nvSpPr>
        <p:spPr>
          <a:xfrm>
            <a:off x="6492240" y="3108960"/>
            <a:ext cx="4572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483B"/>
              </a:buClr>
              <a:buSzPts val="1350"/>
              <a:buFont typeface="Arial"/>
              <a:buNone/>
            </a:pPr>
            <a:r>
              <a:rPr b="1" i="0" lang="en-US" sz="1350" u="none" cap="none" strike="noStrike">
                <a:solidFill>
                  <a:srgbClr val="D4483B"/>
                </a:solidFill>
                <a:latin typeface="Arial"/>
                <a:ea typeface="Arial"/>
                <a:cs typeface="Arial"/>
                <a:sym typeface="Arial"/>
              </a:rPr>
              <a:t>More separated addresses → more memory transactions</a:t>
            </a:r>
            <a:endParaRPr b="0" i="0" sz="1350" u="none" cap="none" strike="noStrike">
              <a:solidFill>
                <a:schemeClr val="dk1"/>
              </a:solidFill>
              <a:latin typeface="Arial"/>
              <a:ea typeface="Arial"/>
              <a:cs typeface="Arial"/>
              <a:sym typeface="Arial"/>
            </a:endParaRPr>
          </a:p>
        </p:txBody>
      </p:sp>
      <p:sp>
        <p:nvSpPr>
          <p:cNvPr id="620" name="Google Shape;620;p15"/>
          <p:cNvSpPr/>
          <p:nvPr/>
        </p:nvSpPr>
        <p:spPr>
          <a:xfrm>
            <a:off x="1325880" y="4160520"/>
            <a:ext cx="9509760" cy="1188720"/>
          </a:xfrm>
          <a:prstGeom prst="roundRect">
            <a:avLst>
              <a:gd fmla="val 6154" name="adj"/>
            </a:avLst>
          </a:prstGeom>
          <a:solidFill>
            <a:srgbClr val="EAF3F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5"/>
          <p:cNvSpPr/>
          <p:nvPr/>
        </p:nvSpPr>
        <p:spPr>
          <a:xfrm>
            <a:off x="1325880" y="4160520"/>
            <a:ext cx="73152" cy="118872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5"/>
          <p:cNvSpPr/>
          <p:nvPr/>
        </p:nvSpPr>
        <p:spPr>
          <a:xfrm>
            <a:off x="1691640" y="4416552"/>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High-priority optimization</a:t>
            </a:r>
            <a:endParaRPr b="0" i="0" sz="1600" u="none" cap="none" strike="noStrike">
              <a:solidFill>
                <a:schemeClr val="dk1"/>
              </a:solidFill>
              <a:latin typeface="Arial"/>
              <a:ea typeface="Arial"/>
              <a:cs typeface="Arial"/>
              <a:sym typeface="Arial"/>
            </a:endParaRPr>
          </a:p>
        </p:txBody>
      </p:sp>
      <p:sp>
        <p:nvSpPr>
          <p:cNvPr id="623" name="Google Shape;623;p15"/>
          <p:cNvSpPr/>
          <p:nvPr/>
        </p:nvSpPr>
        <p:spPr>
          <a:xfrm>
            <a:off x="3749040" y="4343400"/>
            <a:ext cx="6492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300"/>
              <a:buFont typeface="Arial"/>
              <a:buNone/>
            </a:pPr>
            <a:r>
              <a:rPr b="0" i="0" lang="en-US" sz="1300" u="none" cap="none" strike="noStrike">
                <a:solidFill>
                  <a:srgbClr val="26384C"/>
                </a:solidFill>
                <a:latin typeface="Arial"/>
                <a:ea typeface="Arial"/>
                <a:cs typeface="Arial"/>
                <a:sym typeface="Arial"/>
              </a:rPr>
              <a:t>Arrange data and indexing so neighboring lanes in a warp access neighboring global-memory locations whenever practical.</a:t>
            </a:r>
            <a:endParaRPr b="0" i="0" sz="1300" u="none" cap="none" strike="noStrike">
              <a:solidFill>
                <a:schemeClr val="dk1"/>
              </a:solidFill>
              <a:latin typeface="Arial"/>
              <a:ea typeface="Arial"/>
              <a:cs typeface="Arial"/>
              <a:sym typeface="Arial"/>
            </a:endParaRPr>
          </a:p>
        </p:txBody>
      </p:sp>
      <p:sp>
        <p:nvSpPr>
          <p:cNvPr id="624" name="Google Shape;624;p15"/>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625" name="Google Shape;625;p15"/>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6"/>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Per-Thread Registers: Fastest Working Storage</a:t>
            </a:r>
            <a:endParaRPr b="0" i="0" sz="2500" u="none" cap="none" strike="noStrike">
              <a:solidFill>
                <a:schemeClr val="dk1"/>
              </a:solidFill>
              <a:latin typeface="Arial"/>
              <a:ea typeface="Arial"/>
              <a:cs typeface="Arial"/>
              <a:sym typeface="Arial"/>
            </a:endParaRPr>
          </a:p>
        </p:txBody>
      </p:sp>
      <p:sp>
        <p:nvSpPr>
          <p:cNvPr id="632" name="Google Shape;632;p16"/>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Scalar variables and frequently used values are ideally kept in registers.</a:t>
            </a:r>
            <a:endParaRPr b="0" i="0" sz="1150" u="none" cap="none" strike="noStrike">
              <a:solidFill>
                <a:schemeClr val="dk1"/>
              </a:solidFill>
              <a:latin typeface="Arial"/>
              <a:ea typeface="Arial"/>
              <a:cs typeface="Arial"/>
              <a:sym typeface="Arial"/>
            </a:endParaRPr>
          </a:p>
        </p:txBody>
      </p:sp>
      <p:sp>
        <p:nvSpPr>
          <p:cNvPr id="633" name="Google Shape;633;p16"/>
          <p:cNvSpPr/>
          <p:nvPr/>
        </p:nvSpPr>
        <p:spPr>
          <a:xfrm>
            <a:off x="685800" y="1325880"/>
            <a:ext cx="5715000" cy="3063240"/>
          </a:xfrm>
          <a:prstGeom prst="roundRect">
            <a:avLst>
              <a:gd fmla="val 1493"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886968" y="1472184"/>
            <a:ext cx="5312664" cy="27706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__global__ void saxpy(float *x, float *y, float a)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int i = blockIdx.x * blockDim.x + threadIdx.x;</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float xi = x[i];      // candidate for register</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float yi = y[i];      // candidate for register</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y[i] = a * xi + yi;</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a:t>
            </a:r>
            <a:endParaRPr b="0" i="0" sz="1350" u="none" cap="none" strike="noStrike">
              <a:solidFill>
                <a:schemeClr val="dk1"/>
              </a:solidFill>
              <a:latin typeface="Arial"/>
              <a:ea typeface="Arial"/>
              <a:cs typeface="Arial"/>
              <a:sym typeface="Arial"/>
            </a:endParaRPr>
          </a:p>
        </p:txBody>
      </p:sp>
      <p:sp>
        <p:nvSpPr>
          <p:cNvPr id="635" name="Google Shape;635;p16"/>
          <p:cNvSpPr/>
          <p:nvPr/>
        </p:nvSpPr>
        <p:spPr>
          <a:xfrm>
            <a:off x="6720840" y="1325880"/>
            <a:ext cx="4572000" cy="3063240"/>
          </a:xfrm>
          <a:prstGeom prst="roundRect">
            <a:avLst>
              <a:gd fmla="val 2388" name="adj"/>
            </a:avLst>
          </a:prstGeom>
          <a:solidFill>
            <a:srgbClr val="F1F8E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a:off x="6720840" y="1325880"/>
            <a:ext cx="73152" cy="306324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7040880" y="160020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Characteristics</a:t>
            </a:r>
            <a:endParaRPr b="0" i="0" sz="1800" u="none" cap="none" strike="noStrike">
              <a:solidFill>
                <a:schemeClr val="dk1"/>
              </a:solidFill>
              <a:latin typeface="Arial"/>
              <a:ea typeface="Arial"/>
              <a:cs typeface="Arial"/>
              <a:sym typeface="Arial"/>
            </a:endParaRPr>
          </a:p>
        </p:txBody>
      </p:sp>
      <p:sp>
        <p:nvSpPr>
          <p:cNvPr id="638" name="Google Shape;638;p16"/>
          <p:cNvSpPr/>
          <p:nvPr/>
        </p:nvSpPr>
        <p:spPr>
          <a:xfrm>
            <a:off x="7040880" y="2057400"/>
            <a:ext cx="3749040" cy="187452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Private to one thread</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On-chip register file</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Very low access latency</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Limited capacity per SM</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High register use per thread can reduce occupancy</a:t>
            </a:r>
            <a:endParaRPr b="0" i="0" sz="1280" u="none" cap="none" strike="noStrike">
              <a:solidFill>
                <a:schemeClr val="dk1"/>
              </a:solidFill>
              <a:latin typeface="Arial"/>
              <a:ea typeface="Arial"/>
              <a:cs typeface="Arial"/>
              <a:sym typeface="Arial"/>
            </a:endParaRPr>
          </a:p>
        </p:txBody>
      </p:sp>
      <p:sp>
        <p:nvSpPr>
          <p:cNvPr id="639" name="Google Shape;639;p16"/>
          <p:cNvSpPr/>
          <p:nvPr/>
        </p:nvSpPr>
        <p:spPr>
          <a:xfrm>
            <a:off x="1143000" y="4800600"/>
            <a:ext cx="9784080" cy="868680"/>
          </a:xfrm>
          <a:prstGeom prst="roundRect">
            <a:avLst>
              <a:gd fmla="val 8421" name="adj"/>
            </a:avLst>
          </a:prstGeom>
          <a:solidFill>
            <a:srgbClr val="FFF5E5"/>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p:nvPr/>
        </p:nvSpPr>
        <p:spPr>
          <a:xfrm>
            <a:off x="1143000" y="4800600"/>
            <a:ext cx="73152" cy="86868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a:off x="1508760" y="5093208"/>
            <a:ext cx="9052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450"/>
              <a:buFont typeface="Arial"/>
              <a:buNone/>
            </a:pPr>
            <a:r>
              <a:rPr b="1" i="0" lang="en-US" sz="1450" u="none" cap="none" strike="noStrike">
                <a:solidFill>
                  <a:srgbClr val="173E62"/>
                </a:solidFill>
                <a:latin typeface="Arial"/>
                <a:ea typeface="Arial"/>
                <a:cs typeface="Arial"/>
                <a:sym typeface="Arial"/>
              </a:rPr>
              <a:t>Tradeoff: more registers per thread may speed each thread but leave room for fewer resident warps.</a:t>
            </a:r>
            <a:endParaRPr b="0" i="0" sz="1450" u="none" cap="none" strike="noStrike">
              <a:solidFill>
                <a:schemeClr val="dk1"/>
              </a:solidFill>
              <a:latin typeface="Arial"/>
              <a:ea typeface="Arial"/>
              <a:cs typeface="Arial"/>
              <a:sym typeface="Arial"/>
            </a:endParaRPr>
          </a:p>
        </p:txBody>
      </p:sp>
      <p:sp>
        <p:nvSpPr>
          <p:cNvPr id="642" name="Google Shape;642;p16"/>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643" name="Google Shape;643;p16"/>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17"/>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Per-Thread Local Memory: “Private” Does Not Mean “Fast”</a:t>
            </a:r>
            <a:endParaRPr b="0" i="0" sz="2500" u="none" cap="none" strike="noStrike">
              <a:solidFill>
                <a:schemeClr val="dk1"/>
              </a:solidFill>
              <a:latin typeface="Arial"/>
              <a:ea typeface="Arial"/>
              <a:cs typeface="Arial"/>
              <a:sym typeface="Arial"/>
            </a:endParaRPr>
          </a:p>
        </p:txBody>
      </p:sp>
      <p:sp>
        <p:nvSpPr>
          <p:cNvPr id="650" name="Google Shape;650;p17"/>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Local memory has thread-private addressing but is generally backed by device memory and cached.</a:t>
            </a:r>
            <a:endParaRPr b="0" i="0" sz="1150" u="none" cap="none" strike="noStrike">
              <a:solidFill>
                <a:schemeClr val="dk1"/>
              </a:solidFill>
              <a:latin typeface="Arial"/>
              <a:ea typeface="Arial"/>
              <a:cs typeface="Arial"/>
              <a:sym typeface="Arial"/>
            </a:endParaRPr>
          </a:p>
        </p:txBody>
      </p:sp>
      <p:sp>
        <p:nvSpPr>
          <p:cNvPr id="651" name="Google Shape;651;p17"/>
          <p:cNvSpPr/>
          <p:nvPr/>
        </p:nvSpPr>
        <p:spPr>
          <a:xfrm>
            <a:off x="731520" y="1371600"/>
            <a:ext cx="4937760" cy="3520440"/>
          </a:xfrm>
          <a:prstGeom prst="roundRect">
            <a:avLst>
              <a:gd fmla="val 2078" name="adj"/>
            </a:avLst>
          </a:prstGeom>
          <a:solidFill>
            <a:srgbClr val="FDEDE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7"/>
          <p:cNvSpPr/>
          <p:nvPr/>
        </p:nvSpPr>
        <p:spPr>
          <a:xfrm>
            <a:off x="731520" y="1371600"/>
            <a:ext cx="73152" cy="3520440"/>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1051545" y="1691650"/>
            <a:ext cx="3650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Why local memory appears</a:t>
            </a:r>
            <a:endParaRPr b="0" i="0" sz="1800" u="none" cap="none" strike="noStrike">
              <a:solidFill>
                <a:schemeClr val="dk1"/>
              </a:solidFill>
              <a:latin typeface="Arial"/>
              <a:ea typeface="Arial"/>
              <a:cs typeface="Arial"/>
              <a:sym typeface="Arial"/>
            </a:endParaRPr>
          </a:p>
        </p:txBody>
      </p:sp>
      <p:sp>
        <p:nvSpPr>
          <p:cNvPr id="654" name="Google Shape;654;p17"/>
          <p:cNvSpPr/>
          <p:nvPr/>
        </p:nvSpPr>
        <p:spPr>
          <a:xfrm>
            <a:off x="1051560" y="2148840"/>
            <a:ext cx="4114800" cy="201168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Register spilling when a kernel needs more registers than are available/allocated</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Large automatic arrays or variables that cannot conveniently live in registers</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Compiler decisions based on indexing and lifetime</a:t>
            </a:r>
            <a:endParaRPr b="0" i="0" sz="1300" u="none" cap="none" strike="noStrike">
              <a:solidFill>
                <a:schemeClr val="dk1"/>
              </a:solidFill>
              <a:latin typeface="Arial"/>
              <a:ea typeface="Arial"/>
              <a:cs typeface="Arial"/>
              <a:sym typeface="Arial"/>
            </a:endParaRPr>
          </a:p>
        </p:txBody>
      </p:sp>
      <p:sp>
        <p:nvSpPr>
          <p:cNvPr id="655" name="Google Shape;655;p17"/>
          <p:cNvSpPr/>
          <p:nvPr/>
        </p:nvSpPr>
        <p:spPr>
          <a:xfrm>
            <a:off x="6080760" y="1371600"/>
            <a:ext cx="5257800" cy="3520440"/>
          </a:xfrm>
          <a:prstGeom prst="roundRect">
            <a:avLst>
              <a:gd fmla="val 2078" name="adj"/>
            </a:avLst>
          </a:prstGeom>
          <a:solidFill>
            <a:srgbClr val="EAF3F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6080760" y="1371600"/>
            <a:ext cx="73152" cy="352044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7"/>
          <p:cNvSpPr/>
          <p:nvPr/>
        </p:nvSpPr>
        <p:spPr>
          <a:xfrm>
            <a:off x="6400800" y="1691650"/>
            <a:ext cx="332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Performance implication</a:t>
            </a:r>
            <a:endParaRPr b="0" i="0" sz="1800" u="none" cap="none" strike="noStrike">
              <a:solidFill>
                <a:schemeClr val="dk1"/>
              </a:solidFill>
              <a:latin typeface="Arial"/>
              <a:ea typeface="Arial"/>
              <a:cs typeface="Arial"/>
              <a:sym typeface="Arial"/>
            </a:endParaRPr>
          </a:p>
        </p:txBody>
      </p:sp>
      <p:sp>
        <p:nvSpPr>
          <p:cNvPr id="658" name="Google Shape;658;p17"/>
          <p:cNvSpPr/>
          <p:nvPr/>
        </p:nvSpPr>
        <p:spPr>
          <a:xfrm>
            <a:off x="6400800" y="2148840"/>
            <a:ext cx="4343400" cy="201168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Scope is per-thread, but physical access can have global-memory-like latency</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Caching helps, but spills can still be expensive</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300"/>
              <a:buFont typeface="Arial"/>
              <a:buChar char="•"/>
            </a:pPr>
            <a:r>
              <a:rPr b="0" i="0" lang="en-US" sz="1300" u="none" cap="none" strike="noStrike">
                <a:solidFill>
                  <a:srgbClr val="26384C"/>
                </a:solidFill>
                <a:latin typeface="Arial"/>
                <a:ea typeface="Arial"/>
                <a:cs typeface="Arial"/>
                <a:sym typeface="Arial"/>
              </a:rPr>
              <a:t>Reducing register pressure can help</a:t>
            </a:r>
            <a:r>
              <a:rPr lang="en-US" sz="1300">
                <a:solidFill>
                  <a:srgbClr val="26384C"/>
                </a:solidFill>
              </a:rPr>
              <a:t>.</a:t>
            </a:r>
            <a:endParaRPr b="0" i="0" sz="1300" u="none" cap="none" strike="noStrike">
              <a:solidFill>
                <a:schemeClr val="dk1"/>
              </a:solidFill>
              <a:latin typeface="Arial"/>
              <a:ea typeface="Arial"/>
              <a:cs typeface="Arial"/>
              <a:sym typeface="Arial"/>
            </a:endParaRPr>
          </a:p>
        </p:txBody>
      </p:sp>
      <p:sp>
        <p:nvSpPr>
          <p:cNvPr id="659" name="Google Shape;659;p17"/>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660" name="Google Shape;660;p17"/>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8"/>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Per-Block Shared Memory: Programmer-Managed On-Chip Reuse</a:t>
            </a:r>
            <a:endParaRPr b="0" i="0" sz="2500" u="none" cap="none" strike="noStrike">
              <a:solidFill>
                <a:schemeClr val="dk1"/>
              </a:solidFill>
              <a:latin typeface="Arial"/>
              <a:ea typeface="Arial"/>
              <a:cs typeface="Arial"/>
              <a:sym typeface="Arial"/>
            </a:endParaRPr>
          </a:p>
        </p:txBody>
      </p:sp>
      <p:sp>
        <p:nvSpPr>
          <p:cNvPr id="667" name="Google Shape;667;p18"/>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Threads in the same block can cooperatively stage and reuse data.</a:t>
            </a:r>
            <a:endParaRPr b="0" i="0" sz="1150" u="none" cap="none" strike="noStrike">
              <a:solidFill>
                <a:schemeClr val="dk1"/>
              </a:solidFill>
              <a:latin typeface="Arial"/>
              <a:ea typeface="Arial"/>
              <a:cs typeface="Arial"/>
              <a:sym typeface="Arial"/>
            </a:endParaRPr>
          </a:p>
        </p:txBody>
      </p:sp>
      <p:sp>
        <p:nvSpPr>
          <p:cNvPr id="668" name="Google Shape;668;p18"/>
          <p:cNvSpPr/>
          <p:nvPr/>
        </p:nvSpPr>
        <p:spPr>
          <a:xfrm>
            <a:off x="685800" y="1325880"/>
            <a:ext cx="5166360" cy="3108960"/>
          </a:xfrm>
          <a:prstGeom prst="roundRect">
            <a:avLst>
              <a:gd fmla="val 1471"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8"/>
          <p:cNvSpPr/>
          <p:nvPr/>
        </p:nvSpPr>
        <p:spPr>
          <a:xfrm>
            <a:off x="886968" y="1472184"/>
            <a:ext cx="4764024" cy="2816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__global__ void kernel(...)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__shared__ float tile[16][16];</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tile[threadIdx.y][threadIdx.x] =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__syncthreads();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    // all threads in this block can reuse tile[]</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50"/>
              <a:buFont typeface="Courier New"/>
              <a:buNone/>
            </a:pPr>
            <a:r>
              <a:rPr b="0" i="0" lang="en-US" sz="1350" u="none" cap="none" strike="noStrike">
                <a:solidFill>
                  <a:srgbClr val="F3F6FA"/>
                </a:solidFill>
                <a:latin typeface="Courier New"/>
                <a:ea typeface="Courier New"/>
                <a:cs typeface="Courier New"/>
                <a:sym typeface="Courier New"/>
              </a:rPr>
              <a:t>}</a:t>
            </a:r>
            <a:endParaRPr b="0" i="0" sz="1350" u="none" cap="none" strike="noStrike">
              <a:solidFill>
                <a:schemeClr val="dk1"/>
              </a:solidFill>
              <a:latin typeface="Arial"/>
              <a:ea typeface="Arial"/>
              <a:cs typeface="Arial"/>
              <a:sym typeface="Arial"/>
            </a:endParaRPr>
          </a:p>
        </p:txBody>
      </p:sp>
      <p:sp>
        <p:nvSpPr>
          <p:cNvPr id="670" name="Google Shape;670;p18"/>
          <p:cNvSpPr/>
          <p:nvPr/>
        </p:nvSpPr>
        <p:spPr>
          <a:xfrm>
            <a:off x="6263640" y="1325880"/>
            <a:ext cx="5074920" cy="3108960"/>
          </a:xfrm>
          <a:prstGeom prst="roundRect">
            <a:avLst>
              <a:gd fmla="val 2353" name="adj"/>
            </a:avLst>
          </a:prstGeom>
          <a:solidFill>
            <a:srgbClr val="E8F6F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8"/>
          <p:cNvSpPr/>
          <p:nvPr/>
        </p:nvSpPr>
        <p:spPr>
          <a:xfrm>
            <a:off x="6263640" y="1325880"/>
            <a:ext cx="73152" cy="310896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8"/>
          <p:cNvSpPr/>
          <p:nvPr/>
        </p:nvSpPr>
        <p:spPr>
          <a:xfrm>
            <a:off x="6583680" y="1627632"/>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Shared-memory properties</a:t>
            </a:r>
            <a:endParaRPr b="0" i="0" sz="1800" u="none" cap="none" strike="noStrike">
              <a:solidFill>
                <a:schemeClr val="dk1"/>
              </a:solidFill>
              <a:latin typeface="Arial"/>
              <a:ea typeface="Arial"/>
              <a:cs typeface="Arial"/>
              <a:sym typeface="Arial"/>
            </a:endParaRPr>
          </a:p>
        </p:txBody>
      </p:sp>
      <p:sp>
        <p:nvSpPr>
          <p:cNvPr id="673" name="Google Shape;673;p18"/>
          <p:cNvSpPr/>
          <p:nvPr/>
        </p:nvSpPr>
        <p:spPr>
          <a:xfrm>
            <a:off x="6583680" y="2057400"/>
            <a:ext cx="4251960" cy="201168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Visible to threads in the same block</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Lifetime = block execution</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On-chip and much lower latency than uncached global memory</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Excellent for data reuse and cooperative tiling</a:t>
            </a:r>
            <a:endParaRPr b="0" i="0" sz="128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80"/>
              <a:buFont typeface="Arial"/>
              <a:buChar char="•"/>
            </a:pPr>
            <a:r>
              <a:rPr b="0" i="0" lang="en-US" sz="1280" u="none" cap="none" strike="noStrike">
                <a:solidFill>
                  <a:srgbClr val="26384C"/>
                </a:solidFill>
                <a:latin typeface="Arial"/>
                <a:ea typeface="Arial"/>
                <a:cs typeface="Arial"/>
                <a:sym typeface="Arial"/>
              </a:rPr>
              <a:t>Capacity per SM is limited and can constrain occupancy</a:t>
            </a:r>
            <a:endParaRPr b="0" i="0" sz="1280" u="none" cap="none" strike="noStrike">
              <a:solidFill>
                <a:schemeClr val="dk1"/>
              </a:solidFill>
              <a:latin typeface="Arial"/>
              <a:ea typeface="Arial"/>
              <a:cs typeface="Arial"/>
              <a:sym typeface="Arial"/>
            </a:endParaRPr>
          </a:p>
        </p:txBody>
      </p:sp>
      <p:sp>
        <p:nvSpPr>
          <p:cNvPr id="674" name="Google Shape;674;p18"/>
          <p:cNvSpPr/>
          <p:nvPr/>
        </p:nvSpPr>
        <p:spPr>
          <a:xfrm>
            <a:off x="1280160" y="4800600"/>
            <a:ext cx="9418320" cy="914400"/>
          </a:xfrm>
          <a:prstGeom prst="roundRect">
            <a:avLst>
              <a:gd fmla="val 8000" name="adj"/>
            </a:avLst>
          </a:prstGeom>
          <a:solidFill>
            <a:srgbClr val="FFF5E5"/>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8"/>
          <p:cNvSpPr/>
          <p:nvPr/>
        </p:nvSpPr>
        <p:spPr>
          <a:xfrm>
            <a:off x="1280160" y="4800600"/>
            <a:ext cx="73152" cy="91440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8"/>
          <p:cNvSpPr/>
          <p:nvPr/>
        </p:nvSpPr>
        <p:spPr>
          <a:xfrm>
            <a:off x="1645920" y="5084064"/>
            <a:ext cx="8686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420"/>
              <a:buFont typeface="Arial"/>
              <a:buNone/>
            </a:pPr>
            <a:r>
              <a:rPr b="1" i="0" lang="en-US" sz="1420" u="none" cap="none" strike="noStrike">
                <a:solidFill>
                  <a:srgbClr val="173E62"/>
                </a:solidFill>
                <a:latin typeface="Arial"/>
                <a:ea typeface="Arial"/>
                <a:cs typeface="Arial"/>
                <a:sym typeface="Arial"/>
              </a:rPr>
              <a:t>__syncthreads() is often required after cooperative loads so every thread sees a fully populated tile.</a:t>
            </a:r>
            <a:endParaRPr b="0" i="0" sz="1420" u="none" cap="none" strike="noStrike">
              <a:solidFill>
                <a:schemeClr val="dk1"/>
              </a:solidFill>
              <a:latin typeface="Arial"/>
              <a:ea typeface="Arial"/>
              <a:cs typeface="Arial"/>
              <a:sym typeface="Arial"/>
            </a:endParaRPr>
          </a:p>
        </p:txBody>
      </p:sp>
      <p:sp>
        <p:nvSpPr>
          <p:cNvPr id="677" name="Google Shape;677;p18"/>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678" name="Google Shape;678;p18"/>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9"/>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Shared Memory Example: Tiled Matrix Multiplication</a:t>
            </a:r>
            <a:endParaRPr b="0" i="0" sz="2500" u="none" cap="none" strike="noStrike">
              <a:solidFill>
                <a:schemeClr val="dk1"/>
              </a:solidFill>
              <a:latin typeface="Arial"/>
              <a:ea typeface="Arial"/>
              <a:cs typeface="Arial"/>
              <a:sym typeface="Arial"/>
            </a:endParaRPr>
          </a:p>
        </p:txBody>
      </p:sp>
      <p:sp>
        <p:nvSpPr>
          <p:cNvPr id="685" name="Google Shape;685;p19"/>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Instead of repeatedly fetching the same A/B values from global memory, a block loads tiles once and reuses them.</a:t>
            </a:r>
            <a:endParaRPr b="0" i="0" sz="1150" u="none" cap="none" strike="noStrike">
              <a:solidFill>
                <a:schemeClr val="dk1"/>
              </a:solidFill>
              <a:latin typeface="Arial"/>
              <a:ea typeface="Arial"/>
              <a:cs typeface="Arial"/>
              <a:sym typeface="Arial"/>
            </a:endParaRPr>
          </a:p>
        </p:txBody>
      </p:sp>
      <p:sp>
        <p:nvSpPr>
          <p:cNvPr id="686" name="Google Shape;686;p19"/>
          <p:cNvSpPr/>
          <p:nvPr/>
        </p:nvSpPr>
        <p:spPr>
          <a:xfrm>
            <a:off x="777240" y="1325880"/>
            <a:ext cx="12801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400"/>
              <a:buFont typeface="Arial"/>
              <a:buNone/>
            </a:pPr>
            <a:r>
              <a:rPr b="1" i="0" lang="en-US" sz="1400" u="none" cap="none" strike="noStrike">
                <a:solidFill>
                  <a:srgbClr val="173E62"/>
                </a:solidFill>
                <a:latin typeface="Arial"/>
                <a:ea typeface="Arial"/>
                <a:cs typeface="Arial"/>
                <a:sym typeface="Arial"/>
              </a:rPr>
              <a:t>Global A</a:t>
            </a:r>
            <a:endParaRPr b="0" i="0" sz="1400" u="none" cap="none" strike="noStrike">
              <a:solidFill>
                <a:schemeClr val="dk1"/>
              </a:solidFill>
              <a:latin typeface="Arial"/>
              <a:ea typeface="Arial"/>
              <a:cs typeface="Arial"/>
              <a:sym typeface="Arial"/>
            </a:endParaRPr>
          </a:p>
        </p:txBody>
      </p:sp>
      <p:sp>
        <p:nvSpPr>
          <p:cNvPr id="687" name="Google Shape;687;p19"/>
          <p:cNvSpPr/>
          <p:nvPr/>
        </p:nvSpPr>
        <p:spPr>
          <a:xfrm>
            <a:off x="3703320" y="1325880"/>
            <a:ext cx="12801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400"/>
              <a:buFont typeface="Arial"/>
              <a:buNone/>
            </a:pPr>
            <a:r>
              <a:rPr b="1" i="0" lang="en-US" sz="1400" u="none" cap="none" strike="noStrike">
                <a:solidFill>
                  <a:srgbClr val="173E62"/>
                </a:solidFill>
                <a:latin typeface="Arial"/>
                <a:ea typeface="Arial"/>
                <a:cs typeface="Arial"/>
                <a:sym typeface="Arial"/>
              </a:rPr>
              <a:t>Global B</a:t>
            </a:r>
            <a:endParaRPr b="0" i="0" sz="1400" u="none" cap="none" strike="noStrike">
              <a:solidFill>
                <a:schemeClr val="dk1"/>
              </a:solidFill>
              <a:latin typeface="Arial"/>
              <a:ea typeface="Arial"/>
              <a:cs typeface="Arial"/>
              <a:sym typeface="Arial"/>
            </a:endParaRPr>
          </a:p>
        </p:txBody>
      </p:sp>
      <p:sp>
        <p:nvSpPr>
          <p:cNvPr id="688" name="Google Shape;688;p19"/>
          <p:cNvSpPr/>
          <p:nvPr/>
        </p:nvSpPr>
        <p:spPr>
          <a:xfrm>
            <a:off x="868680" y="1783080"/>
            <a:ext cx="393192" cy="393192"/>
          </a:xfrm>
          <a:prstGeom prst="rect">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3794760" y="1783080"/>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1307592" y="1783080"/>
            <a:ext cx="393192" cy="393192"/>
          </a:xfrm>
          <a:prstGeom prst="rect">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4233672" y="1783080"/>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9"/>
          <p:cNvSpPr/>
          <p:nvPr/>
        </p:nvSpPr>
        <p:spPr>
          <a:xfrm>
            <a:off x="1746504" y="1783080"/>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4672584" y="1783080"/>
            <a:ext cx="393192" cy="393192"/>
          </a:xfrm>
          <a:prstGeom prst="rect">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2185416" y="1783080"/>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p:nvPr/>
        </p:nvSpPr>
        <p:spPr>
          <a:xfrm>
            <a:off x="5111496" y="1783080"/>
            <a:ext cx="393192" cy="393192"/>
          </a:xfrm>
          <a:prstGeom prst="rect">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868680" y="2221992"/>
            <a:ext cx="393192" cy="393192"/>
          </a:xfrm>
          <a:prstGeom prst="rect">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3794760" y="2221992"/>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1307592" y="2221992"/>
            <a:ext cx="393192" cy="393192"/>
          </a:xfrm>
          <a:prstGeom prst="rect">
            <a:avLst/>
          </a:prstGeom>
          <a:solidFill>
            <a:srgbClr val="F1F8E7"/>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4233672" y="2221992"/>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1746504" y="2221992"/>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9"/>
          <p:cNvSpPr/>
          <p:nvPr/>
        </p:nvSpPr>
        <p:spPr>
          <a:xfrm>
            <a:off x="4672584" y="2221992"/>
            <a:ext cx="393192" cy="393192"/>
          </a:xfrm>
          <a:prstGeom prst="rect">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2185416" y="2221992"/>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9"/>
          <p:cNvSpPr/>
          <p:nvPr/>
        </p:nvSpPr>
        <p:spPr>
          <a:xfrm>
            <a:off x="5111496" y="2221992"/>
            <a:ext cx="393192" cy="393192"/>
          </a:xfrm>
          <a:prstGeom prst="rect">
            <a:avLst/>
          </a:prstGeom>
          <a:solidFill>
            <a:srgbClr val="EAF3FA"/>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9"/>
          <p:cNvSpPr/>
          <p:nvPr/>
        </p:nvSpPr>
        <p:spPr>
          <a:xfrm>
            <a:off x="868680"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a:off x="3794760"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a:off x="1307592"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a:off x="4233672"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a:off x="1746504"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a:off x="4672584"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9"/>
          <p:cNvSpPr/>
          <p:nvPr/>
        </p:nvSpPr>
        <p:spPr>
          <a:xfrm>
            <a:off x="2185416"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p:nvPr/>
        </p:nvSpPr>
        <p:spPr>
          <a:xfrm>
            <a:off x="5111496" y="2660904"/>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9"/>
          <p:cNvSpPr/>
          <p:nvPr/>
        </p:nvSpPr>
        <p:spPr>
          <a:xfrm>
            <a:off x="868680"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9"/>
          <p:cNvSpPr/>
          <p:nvPr/>
        </p:nvSpPr>
        <p:spPr>
          <a:xfrm>
            <a:off x="3794760"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a:off x="1307592"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p:nvPr/>
        </p:nvSpPr>
        <p:spPr>
          <a:xfrm>
            <a:off x="4233672"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p:nvPr/>
        </p:nvSpPr>
        <p:spPr>
          <a:xfrm>
            <a:off x="1746504"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4672584"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2185416"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5111496" y="3099816"/>
            <a:ext cx="393192" cy="393192"/>
          </a:xfrm>
          <a:prstGeom prst="rect">
            <a:avLst/>
          </a:prstGeom>
          <a:solidFill>
            <a:srgbClr val="F7F9FC"/>
          </a:solidFill>
          <a:ln cap="flat" cmpd="sng" w="12700">
            <a:solidFill>
              <a:srgbClr val="C9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0" name="Google Shape;720;p19"/>
          <p:cNvCxnSpPr/>
          <p:nvPr/>
        </p:nvCxnSpPr>
        <p:spPr>
          <a:xfrm>
            <a:off x="2788920" y="2377440"/>
            <a:ext cx="731520" cy="0"/>
          </a:xfrm>
          <a:prstGeom prst="straightConnector1">
            <a:avLst/>
          </a:prstGeom>
          <a:noFill/>
          <a:ln cap="flat" cmpd="sng" w="19050">
            <a:solidFill>
              <a:srgbClr val="61738B"/>
            </a:solidFill>
            <a:prstDash val="solid"/>
            <a:round/>
            <a:headEnd len="sm" w="sm" type="none"/>
            <a:tailEnd len="med" w="med" type="triangle"/>
          </a:ln>
        </p:spPr>
      </p:cxnSp>
      <p:sp>
        <p:nvSpPr>
          <p:cNvPr id="721" name="Google Shape;721;p19"/>
          <p:cNvSpPr/>
          <p:nvPr/>
        </p:nvSpPr>
        <p:spPr>
          <a:xfrm>
            <a:off x="6400800" y="1325880"/>
            <a:ext cx="4983480" cy="3154680"/>
          </a:xfrm>
          <a:prstGeom prst="roundRect">
            <a:avLst>
              <a:gd fmla="val 2319" name="adj"/>
            </a:avLst>
          </a:prstGeom>
          <a:solidFill>
            <a:srgbClr val="E8F6F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6400800" y="1325880"/>
            <a:ext cx="73152" cy="3154680"/>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a:off x="6720840" y="1627632"/>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Block workflow</a:t>
            </a:r>
            <a:endParaRPr b="0" i="0" sz="1800" u="none" cap="none" strike="noStrike">
              <a:solidFill>
                <a:schemeClr val="dk1"/>
              </a:solidFill>
              <a:latin typeface="Arial"/>
              <a:ea typeface="Arial"/>
              <a:cs typeface="Arial"/>
              <a:sym typeface="Arial"/>
            </a:endParaRPr>
          </a:p>
        </p:txBody>
      </p:sp>
      <p:sp>
        <p:nvSpPr>
          <p:cNvPr id="724" name="Google Shape;724;p19"/>
          <p:cNvSpPr/>
          <p:nvPr/>
        </p:nvSpPr>
        <p:spPr>
          <a:xfrm>
            <a:off x="6720840" y="2057400"/>
            <a:ext cx="4160520" cy="201168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Cooperatively load a tile of A and a tile of B from global memory into shared memory.</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Synchronize the block.</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Each thread reuses the staged values to accumulate part of C.</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Advance to the next tile and repeat.</a:t>
            </a:r>
            <a:endParaRPr b="0" i="0" sz="1250" u="none" cap="none" strike="noStrike">
              <a:solidFill>
                <a:schemeClr val="dk1"/>
              </a:solidFill>
              <a:latin typeface="Arial"/>
              <a:ea typeface="Arial"/>
              <a:cs typeface="Arial"/>
              <a:sym typeface="Arial"/>
            </a:endParaRPr>
          </a:p>
        </p:txBody>
      </p:sp>
      <p:sp>
        <p:nvSpPr>
          <p:cNvPr id="725" name="Google Shape;725;p19"/>
          <p:cNvSpPr/>
          <p:nvPr/>
        </p:nvSpPr>
        <p:spPr>
          <a:xfrm>
            <a:off x="777240" y="4343400"/>
            <a:ext cx="5029200" cy="1097280"/>
          </a:xfrm>
          <a:prstGeom prst="roundRect">
            <a:avLst>
              <a:gd fmla="val 6667" name="adj"/>
            </a:avLst>
          </a:prstGeom>
          <a:solidFill>
            <a:srgbClr val="F1F8E7"/>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777240" y="4343400"/>
            <a:ext cx="73152" cy="109728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1051560" y="461772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500"/>
              <a:buFont typeface="Arial"/>
              <a:buNone/>
            </a:pPr>
            <a:r>
              <a:rPr b="1" i="0" lang="en-US" sz="1500" u="none" cap="none" strike="noStrike">
                <a:solidFill>
                  <a:srgbClr val="173E62"/>
                </a:solidFill>
                <a:latin typeface="Arial"/>
                <a:ea typeface="Arial"/>
                <a:cs typeface="Arial"/>
                <a:sym typeface="Arial"/>
              </a:rPr>
              <a:t>Naïve</a:t>
            </a:r>
            <a:endParaRPr b="0" i="0" sz="1500" u="none" cap="none" strike="noStrike">
              <a:solidFill>
                <a:schemeClr val="dk1"/>
              </a:solidFill>
              <a:latin typeface="Arial"/>
              <a:ea typeface="Arial"/>
              <a:cs typeface="Arial"/>
              <a:sym typeface="Arial"/>
            </a:endParaRPr>
          </a:p>
        </p:txBody>
      </p:sp>
      <p:sp>
        <p:nvSpPr>
          <p:cNvPr id="728" name="Google Shape;728;p19"/>
          <p:cNvSpPr/>
          <p:nvPr/>
        </p:nvSpPr>
        <p:spPr>
          <a:xfrm>
            <a:off x="1874520" y="4544568"/>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70"/>
              <a:buFont typeface="Arial"/>
              <a:buNone/>
            </a:pPr>
            <a:r>
              <a:rPr b="0" i="0" lang="en-US" sz="1170" u="none" cap="none" strike="noStrike">
                <a:solidFill>
                  <a:srgbClr val="26384C"/>
                </a:solidFill>
                <a:latin typeface="Arial"/>
                <a:ea typeface="Arial"/>
                <a:cs typeface="Arial"/>
                <a:sym typeface="Arial"/>
              </a:rPr>
              <a:t>Many threads repeatedly read overlapping A/B values from global memory.</a:t>
            </a:r>
            <a:endParaRPr b="0" i="0" sz="1170" u="none" cap="none" strike="noStrike">
              <a:solidFill>
                <a:schemeClr val="dk1"/>
              </a:solidFill>
              <a:latin typeface="Arial"/>
              <a:ea typeface="Arial"/>
              <a:cs typeface="Arial"/>
              <a:sym typeface="Arial"/>
            </a:endParaRPr>
          </a:p>
        </p:txBody>
      </p:sp>
      <p:sp>
        <p:nvSpPr>
          <p:cNvPr id="729" name="Google Shape;729;p19"/>
          <p:cNvSpPr/>
          <p:nvPr/>
        </p:nvSpPr>
        <p:spPr>
          <a:xfrm>
            <a:off x="6286490" y="4608513"/>
            <a:ext cx="5029200" cy="1097400"/>
          </a:xfrm>
          <a:prstGeom prst="roundRect">
            <a:avLst>
              <a:gd fmla="val 6667" name="adj"/>
            </a:avLst>
          </a:prstGeom>
          <a:solidFill>
            <a:srgbClr val="EAF3FA"/>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a:off x="6286490" y="4608513"/>
            <a:ext cx="73200" cy="109740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a:off x="6583660" y="5001758"/>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500"/>
              <a:buFont typeface="Arial"/>
              <a:buNone/>
            </a:pPr>
            <a:r>
              <a:rPr b="1" i="0" lang="en-US" sz="1500" u="none" cap="none" strike="noStrike">
                <a:solidFill>
                  <a:srgbClr val="173E62"/>
                </a:solidFill>
                <a:latin typeface="Arial"/>
                <a:ea typeface="Arial"/>
                <a:cs typeface="Arial"/>
                <a:sym typeface="Arial"/>
              </a:rPr>
              <a:t>Tiled</a:t>
            </a:r>
            <a:endParaRPr b="0" i="0" sz="1500" u="none" cap="none" strike="noStrike">
              <a:solidFill>
                <a:schemeClr val="dk1"/>
              </a:solidFill>
              <a:latin typeface="Arial"/>
              <a:ea typeface="Arial"/>
              <a:cs typeface="Arial"/>
              <a:sym typeface="Arial"/>
            </a:endParaRPr>
          </a:p>
        </p:txBody>
      </p:sp>
      <p:sp>
        <p:nvSpPr>
          <p:cNvPr id="732" name="Google Shape;732;p19"/>
          <p:cNvSpPr/>
          <p:nvPr/>
        </p:nvSpPr>
        <p:spPr>
          <a:xfrm>
            <a:off x="7406620" y="4928606"/>
            <a:ext cx="3474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70"/>
              <a:buFont typeface="Arial"/>
              <a:buNone/>
            </a:pPr>
            <a:r>
              <a:rPr b="0" i="0" lang="en-US" sz="1170" u="none" cap="none" strike="noStrike">
                <a:solidFill>
                  <a:srgbClr val="26384C"/>
                </a:solidFill>
                <a:latin typeface="Arial"/>
                <a:ea typeface="Arial"/>
                <a:cs typeface="Arial"/>
                <a:sym typeface="Arial"/>
              </a:rPr>
              <a:t>Load once per block tile, reuse many times from shared memory.</a:t>
            </a:r>
            <a:endParaRPr b="0" i="0" sz="1170" u="none" cap="none" strike="noStrike">
              <a:solidFill>
                <a:schemeClr val="dk1"/>
              </a:solidFill>
              <a:latin typeface="Arial"/>
              <a:ea typeface="Arial"/>
              <a:cs typeface="Arial"/>
              <a:sym typeface="Arial"/>
            </a:endParaRPr>
          </a:p>
        </p:txBody>
      </p:sp>
      <p:sp>
        <p:nvSpPr>
          <p:cNvPr id="733" name="Google Shape;733;p19"/>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734" name="Google Shape;734;p19"/>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20"/>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Read-Only Constant Memory</a:t>
            </a:r>
            <a:endParaRPr b="0" i="0" sz="2500" u="none" cap="none" strike="noStrike">
              <a:solidFill>
                <a:schemeClr val="dk1"/>
              </a:solidFill>
              <a:latin typeface="Arial"/>
              <a:ea typeface="Arial"/>
              <a:cs typeface="Arial"/>
              <a:sym typeface="Arial"/>
            </a:endParaRPr>
          </a:p>
        </p:txBody>
      </p:sp>
      <p:sp>
        <p:nvSpPr>
          <p:cNvPr id="741" name="Google Shape;741;p20"/>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Constant memory is useful for small read-only values that many threads access, especially when a warp reads the same address.</a:t>
            </a:r>
            <a:endParaRPr b="0" i="0" sz="1150" u="none" cap="none" strike="noStrike">
              <a:solidFill>
                <a:schemeClr val="dk1"/>
              </a:solidFill>
              <a:latin typeface="Arial"/>
              <a:ea typeface="Arial"/>
              <a:cs typeface="Arial"/>
              <a:sym typeface="Arial"/>
            </a:endParaRPr>
          </a:p>
        </p:txBody>
      </p:sp>
      <p:sp>
        <p:nvSpPr>
          <p:cNvPr id="742" name="Google Shape;742;p20"/>
          <p:cNvSpPr/>
          <p:nvPr/>
        </p:nvSpPr>
        <p:spPr>
          <a:xfrm>
            <a:off x="731520" y="1325880"/>
            <a:ext cx="4937760" cy="2834640"/>
          </a:xfrm>
          <a:prstGeom prst="roundRect">
            <a:avLst>
              <a:gd fmla="val 1613" name="adj"/>
            </a:avLst>
          </a:prstGeom>
          <a:solidFill>
            <a:srgbClr val="10192D"/>
          </a:solidFill>
          <a:ln cap="flat" cmpd="sng" w="12700">
            <a:solidFill>
              <a:srgbClr val="1019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0"/>
          <p:cNvSpPr/>
          <p:nvPr/>
        </p:nvSpPr>
        <p:spPr>
          <a:xfrm>
            <a:off x="932688" y="1472184"/>
            <a:ext cx="4535424" cy="2542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3F6FA"/>
              </a:buClr>
              <a:buSzPts val="1320"/>
              <a:buFont typeface="Courier New"/>
              <a:buNone/>
            </a:pPr>
            <a:r>
              <a:rPr b="0" i="0" lang="en-US" sz="1320" u="none" cap="none" strike="noStrike">
                <a:solidFill>
                  <a:srgbClr val="F3F6FA"/>
                </a:solidFill>
                <a:latin typeface="Courier New"/>
                <a:ea typeface="Courier New"/>
                <a:cs typeface="Courier New"/>
                <a:sym typeface="Courier New"/>
              </a:rPr>
              <a:t>__constant__ float coeff[64];</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20"/>
              <a:buFont typeface="Arial"/>
              <a:buNone/>
            </a:pPr>
            <a:r>
              <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20"/>
              <a:buFont typeface="Courier New"/>
              <a:buNone/>
            </a:pPr>
            <a:r>
              <a:rPr b="0" i="0" lang="en-US" sz="1320" u="none" cap="none" strike="noStrike">
                <a:solidFill>
                  <a:srgbClr val="F3F6FA"/>
                </a:solidFill>
                <a:latin typeface="Courier New"/>
                <a:ea typeface="Courier New"/>
                <a:cs typeface="Courier New"/>
                <a:sym typeface="Courier New"/>
              </a:rPr>
              <a:t>// Host initializes it:</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20"/>
              <a:buFont typeface="Courier New"/>
              <a:buNone/>
            </a:pPr>
            <a:r>
              <a:rPr b="0" i="0" lang="en-US" sz="1320" u="none" cap="none" strike="noStrike">
                <a:solidFill>
                  <a:srgbClr val="F3F6FA"/>
                </a:solidFill>
                <a:latin typeface="Courier New"/>
                <a:ea typeface="Courier New"/>
                <a:cs typeface="Courier New"/>
                <a:sym typeface="Courier New"/>
              </a:rPr>
              <a:t>cudaMemcpyToSymbol(coeff, h_coeff, sizeof(h_coeff));</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20"/>
              <a:buFont typeface="Arial"/>
              <a:buNone/>
            </a:pPr>
            <a:r>
              <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20"/>
              <a:buFont typeface="Courier New"/>
              <a:buNone/>
            </a:pPr>
            <a:r>
              <a:rPr b="0" i="0" lang="en-US" sz="1320" u="none" cap="none" strike="noStrike">
                <a:solidFill>
                  <a:srgbClr val="F3F6FA"/>
                </a:solidFill>
                <a:latin typeface="Courier New"/>
                <a:ea typeface="Courier New"/>
                <a:cs typeface="Courier New"/>
                <a:sym typeface="Courier New"/>
              </a:rPr>
              <a:t>// Kernel reads it:</a:t>
            </a:r>
            <a:endParaRPr b="0" i="0" sz="13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3F6FA"/>
              </a:buClr>
              <a:buSzPts val="1320"/>
              <a:buFont typeface="Courier New"/>
              <a:buNone/>
            </a:pPr>
            <a:r>
              <a:rPr b="0" i="0" lang="en-US" sz="1320" u="none" cap="none" strike="noStrike">
                <a:solidFill>
                  <a:srgbClr val="F3F6FA"/>
                </a:solidFill>
                <a:latin typeface="Courier New"/>
                <a:ea typeface="Courier New"/>
                <a:cs typeface="Courier New"/>
                <a:sym typeface="Courier New"/>
              </a:rPr>
              <a:t>float c = coeff[k];</a:t>
            </a:r>
            <a:endParaRPr b="0" i="0" sz="1320" u="none" cap="none" strike="noStrike">
              <a:solidFill>
                <a:schemeClr val="dk1"/>
              </a:solidFill>
              <a:latin typeface="Arial"/>
              <a:ea typeface="Arial"/>
              <a:cs typeface="Arial"/>
              <a:sym typeface="Arial"/>
            </a:endParaRPr>
          </a:p>
        </p:txBody>
      </p:sp>
      <p:sp>
        <p:nvSpPr>
          <p:cNvPr id="744" name="Google Shape;744;p20"/>
          <p:cNvSpPr/>
          <p:nvPr/>
        </p:nvSpPr>
        <p:spPr>
          <a:xfrm>
            <a:off x="6080760" y="1325880"/>
            <a:ext cx="5257800" cy="2834640"/>
          </a:xfrm>
          <a:prstGeom prst="roundRect">
            <a:avLst>
              <a:gd fmla="val 2581" name="adj"/>
            </a:avLst>
          </a:prstGeom>
          <a:solidFill>
            <a:srgbClr val="FFF5E5"/>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0"/>
          <p:cNvSpPr/>
          <p:nvPr/>
        </p:nvSpPr>
        <p:spPr>
          <a:xfrm>
            <a:off x="6080760" y="1325880"/>
            <a:ext cx="73152" cy="283464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0"/>
          <p:cNvSpPr/>
          <p:nvPr/>
        </p:nvSpPr>
        <p:spPr>
          <a:xfrm>
            <a:off x="6400800" y="162763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Good fit</a:t>
            </a:r>
            <a:endParaRPr b="0" i="0" sz="1800" u="none" cap="none" strike="noStrike">
              <a:solidFill>
                <a:schemeClr val="dk1"/>
              </a:solidFill>
              <a:latin typeface="Arial"/>
              <a:ea typeface="Arial"/>
              <a:cs typeface="Arial"/>
              <a:sym typeface="Arial"/>
            </a:endParaRPr>
          </a:p>
        </p:txBody>
      </p:sp>
      <p:sp>
        <p:nvSpPr>
          <p:cNvPr id="747" name="Google Shape;747;p20"/>
          <p:cNvSpPr/>
          <p:nvPr/>
        </p:nvSpPr>
        <p:spPr>
          <a:xfrm>
            <a:off x="6400800" y="2011680"/>
            <a:ext cx="4389120" cy="1874520"/>
          </a:xfrm>
          <a:prstGeom prst="rect">
            <a:avLst/>
          </a:prstGeom>
          <a:noFill/>
          <a:ln>
            <a:noFill/>
          </a:ln>
        </p:spPr>
        <p:txBody>
          <a:bodyPr anchorCtr="0" anchor="ctr" bIns="250" lIns="250" spcFirstLastPara="1" rIns="250" wrap="square" tIns="250">
            <a:normAutofit/>
          </a:bodyPr>
          <a:lstStyle/>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Read-only from device code</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Visible to all threads</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Cached for efficient repeated reads</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Especially effective when threads in a warp request the same constant address</a:t>
            </a:r>
            <a:endParaRPr b="0" i="0" sz="12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6384C"/>
              </a:buClr>
              <a:buSzPts val="1250"/>
              <a:buFont typeface="Arial"/>
              <a:buChar char="•"/>
            </a:pPr>
            <a:r>
              <a:rPr b="0" i="0" lang="en-US" sz="1250" u="none" cap="none" strike="noStrike">
                <a:solidFill>
                  <a:srgbClr val="26384C"/>
                </a:solidFill>
                <a:latin typeface="Arial"/>
                <a:ea typeface="Arial"/>
                <a:cs typeface="Arial"/>
                <a:sym typeface="Arial"/>
              </a:rPr>
              <a:t>Examples: coefficients, small lookup parameters, fixed configuration values</a:t>
            </a:r>
            <a:endParaRPr b="0" i="0" sz="1250" u="none" cap="none" strike="noStrike">
              <a:solidFill>
                <a:schemeClr val="dk1"/>
              </a:solidFill>
              <a:latin typeface="Arial"/>
              <a:ea typeface="Arial"/>
              <a:cs typeface="Arial"/>
              <a:sym typeface="Arial"/>
            </a:endParaRPr>
          </a:p>
        </p:txBody>
      </p:sp>
      <p:sp>
        <p:nvSpPr>
          <p:cNvPr id="748" name="Google Shape;748;p20"/>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749" name="Google Shape;749;p20"/>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21"/>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Which CUDA Memory Space Should I Use?</a:t>
            </a:r>
            <a:endParaRPr b="0" i="0" sz="2500" u="none" cap="none" strike="noStrike">
              <a:solidFill>
                <a:schemeClr val="dk1"/>
              </a:solidFill>
              <a:latin typeface="Arial"/>
              <a:ea typeface="Arial"/>
              <a:cs typeface="Arial"/>
              <a:sym typeface="Arial"/>
            </a:endParaRPr>
          </a:p>
        </p:txBody>
      </p:sp>
      <p:sp>
        <p:nvSpPr>
          <p:cNvPr id="756" name="Google Shape;756;p21"/>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Start with scope and reuse, then consider capacity and access pattern.</a:t>
            </a:r>
            <a:endParaRPr b="0" i="0" sz="1150" u="none" cap="none" strike="noStrike">
              <a:solidFill>
                <a:schemeClr val="dk1"/>
              </a:solidFill>
              <a:latin typeface="Arial"/>
              <a:ea typeface="Arial"/>
              <a:cs typeface="Arial"/>
              <a:sym typeface="Arial"/>
            </a:endParaRPr>
          </a:p>
        </p:txBody>
      </p:sp>
      <p:sp>
        <p:nvSpPr>
          <p:cNvPr id="757" name="Google Shape;757;p21"/>
          <p:cNvSpPr/>
          <p:nvPr/>
        </p:nvSpPr>
        <p:spPr>
          <a:xfrm>
            <a:off x="685800" y="1234440"/>
            <a:ext cx="10744200" cy="566928"/>
          </a:xfrm>
          <a:prstGeom prst="roundRect">
            <a:avLst>
              <a:gd fmla="val 12903"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1"/>
          <p:cNvSpPr/>
          <p:nvPr/>
        </p:nvSpPr>
        <p:spPr>
          <a:xfrm>
            <a:off x="685800" y="1234440"/>
            <a:ext cx="73152" cy="566928"/>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1"/>
          <p:cNvSpPr/>
          <p:nvPr/>
        </p:nvSpPr>
        <p:spPr>
          <a:xfrm>
            <a:off x="960120" y="1362456"/>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One thread repeatedly uses a scalar</a:t>
            </a:r>
            <a:endParaRPr b="0" i="0" sz="1150" u="none" cap="none" strike="noStrike">
              <a:solidFill>
                <a:schemeClr val="dk1"/>
              </a:solidFill>
              <a:latin typeface="Arial"/>
              <a:ea typeface="Arial"/>
              <a:cs typeface="Arial"/>
              <a:sym typeface="Arial"/>
            </a:endParaRPr>
          </a:p>
        </p:txBody>
      </p:sp>
      <p:sp>
        <p:nvSpPr>
          <p:cNvPr id="760" name="Google Shape;760;p21"/>
          <p:cNvSpPr/>
          <p:nvPr/>
        </p:nvSpPr>
        <p:spPr>
          <a:xfrm>
            <a:off x="5074920" y="1353312"/>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C300"/>
              </a:buClr>
              <a:buSzPts val="1230"/>
              <a:buFont typeface="Arial"/>
              <a:buNone/>
            </a:pPr>
            <a:r>
              <a:rPr b="1" i="0" lang="en-US" sz="1230" u="none" cap="none" strike="noStrike">
                <a:solidFill>
                  <a:srgbClr val="67C300"/>
                </a:solidFill>
                <a:latin typeface="Arial"/>
                <a:ea typeface="Arial"/>
                <a:cs typeface="Arial"/>
                <a:sym typeface="Arial"/>
              </a:rPr>
              <a:t>Register</a:t>
            </a:r>
            <a:endParaRPr b="0" i="0" sz="1230" u="none" cap="none" strike="noStrike">
              <a:solidFill>
                <a:schemeClr val="dk1"/>
              </a:solidFill>
              <a:latin typeface="Arial"/>
              <a:ea typeface="Arial"/>
              <a:cs typeface="Arial"/>
              <a:sym typeface="Arial"/>
            </a:endParaRPr>
          </a:p>
        </p:txBody>
      </p:sp>
      <p:sp>
        <p:nvSpPr>
          <p:cNvPr id="761" name="Google Shape;761;p21"/>
          <p:cNvSpPr/>
          <p:nvPr/>
        </p:nvSpPr>
        <p:spPr>
          <a:xfrm>
            <a:off x="6263640" y="1362456"/>
            <a:ext cx="4526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30"/>
              <a:buFont typeface="Arial"/>
              <a:buNone/>
            </a:pPr>
            <a:r>
              <a:rPr b="0" i="0" lang="en-US" sz="1130" u="none" cap="none" strike="noStrike">
                <a:solidFill>
                  <a:srgbClr val="26384C"/>
                </a:solidFill>
                <a:latin typeface="Arial"/>
                <a:ea typeface="Arial"/>
                <a:cs typeface="Arial"/>
                <a:sym typeface="Arial"/>
              </a:rPr>
              <a:t>Keep it in a register if possible</a:t>
            </a:r>
            <a:endParaRPr b="0" i="0" sz="1130" u="none" cap="none" strike="noStrike">
              <a:solidFill>
                <a:schemeClr val="dk1"/>
              </a:solidFill>
              <a:latin typeface="Arial"/>
              <a:ea typeface="Arial"/>
              <a:cs typeface="Arial"/>
              <a:sym typeface="Arial"/>
            </a:endParaRPr>
          </a:p>
        </p:txBody>
      </p:sp>
      <p:sp>
        <p:nvSpPr>
          <p:cNvPr id="762" name="Google Shape;762;p21"/>
          <p:cNvSpPr/>
          <p:nvPr/>
        </p:nvSpPr>
        <p:spPr>
          <a:xfrm>
            <a:off x="685800" y="1984248"/>
            <a:ext cx="10744200" cy="566928"/>
          </a:xfrm>
          <a:prstGeom prst="roundRect">
            <a:avLst>
              <a:gd fmla="val 12903" name="adj"/>
            </a:avLst>
          </a:prstGeom>
          <a:solidFill>
            <a:srgbClr val="F9FBFD"/>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1"/>
          <p:cNvSpPr/>
          <p:nvPr/>
        </p:nvSpPr>
        <p:spPr>
          <a:xfrm>
            <a:off x="685800" y="1984248"/>
            <a:ext cx="73152" cy="566928"/>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1"/>
          <p:cNvSpPr/>
          <p:nvPr/>
        </p:nvSpPr>
        <p:spPr>
          <a:xfrm>
            <a:off x="960120" y="2112264"/>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One block repeatedly reuses a tile</a:t>
            </a:r>
            <a:endParaRPr b="0" i="0" sz="1150" u="none" cap="none" strike="noStrike">
              <a:solidFill>
                <a:schemeClr val="dk1"/>
              </a:solidFill>
              <a:latin typeface="Arial"/>
              <a:ea typeface="Arial"/>
              <a:cs typeface="Arial"/>
              <a:sym typeface="Arial"/>
            </a:endParaRPr>
          </a:p>
        </p:txBody>
      </p:sp>
      <p:sp>
        <p:nvSpPr>
          <p:cNvPr id="765" name="Google Shape;765;p21"/>
          <p:cNvSpPr/>
          <p:nvPr/>
        </p:nvSpPr>
        <p:spPr>
          <a:xfrm>
            <a:off x="5074920" y="2103120"/>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93A3"/>
              </a:buClr>
              <a:buSzPts val="1230"/>
              <a:buFont typeface="Arial"/>
              <a:buNone/>
            </a:pPr>
            <a:r>
              <a:rPr b="1" i="0" lang="en-US" sz="1230" u="none" cap="none" strike="noStrike">
                <a:solidFill>
                  <a:srgbClr val="1493A3"/>
                </a:solidFill>
                <a:latin typeface="Arial"/>
                <a:ea typeface="Arial"/>
                <a:cs typeface="Arial"/>
                <a:sym typeface="Arial"/>
              </a:rPr>
              <a:t>Shared</a:t>
            </a:r>
            <a:endParaRPr b="0" i="0" sz="1230" u="none" cap="none" strike="noStrike">
              <a:solidFill>
                <a:schemeClr val="dk1"/>
              </a:solidFill>
              <a:latin typeface="Arial"/>
              <a:ea typeface="Arial"/>
              <a:cs typeface="Arial"/>
              <a:sym typeface="Arial"/>
            </a:endParaRPr>
          </a:p>
        </p:txBody>
      </p:sp>
      <p:sp>
        <p:nvSpPr>
          <p:cNvPr id="766" name="Google Shape;766;p21"/>
          <p:cNvSpPr/>
          <p:nvPr/>
        </p:nvSpPr>
        <p:spPr>
          <a:xfrm>
            <a:off x="6263640" y="2112264"/>
            <a:ext cx="4526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30"/>
              <a:buFont typeface="Arial"/>
              <a:buNone/>
            </a:pPr>
            <a:r>
              <a:rPr b="0" i="0" lang="en-US" sz="1130" u="none" cap="none" strike="noStrike">
                <a:solidFill>
                  <a:srgbClr val="26384C"/>
                </a:solidFill>
                <a:latin typeface="Arial"/>
                <a:ea typeface="Arial"/>
                <a:cs typeface="Arial"/>
                <a:sym typeface="Arial"/>
              </a:rPr>
              <a:t>Stage once, reuse on-chip</a:t>
            </a:r>
            <a:endParaRPr b="0" i="0" sz="1130" u="none" cap="none" strike="noStrike">
              <a:solidFill>
                <a:schemeClr val="dk1"/>
              </a:solidFill>
              <a:latin typeface="Arial"/>
              <a:ea typeface="Arial"/>
              <a:cs typeface="Arial"/>
              <a:sym typeface="Arial"/>
            </a:endParaRPr>
          </a:p>
        </p:txBody>
      </p:sp>
      <p:sp>
        <p:nvSpPr>
          <p:cNvPr id="767" name="Google Shape;767;p21"/>
          <p:cNvSpPr/>
          <p:nvPr/>
        </p:nvSpPr>
        <p:spPr>
          <a:xfrm>
            <a:off x="685800" y="2734056"/>
            <a:ext cx="10744200" cy="566928"/>
          </a:xfrm>
          <a:prstGeom prst="roundRect">
            <a:avLst>
              <a:gd fmla="val 12903"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p:nvPr/>
        </p:nvSpPr>
        <p:spPr>
          <a:xfrm>
            <a:off x="685800" y="2734056"/>
            <a:ext cx="73152" cy="566928"/>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1"/>
          <p:cNvSpPr/>
          <p:nvPr/>
        </p:nvSpPr>
        <p:spPr>
          <a:xfrm>
            <a:off x="960120" y="2862072"/>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All threads access a large array</a:t>
            </a:r>
            <a:endParaRPr b="0" i="0" sz="1150" u="none" cap="none" strike="noStrike">
              <a:solidFill>
                <a:schemeClr val="dk1"/>
              </a:solidFill>
              <a:latin typeface="Arial"/>
              <a:ea typeface="Arial"/>
              <a:cs typeface="Arial"/>
              <a:sym typeface="Arial"/>
            </a:endParaRPr>
          </a:p>
        </p:txBody>
      </p:sp>
      <p:sp>
        <p:nvSpPr>
          <p:cNvPr id="770" name="Google Shape;770;p21"/>
          <p:cNvSpPr/>
          <p:nvPr/>
        </p:nvSpPr>
        <p:spPr>
          <a:xfrm>
            <a:off x="5074920" y="28529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A5"/>
              </a:buClr>
              <a:buSzPts val="1230"/>
              <a:buFont typeface="Arial"/>
              <a:buNone/>
            </a:pPr>
            <a:r>
              <a:rPr b="1" i="0" lang="en-US" sz="1230" u="none" cap="none" strike="noStrike">
                <a:solidFill>
                  <a:srgbClr val="1F6FA5"/>
                </a:solidFill>
                <a:latin typeface="Arial"/>
                <a:ea typeface="Arial"/>
                <a:cs typeface="Arial"/>
                <a:sym typeface="Arial"/>
              </a:rPr>
              <a:t>Global</a:t>
            </a:r>
            <a:endParaRPr b="0" i="0" sz="1230" u="none" cap="none" strike="noStrike">
              <a:solidFill>
                <a:schemeClr val="dk1"/>
              </a:solidFill>
              <a:latin typeface="Arial"/>
              <a:ea typeface="Arial"/>
              <a:cs typeface="Arial"/>
              <a:sym typeface="Arial"/>
            </a:endParaRPr>
          </a:p>
        </p:txBody>
      </p:sp>
      <p:sp>
        <p:nvSpPr>
          <p:cNvPr id="771" name="Google Shape;771;p21"/>
          <p:cNvSpPr/>
          <p:nvPr/>
        </p:nvSpPr>
        <p:spPr>
          <a:xfrm>
            <a:off x="6263640" y="2862072"/>
            <a:ext cx="4526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30"/>
              <a:buFont typeface="Arial"/>
              <a:buNone/>
            </a:pPr>
            <a:r>
              <a:rPr b="0" i="0" lang="en-US" sz="1130" u="none" cap="none" strike="noStrike">
                <a:solidFill>
                  <a:srgbClr val="26384C"/>
                </a:solidFill>
                <a:latin typeface="Arial"/>
                <a:ea typeface="Arial"/>
                <a:cs typeface="Arial"/>
                <a:sym typeface="Arial"/>
              </a:rPr>
              <a:t>Optimize locality and coalescing</a:t>
            </a:r>
            <a:endParaRPr b="0" i="0" sz="1130" u="none" cap="none" strike="noStrike">
              <a:solidFill>
                <a:schemeClr val="dk1"/>
              </a:solidFill>
              <a:latin typeface="Arial"/>
              <a:ea typeface="Arial"/>
              <a:cs typeface="Arial"/>
              <a:sym typeface="Arial"/>
            </a:endParaRPr>
          </a:p>
        </p:txBody>
      </p:sp>
      <p:sp>
        <p:nvSpPr>
          <p:cNvPr id="772" name="Google Shape;772;p21"/>
          <p:cNvSpPr/>
          <p:nvPr/>
        </p:nvSpPr>
        <p:spPr>
          <a:xfrm>
            <a:off x="685800" y="3483864"/>
            <a:ext cx="10744200" cy="566928"/>
          </a:xfrm>
          <a:prstGeom prst="roundRect">
            <a:avLst>
              <a:gd fmla="val 12903" name="adj"/>
            </a:avLst>
          </a:prstGeom>
          <a:solidFill>
            <a:srgbClr val="F9FBFD"/>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1"/>
          <p:cNvSpPr/>
          <p:nvPr/>
        </p:nvSpPr>
        <p:spPr>
          <a:xfrm>
            <a:off x="685800" y="3483864"/>
            <a:ext cx="73152" cy="566928"/>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p:nvPr/>
        </p:nvSpPr>
        <p:spPr>
          <a:xfrm>
            <a:off x="960120" y="3611880"/>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Small read-only data shared by all</a:t>
            </a:r>
            <a:endParaRPr b="0" i="0" sz="1150" u="none" cap="none" strike="noStrike">
              <a:solidFill>
                <a:schemeClr val="dk1"/>
              </a:solidFill>
              <a:latin typeface="Arial"/>
              <a:ea typeface="Arial"/>
              <a:cs typeface="Arial"/>
              <a:sym typeface="Arial"/>
            </a:endParaRPr>
          </a:p>
        </p:txBody>
      </p:sp>
      <p:sp>
        <p:nvSpPr>
          <p:cNvPr id="775" name="Google Shape;775;p21"/>
          <p:cNvSpPr/>
          <p:nvPr/>
        </p:nvSpPr>
        <p:spPr>
          <a:xfrm>
            <a:off x="5074920" y="3602736"/>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7A12"/>
              </a:buClr>
              <a:buSzPts val="1230"/>
              <a:buFont typeface="Arial"/>
              <a:buNone/>
            </a:pPr>
            <a:r>
              <a:rPr b="1" i="0" lang="en-US" sz="1230" u="none" cap="none" strike="noStrike">
                <a:solidFill>
                  <a:srgbClr val="C27A12"/>
                </a:solidFill>
                <a:latin typeface="Arial"/>
                <a:ea typeface="Arial"/>
                <a:cs typeface="Arial"/>
                <a:sym typeface="Arial"/>
              </a:rPr>
              <a:t>Constant</a:t>
            </a:r>
            <a:endParaRPr b="0" i="0" sz="1230" u="none" cap="none" strike="noStrike">
              <a:solidFill>
                <a:schemeClr val="dk1"/>
              </a:solidFill>
              <a:latin typeface="Arial"/>
              <a:ea typeface="Arial"/>
              <a:cs typeface="Arial"/>
              <a:sym typeface="Arial"/>
            </a:endParaRPr>
          </a:p>
        </p:txBody>
      </p:sp>
      <p:sp>
        <p:nvSpPr>
          <p:cNvPr id="776" name="Google Shape;776;p21"/>
          <p:cNvSpPr/>
          <p:nvPr/>
        </p:nvSpPr>
        <p:spPr>
          <a:xfrm>
            <a:off x="6263640" y="3611880"/>
            <a:ext cx="4526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30"/>
              <a:buFont typeface="Arial"/>
              <a:buNone/>
            </a:pPr>
            <a:r>
              <a:rPr b="0" i="0" lang="en-US" sz="1130" u="none" cap="none" strike="noStrike">
                <a:solidFill>
                  <a:srgbClr val="26384C"/>
                </a:solidFill>
                <a:latin typeface="Arial"/>
                <a:ea typeface="Arial"/>
                <a:cs typeface="Arial"/>
                <a:sym typeface="Arial"/>
              </a:rPr>
              <a:t>Good for broadcast-like access</a:t>
            </a:r>
            <a:endParaRPr b="0" i="0" sz="1130" u="none" cap="none" strike="noStrike">
              <a:solidFill>
                <a:schemeClr val="dk1"/>
              </a:solidFill>
              <a:latin typeface="Arial"/>
              <a:ea typeface="Arial"/>
              <a:cs typeface="Arial"/>
              <a:sym typeface="Arial"/>
            </a:endParaRPr>
          </a:p>
        </p:txBody>
      </p:sp>
      <p:sp>
        <p:nvSpPr>
          <p:cNvPr id="777" name="Google Shape;777;p21"/>
          <p:cNvSpPr/>
          <p:nvPr/>
        </p:nvSpPr>
        <p:spPr>
          <a:xfrm>
            <a:off x="685800" y="4233672"/>
            <a:ext cx="10744200" cy="566928"/>
          </a:xfrm>
          <a:prstGeom prst="roundRect">
            <a:avLst>
              <a:gd fmla="val 12903"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p:nvPr/>
        </p:nvSpPr>
        <p:spPr>
          <a:xfrm>
            <a:off x="685800" y="4233672"/>
            <a:ext cx="73152" cy="566928"/>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1"/>
          <p:cNvSpPr/>
          <p:nvPr/>
        </p:nvSpPr>
        <p:spPr>
          <a:xfrm>
            <a:off x="960120" y="4361688"/>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Compiler cannot keep private data in registers</a:t>
            </a:r>
            <a:endParaRPr b="0" i="0" sz="1150" u="none" cap="none" strike="noStrike">
              <a:solidFill>
                <a:schemeClr val="dk1"/>
              </a:solidFill>
              <a:latin typeface="Arial"/>
              <a:ea typeface="Arial"/>
              <a:cs typeface="Arial"/>
              <a:sym typeface="Arial"/>
            </a:endParaRPr>
          </a:p>
        </p:txBody>
      </p:sp>
      <p:sp>
        <p:nvSpPr>
          <p:cNvPr id="780" name="Google Shape;780;p21"/>
          <p:cNvSpPr/>
          <p:nvPr/>
        </p:nvSpPr>
        <p:spPr>
          <a:xfrm>
            <a:off x="5074920" y="4352544"/>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483B"/>
              </a:buClr>
              <a:buSzPts val="1230"/>
              <a:buFont typeface="Arial"/>
              <a:buNone/>
            </a:pPr>
            <a:r>
              <a:rPr b="1" i="0" lang="en-US" sz="1230" u="none" cap="none" strike="noStrike">
                <a:solidFill>
                  <a:srgbClr val="D4483B"/>
                </a:solidFill>
                <a:latin typeface="Arial"/>
                <a:ea typeface="Arial"/>
                <a:cs typeface="Arial"/>
                <a:sym typeface="Arial"/>
              </a:rPr>
              <a:t>Local</a:t>
            </a:r>
            <a:endParaRPr b="0" i="0" sz="1230" u="none" cap="none" strike="noStrike">
              <a:solidFill>
                <a:schemeClr val="dk1"/>
              </a:solidFill>
              <a:latin typeface="Arial"/>
              <a:ea typeface="Arial"/>
              <a:cs typeface="Arial"/>
              <a:sym typeface="Arial"/>
            </a:endParaRPr>
          </a:p>
        </p:txBody>
      </p:sp>
      <p:sp>
        <p:nvSpPr>
          <p:cNvPr id="781" name="Google Shape;781;p21"/>
          <p:cNvSpPr/>
          <p:nvPr/>
        </p:nvSpPr>
        <p:spPr>
          <a:xfrm>
            <a:off x="6263640" y="4361688"/>
            <a:ext cx="4526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30"/>
              <a:buFont typeface="Arial"/>
              <a:buNone/>
            </a:pPr>
            <a:r>
              <a:rPr b="0" i="0" lang="en-US" sz="1130" u="none" cap="none" strike="noStrike">
                <a:solidFill>
                  <a:srgbClr val="26384C"/>
                </a:solidFill>
                <a:latin typeface="Arial"/>
                <a:ea typeface="Arial"/>
                <a:cs typeface="Arial"/>
                <a:sym typeface="Arial"/>
              </a:rPr>
              <a:t>May be spill/large private storage; potentially expensive</a:t>
            </a:r>
            <a:endParaRPr b="0" i="0" sz="1130" u="none" cap="none" strike="noStrike">
              <a:solidFill>
                <a:schemeClr val="dk1"/>
              </a:solidFill>
              <a:latin typeface="Arial"/>
              <a:ea typeface="Arial"/>
              <a:cs typeface="Arial"/>
              <a:sym typeface="Arial"/>
            </a:endParaRPr>
          </a:p>
        </p:txBody>
      </p:sp>
      <p:sp>
        <p:nvSpPr>
          <p:cNvPr id="782" name="Google Shape;782;p21"/>
          <p:cNvSpPr/>
          <p:nvPr/>
        </p:nvSpPr>
        <p:spPr>
          <a:xfrm>
            <a:off x="685800" y="4983480"/>
            <a:ext cx="10744200" cy="566928"/>
          </a:xfrm>
          <a:prstGeom prst="roundRect">
            <a:avLst>
              <a:gd fmla="val 12903" name="adj"/>
            </a:avLst>
          </a:prstGeom>
          <a:solidFill>
            <a:srgbClr val="F9FBFD"/>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1"/>
          <p:cNvSpPr/>
          <p:nvPr/>
        </p:nvSpPr>
        <p:spPr>
          <a:xfrm>
            <a:off x="685800" y="4983480"/>
            <a:ext cx="73152" cy="566928"/>
          </a:xfrm>
          <a:prstGeom prst="rect">
            <a:avLst/>
          </a:prstGeom>
          <a:solidFill>
            <a:srgbClr val="173E62"/>
          </a:solidFill>
          <a:ln cap="flat" cmpd="sng" w="12700">
            <a:solidFill>
              <a:srgbClr val="173E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1"/>
          <p:cNvSpPr/>
          <p:nvPr/>
        </p:nvSpPr>
        <p:spPr>
          <a:xfrm>
            <a:off x="960120" y="5111496"/>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50"/>
              <a:buFont typeface="Arial"/>
              <a:buNone/>
            </a:pPr>
            <a:r>
              <a:rPr b="0" i="0" lang="en-US" sz="1150" u="none" cap="none" strike="noStrike">
                <a:solidFill>
                  <a:srgbClr val="26384C"/>
                </a:solidFill>
                <a:latin typeface="Arial"/>
                <a:ea typeface="Arial"/>
                <a:cs typeface="Arial"/>
                <a:sym typeface="Arial"/>
              </a:rPr>
              <a:t>CPU owns / prepares data</a:t>
            </a:r>
            <a:endParaRPr b="0" i="0" sz="1150" u="none" cap="none" strike="noStrike">
              <a:solidFill>
                <a:schemeClr val="dk1"/>
              </a:solidFill>
              <a:latin typeface="Arial"/>
              <a:ea typeface="Arial"/>
              <a:cs typeface="Arial"/>
              <a:sym typeface="Arial"/>
            </a:endParaRPr>
          </a:p>
        </p:txBody>
      </p:sp>
      <p:sp>
        <p:nvSpPr>
          <p:cNvPr id="785" name="Google Shape;785;p21"/>
          <p:cNvSpPr/>
          <p:nvPr/>
        </p:nvSpPr>
        <p:spPr>
          <a:xfrm>
            <a:off x="5074920" y="5102352"/>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230"/>
              <a:buFont typeface="Arial"/>
              <a:buNone/>
            </a:pPr>
            <a:r>
              <a:rPr b="1" i="0" lang="en-US" sz="1230" u="none" cap="none" strike="noStrike">
                <a:solidFill>
                  <a:srgbClr val="173E62"/>
                </a:solidFill>
                <a:latin typeface="Arial"/>
                <a:ea typeface="Arial"/>
                <a:cs typeface="Arial"/>
                <a:sym typeface="Arial"/>
              </a:rPr>
              <a:t>Host</a:t>
            </a:r>
            <a:endParaRPr b="0" i="0" sz="1230" u="none" cap="none" strike="noStrike">
              <a:solidFill>
                <a:schemeClr val="dk1"/>
              </a:solidFill>
              <a:latin typeface="Arial"/>
              <a:ea typeface="Arial"/>
              <a:cs typeface="Arial"/>
              <a:sym typeface="Arial"/>
            </a:endParaRPr>
          </a:p>
        </p:txBody>
      </p:sp>
      <p:sp>
        <p:nvSpPr>
          <p:cNvPr id="786" name="Google Shape;786;p21"/>
          <p:cNvSpPr/>
          <p:nvPr/>
        </p:nvSpPr>
        <p:spPr>
          <a:xfrm>
            <a:off x="6263640" y="5111496"/>
            <a:ext cx="4526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130"/>
              <a:buFont typeface="Arial"/>
              <a:buNone/>
            </a:pPr>
            <a:r>
              <a:rPr b="0" i="0" lang="en-US" sz="1130" u="none" cap="none" strike="noStrike">
                <a:solidFill>
                  <a:srgbClr val="26384C"/>
                </a:solidFill>
                <a:latin typeface="Arial"/>
                <a:ea typeface="Arial"/>
                <a:cs typeface="Arial"/>
                <a:sym typeface="Arial"/>
              </a:rPr>
              <a:t>Transfer only what is needed; minimize host↔device traffic</a:t>
            </a:r>
            <a:endParaRPr b="0" i="0" sz="1130" u="none" cap="none" strike="noStrike">
              <a:solidFill>
                <a:schemeClr val="dk1"/>
              </a:solidFill>
              <a:latin typeface="Arial"/>
              <a:ea typeface="Arial"/>
              <a:cs typeface="Arial"/>
              <a:sym typeface="Arial"/>
            </a:endParaRPr>
          </a:p>
        </p:txBody>
      </p:sp>
      <p:sp>
        <p:nvSpPr>
          <p:cNvPr id="787" name="Google Shape;787;p21"/>
          <p:cNvSpPr/>
          <p:nvPr/>
        </p:nvSpPr>
        <p:spPr>
          <a:xfrm>
            <a:off x="1965960" y="5897880"/>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700"/>
              <a:buFont typeface="Arial"/>
              <a:buNone/>
            </a:pPr>
            <a:r>
              <a:rPr b="1" i="0" lang="en-US" sz="1700" u="none" cap="none" strike="noStrike">
                <a:solidFill>
                  <a:srgbClr val="173E62"/>
                </a:solidFill>
                <a:latin typeface="Arial"/>
                <a:ea typeface="Arial"/>
                <a:cs typeface="Arial"/>
                <a:sym typeface="Arial"/>
              </a:rPr>
              <a:t>Think “closest appropriate memory + maximum useful reuse.”</a:t>
            </a:r>
            <a:endParaRPr b="0" i="0" sz="1700" u="none" cap="none" strike="noStrike">
              <a:solidFill>
                <a:schemeClr val="dk1"/>
              </a:solidFill>
              <a:latin typeface="Arial"/>
              <a:ea typeface="Arial"/>
              <a:cs typeface="Arial"/>
              <a:sym typeface="Arial"/>
            </a:endParaRPr>
          </a:p>
        </p:txBody>
      </p:sp>
      <p:sp>
        <p:nvSpPr>
          <p:cNvPr id="788" name="Google Shape;788;p21"/>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789" name="Google Shape;789;p21"/>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22"/>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Data Locality: Move Data Less, Reuse It More</a:t>
            </a:r>
            <a:endParaRPr b="0" i="0" sz="2500" u="none" cap="none" strike="noStrike">
              <a:solidFill>
                <a:schemeClr val="dk1"/>
              </a:solidFill>
              <a:latin typeface="Arial"/>
              <a:ea typeface="Arial"/>
              <a:cs typeface="Arial"/>
              <a:sym typeface="Arial"/>
            </a:endParaRPr>
          </a:p>
        </p:txBody>
      </p:sp>
      <p:sp>
        <p:nvSpPr>
          <p:cNvPr id="796" name="Google Shape;796;p22"/>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GPU arithmetic is cheap compared with repeatedly moving the same data from high-latency memory.</a:t>
            </a:r>
            <a:endParaRPr b="0" i="0" sz="1150" u="none" cap="none" strike="noStrike">
              <a:solidFill>
                <a:schemeClr val="dk1"/>
              </a:solidFill>
              <a:latin typeface="Arial"/>
              <a:ea typeface="Arial"/>
              <a:cs typeface="Arial"/>
              <a:sym typeface="Arial"/>
            </a:endParaRPr>
          </a:p>
        </p:txBody>
      </p:sp>
      <p:sp>
        <p:nvSpPr>
          <p:cNvPr id="797" name="Google Shape;797;p22"/>
          <p:cNvSpPr/>
          <p:nvPr/>
        </p:nvSpPr>
        <p:spPr>
          <a:xfrm>
            <a:off x="731520" y="1371600"/>
            <a:ext cx="3246120" cy="3474720"/>
          </a:xfrm>
          <a:prstGeom prst="roundRect">
            <a:avLst>
              <a:gd fmla="val 2254"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2"/>
          <p:cNvSpPr/>
          <p:nvPr/>
        </p:nvSpPr>
        <p:spPr>
          <a:xfrm>
            <a:off x="731520" y="1371600"/>
            <a:ext cx="73152" cy="347472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1051560" y="1691640"/>
            <a:ext cx="2468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Spatial locality</a:t>
            </a:r>
            <a:endParaRPr b="0" i="0" sz="1800" u="none" cap="none" strike="noStrike">
              <a:solidFill>
                <a:schemeClr val="dk1"/>
              </a:solidFill>
              <a:latin typeface="Arial"/>
              <a:ea typeface="Arial"/>
              <a:cs typeface="Arial"/>
              <a:sym typeface="Arial"/>
            </a:endParaRPr>
          </a:p>
        </p:txBody>
      </p:sp>
      <p:sp>
        <p:nvSpPr>
          <p:cNvPr id="800" name="Google Shape;800;p22"/>
          <p:cNvSpPr/>
          <p:nvPr/>
        </p:nvSpPr>
        <p:spPr>
          <a:xfrm>
            <a:off x="1051560" y="2331720"/>
            <a:ext cx="246888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Neighboring threads access neighboring addresses.</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 better coalescing</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 fewer memory transactions</a:t>
            </a:r>
            <a:endParaRPr b="0" i="0" sz="1400" u="none" cap="none" strike="noStrike">
              <a:solidFill>
                <a:schemeClr val="dk1"/>
              </a:solidFill>
              <a:latin typeface="Arial"/>
              <a:ea typeface="Arial"/>
              <a:cs typeface="Arial"/>
              <a:sym typeface="Arial"/>
            </a:endParaRPr>
          </a:p>
        </p:txBody>
      </p:sp>
      <p:sp>
        <p:nvSpPr>
          <p:cNvPr id="801" name="Google Shape;801;p22"/>
          <p:cNvSpPr/>
          <p:nvPr/>
        </p:nvSpPr>
        <p:spPr>
          <a:xfrm>
            <a:off x="4480560" y="1371600"/>
            <a:ext cx="3246120" cy="3474720"/>
          </a:xfrm>
          <a:prstGeom prst="roundRect">
            <a:avLst>
              <a:gd fmla="val 2254"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2"/>
          <p:cNvSpPr/>
          <p:nvPr/>
        </p:nvSpPr>
        <p:spPr>
          <a:xfrm>
            <a:off x="4480560" y="1371600"/>
            <a:ext cx="73152" cy="347472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2"/>
          <p:cNvSpPr/>
          <p:nvPr/>
        </p:nvSpPr>
        <p:spPr>
          <a:xfrm>
            <a:off x="4754880" y="1691640"/>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Temporal / reuse locality</a:t>
            </a:r>
            <a:endParaRPr b="0" i="0" sz="1800" u="none" cap="none" strike="noStrike">
              <a:solidFill>
                <a:schemeClr val="dk1"/>
              </a:solidFill>
              <a:latin typeface="Arial"/>
              <a:ea typeface="Arial"/>
              <a:cs typeface="Arial"/>
              <a:sym typeface="Arial"/>
            </a:endParaRPr>
          </a:p>
        </p:txBody>
      </p:sp>
      <p:sp>
        <p:nvSpPr>
          <p:cNvPr id="804" name="Google Shape;804;p22"/>
          <p:cNvSpPr/>
          <p:nvPr/>
        </p:nvSpPr>
        <p:spPr>
          <a:xfrm>
            <a:off x="4754880" y="2331720"/>
            <a:ext cx="269748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A block loads data once and uses it many times.</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 registers/shared memory</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 amortize global-memory cost</a:t>
            </a:r>
            <a:endParaRPr b="0" i="0" sz="1400" u="none" cap="none" strike="noStrike">
              <a:solidFill>
                <a:schemeClr val="dk1"/>
              </a:solidFill>
              <a:latin typeface="Arial"/>
              <a:ea typeface="Arial"/>
              <a:cs typeface="Arial"/>
              <a:sym typeface="Arial"/>
            </a:endParaRPr>
          </a:p>
        </p:txBody>
      </p:sp>
      <p:sp>
        <p:nvSpPr>
          <p:cNvPr id="805" name="Google Shape;805;p22"/>
          <p:cNvSpPr/>
          <p:nvPr/>
        </p:nvSpPr>
        <p:spPr>
          <a:xfrm>
            <a:off x="8229600" y="1371600"/>
            <a:ext cx="3246120" cy="3474720"/>
          </a:xfrm>
          <a:prstGeom prst="roundRect">
            <a:avLst>
              <a:gd fmla="val 2254"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2"/>
          <p:cNvSpPr/>
          <p:nvPr/>
        </p:nvSpPr>
        <p:spPr>
          <a:xfrm>
            <a:off x="8229600" y="1371600"/>
            <a:ext cx="73152" cy="3474720"/>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2"/>
          <p:cNvSpPr/>
          <p:nvPr/>
        </p:nvSpPr>
        <p:spPr>
          <a:xfrm>
            <a:off x="8549640" y="1691640"/>
            <a:ext cx="2606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Transfer locality</a:t>
            </a:r>
            <a:endParaRPr b="0" i="0" sz="1800" u="none" cap="none" strike="noStrike">
              <a:solidFill>
                <a:schemeClr val="dk1"/>
              </a:solidFill>
              <a:latin typeface="Arial"/>
              <a:ea typeface="Arial"/>
              <a:cs typeface="Arial"/>
              <a:sym typeface="Arial"/>
            </a:endParaRPr>
          </a:p>
        </p:txBody>
      </p:sp>
      <p:sp>
        <p:nvSpPr>
          <p:cNvPr id="808" name="Google Shape;808;p22"/>
          <p:cNvSpPr/>
          <p:nvPr/>
        </p:nvSpPr>
        <p:spPr>
          <a:xfrm>
            <a:off x="8549640" y="2331720"/>
            <a:ext cx="26060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Keep data on the device across multiple kernels when practical.</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6384C"/>
              </a:buClr>
              <a:buSzPts val="1400"/>
              <a:buFont typeface="Arial"/>
              <a:buNone/>
            </a:pPr>
            <a:r>
              <a:rPr b="0" i="0" lang="en-US" sz="1400" u="none" cap="none" strike="noStrike">
                <a:solidFill>
                  <a:srgbClr val="26384C"/>
                </a:solidFill>
                <a:latin typeface="Arial"/>
                <a:ea typeface="Arial"/>
                <a:cs typeface="Arial"/>
                <a:sym typeface="Arial"/>
              </a:rPr>
              <a:t>→ avoid unnecessary host↔device copies</a:t>
            </a:r>
            <a:endParaRPr b="0" i="0" sz="1400" u="none" cap="none" strike="noStrike">
              <a:solidFill>
                <a:schemeClr val="dk1"/>
              </a:solidFill>
              <a:latin typeface="Arial"/>
              <a:ea typeface="Arial"/>
              <a:cs typeface="Arial"/>
              <a:sym typeface="Arial"/>
            </a:endParaRPr>
          </a:p>
        </p:txBody>
      </p:sp>
      <p:sp>
        <p:nvSpPr>
          <p:cNvPr id="809" name="Google Shape;809;p22"/>
          <p:cNvSpPr/>
          <p:nvPr/>
        </p:nvSpPr>
        <p:spPr>
          <a:xfrm>
            <a:off x="6629400" y="6245352"/>
            <a:ext cx="50292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796A8"/>
              </a:buClr>
              <a:buSzPts val="680"/>
              <a:buFont typeface="Arial"/>
              <a:buNone/>
            </a:pPr>
            <a:r>
              <a:rPr b="0" i="0" lang="en-US" sz="680" u="none" cap="none" strike="noStrike">
                <a:solidFill>
                  <a:srgbClr val="8796A8"/>
                </a:solidFill>
                <a:latin typeface="Arial"/>
                <a:ea typeface="Arial"/>
                <a:cs typeface="Arial"/>
                <a:sym typeface="Arial"/>
              </a:rPr>
              <a:t>NVIDIA CUDA Programming Guide / CUDA C++ Best Practices Guide</a:t>
            </a:r>
            <a:endParaRPr b="0" i="0" sz="680" u="none" cap="none" strike="noStrike">
              <a:solidFill>
                <a:schemeClr val="dk1"/>
              </a:solidFill>
              <a:latin typeface="Arial"/>
              <a:ea typeface="Arial"/>
              <a:cs typeface="Arial"/>
              <a:sym typeface="Arial"/>
            </a:endParaRPr>
          </a:p>
        </p:txBody>
      </p:sp>
      <p:sp>
        <p:nvSpPr>
          <p:cNvPr id="810" name="Google Shape;810;p22"/>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24"/>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In-Class Diagnosis: What Is the Likely Problem?</a:t>
            </a:r>
            <a:endParaRPr b="0" i="0" sz="2500" u="none" cap="none" strike="noStrike">
              <a:solidFill>
                <a:schemeClr val="dk1"/>
              </a:solidFill>
              <a:latin typeface="Arial"/>
              <a:ea typeface="Arial"/>
              <a:cs typeface="Arial"/>
              <a:sym typeface="Arial"/>
            </a:endParaRPr>
          </a:p>
        </p:txBody>
      </p:sp>
      <p:sp>
        <p:nvSpPr>
          <p:cNvPr id="817" name="Google Shape;817;p24"/>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Use the concepts from today to reason about performance symptoms.</a:t>
            </a:r>
            <a:endParaRPr b="0" i="0" sz="1150" u="none" cap="none" strike="noStrike">
              <a:solidFill>
                <a:schemeClr val="dk1"/>
              </a:solidFill>
              <a:latin typeface="Arial"/>
              <a:ea typeface="Arial"/>
              <a:cs typeface="Arial"/>
              <a:sym typeface="Arial"/>
            </a:endParaRPr>
          </a:p>
        </p:txBody>
      </p:sp>
      <p:sp>
        <p:nvSpPr>
          <p:cNvPr id="818" name="Google Shape;818;p24"/>
          <p:cNvSpPr/>
          <p:nvPr/>
        </p:nvSpPr>
        <p:spPr>
          <a:xfrm>
            <a:off x="685800" y="1234440"/>
            <a:ext cx="107442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4"/>
          <p:cNvSpPr/>
          <p:nvPr/>
        </p:nvSpPr>
        <p:spPr>
          <a:xfrm>
            <a:off x="685800" y="1234440"/>
            <a:ext cx="73152" cy="658368"/>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4"/>
          <p:cNvSpPr/>
          <p:nvPr/>
        </p:nvSpPr>
        <p:spPr>
          <a:xfrm>
            <a:off x="960120" y="1371600"/>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1. A warp has half its lanes in each side of a long if/else.</a:t>
            </a:r>
            <a:endParaRPr b="0" i="0" sz="1250" u="none" cap="none" strike="noStrike">
              <a:solidFill>
                <a:schemeClr val="dk1"/>
              </a:solidFill>
              <a:latin typeface="Arial"/>
              <a:ea typeface="Arial"/>
              <a:cs typeface="Arial"/>
              <a:sym typeface="Arial"/>
            </a:endParaRPr>
          </a:p>
        </p:txBody>
      </p:sp>
      <p:sp>
        <p:nvSpPr>
          <p:cNvPr id="821" name="Google Shape;821;p24"/>
          <p:cNvSpPr/>
          <p:nvPr/>
        </p:nvSpPr>
        <p:spPr>
          <a:xfrm>
            <a:off x="8046720" y="1371600"/>
            <a:ext cx="2834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483B"/>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22" name="Google Shape;822;p24"/>
          <p:cNvSpPr/>
          <p:nvPr/>
        </p:nvSpPr>
        <p:spPr>
          <a:xfrm>
            <a:off x="685800" y="2103120"/>
            <a:ext cx="107442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4"/>
          <p:cNvSpPr/>
          <p:nvPr/>
        </p:nvSpPr>
        <p:spPr>
          <a:xfrm>
            <a:off x="685800" y="2103120"/>
            <a:ext cx="73152" cy="658368"/>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4"/>
          <p:cNvSpPr/>
          <p:nvPr/>
        </p:nvSpPr>
        <p:spPr>
          <a:xfrm>
            <a:off x="960120" y="2240280"/>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2. A kernel launches enough blocks, but each block allocates huge shared memory.</a:t>
            </a:r>
            <a:endParaRPr b="0" i="0" sz="1250" u="none" cap="none" strike="noStrike">
              <a:solidFill>
                <a:schemeClr val="dk1"/>
              </a:solidFill>
              <a:latin typeface="Arial"/>
              <a:ea typeface="Arial"/>
              <a:cs typeface="Arial"/>
              <a:sym typeface="Arial"/>
            </a:endParaRPr>
          </a:p>
        </p:txBody>
      </p:sp>
      <p:sp>
        <p:nvSpPr>
          <p:cNvPr id="825" name="Google Shape;825;p24"/>
          <p:cNvSpPr/>
          <p:nvPr/>
        </p:nvSpPr>
        <p:spPr>
          <a:xfrm>
            <a:off x="8046720" y="2240280"/>
            <a:ext cx="2834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7A12"/>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26" name="Google Shape;826;p24"/>
          <p:cNvSpPr/>
          <p:nvPr/>
        </p:nvSpPr>
        <p:spPr>
          <a:xfrm>
            <a:off x="685800" y="2971800"/>
            <a:ext cx="107442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685800" y="2971800"/>
            <a:ext cx="73152" cy="658368"/>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960120" y="3108960"/>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3. Threads T0,T1,T2,… access A[0],A[64],A[128],…</a:t>
            </a:r>
            <a:endParaRPr b="0" i="0" sz="1250" u="none" cap="none" strike="noStrike">
              <a:solidFill>
                <a:schemeClr val="dk1"/>
              </a:solidFill>
              <a:latin typeface="Arial"/>
              <a:ea typeface="Arial"/>
              <a:cs typeface="Arial"/>
              <a:sym typeface="Arial"/>
            </a:endParaRPr>
          </a:p>
        </p:txBody>
      </p:sp>
      <p:sp>
        <p:nvSpPr>
          <p:cNvPr id="829" name="Google Shape;829;p24"/>
          <p:cNvSpPr/>
          <p:nvPr/>
        </p:nvSpPr>
        <p:spPr>
          <a:xfrm>
            <a:off x="8046720" y="3108960"/>
            <a:ext cx="2834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A5"/>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30" name="Google Shape;830;p24"/>
          <p:cNvSpPr/>
          <p:nvPr/>
        </p:nvSpPr>
        <p:spPr>
          <a:xfrm>
            <a:off x="685800" y="3840480"/>
            <a:ext cx="107442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4"/>
          <p:cNvSpPr/>
          <p:nvPr/>
        </p:nvSpPr>
        <p:spPr>
          <a:xfrm>
            <a:off x="685800" y="3840480"/>
            <a:ext cx="73152" cy="658368"/>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960120" y="3977640"/>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4. A warp waits on global memory while several other resident warps are ready.</a:t>
            </a:r>
            <a:endParaRPr b="0" i="0" sz="1250" u="none" cap="none" strike="noStrike">
              <a:solidFill>
                <a:schemeClr val="dk1"/>
              </a:solidFill>
              <a:latin typeface="Arial"/>
              <a:ea typeface="Arial"/>
              <a:cs typeface="Arial"/>
              <a:sym typeface="Arial"/>
            </a:endParaRPr>
          </a:p>
        </p:txBody>
      </p:sp>
      <p:sp>
        <p:nvSpPr>
          <p:cNvPr id="833" name="Google Shape;833;p24"/>
          <p:cNvSpPr/>
          <p:nvPr/>
        </p:nvSpPr>
        <p:spPr>
          <a:xfrm>
            <a:off x="8046720" y="3977640"/>
            <a:ext cx="2834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34" name="Google Shape;834;p24"/>
          <p:cNvSpPr/>
          <p:nvPr/>
        </p:nvSpPr>
        <p:spPr>
          <a:xfrm>
            <a:off x="685800" y="4709160"/>
            <a:ext cx="107442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4"/>
          <p:cNvSpPr/>
          <p:nvPr/>
        </p:nvSpPr>
        <p:spPr>
          <a:xfrm>
            <a:off x="685800" y="4709160"/>
            <a:ext cx="73152" cy="658368"/>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4"/>
          <p:cNvSpPr/>
          <p:nvPr/>
        </p:nvSpPr>
        <p:spPr>
          <a:xfrm>
            <a:off x="960120" y="4846320"/>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5. A private thread variable spills because register demand is high.</a:t>
            </a:r>
            <a:endParaRPr b="0" i="0" sz="1250" u="none" cap="none" strike="noStrike">
              <a:solidFill>
                <a:schemeClr val="dk1"/>
              </a:solidFill>
              <a:latin typeface="Arial"/>
              <a:ea typeface="Arial"/>
              <a:cs typeface="Arial"/>
              <a:sym typeface="Arial"/>
            </a:endParaRPr>
          </a:p>
        </p:txBody>
      </p:sp>
      <p:sp>
        <p:nvSpPr>
          <p:cNvPr id="837" name="Google Shape;837;p24"/>
          <p:cNvSpPr/>
          <p:nvPr/>
        </p:nvSpPr>
        <p:spPr>
          <a:xfrm>
            <a:off x="8046720" y="4846320"/>
            <a:ext cx="2834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93A3"/>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38" name="Google Shape;838;p24"/>
          <p:cNvSpPr/>
          <p:nvPr/>
        </p:nvSpPr>
        <p:spPr>
          <a:xfrm>
            <a:off x="1828800" y="5760720"/>
            <a:ext cx="8412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E62"/>
              </a:buClr>
              <a:buSzPts val="1600"/>
              <a:buFont typeface="Arial"/>
              <a:buNone/>
            </a:pPr>
            <a:r>
              <a:rPr b="1" i="0" lang="en-US" sz="1600" u="none" cap="none" strike="noStrike">
                <a:solidFill>
                  <a:srgbClr val="173E62"/>
                </a:solidFill>
                <a:latin typeface="Arial"/>
                <a:ea typeface="Arial"/>
                <a:cs typeface="Arial"/>
                <a:sym typeface="Arial"/>
              </a:rPr>
              <a:t>Ask students to identify the mechanism first, then propose one possible fix.</a:t>
            </a:r>
            <a:endParaRPr b="0" i="0" sz="1600" u="none" cap="none" strike="noStrike">
              <a:solidFill>
                <a:schemeClr val="dk1"/>
              </a:solidFill>
              <a:latin typeface="Arial"/>
              <a:ea typeface="Arial"/>
              <a:cs typeface="Arial"/>
              <a:sym typeface="Arial"/>
            </a:endParaRPr>
          </a:p>
        </p:txBody>
      </p:sp>
      <p:sp>
        <p:nvSpPr>
          <p:cNvPr id="839" name="Google Shape;839;p24"/>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25"/>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Takeaways</a:t>
            </a:r>
            <a:endParaRPr b="0" i="0" sz="2500" u="none" cap="none" strike="noStrike">
              <a:solidFill>
                <a:schemeClr val="dk1"/>
              </a:solidFill>
              <a:latin typeface="Arial"/>
              <a:ea typeface="Arial"/>
              <a:cs typeface="Arial"/>
              <a:sym typeface="Arial"/>
            </a:endParaRPr>
          </a:p>
        </p:txBody>
      </p:sp>
      <p:sp>
        <p:nvSpPr>
          <p:cNvPr id="846" name="Google Shape;846;p25"/>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A useful mental checklist for future CUDA kernels.</a:t>
            </a:r>
            <a:endParaRPr b="0" i="0" sz="1150" u="none" cap="none" strike="noStrike">
              <a:solidFill>
                <a:schemeClr val="dk1"/>
              </a:solidFill>
              <a:latin typeface="Arial"/>
              <a:ea typeface="Arial"/>
              <a:cs typeface="Arial"/>
              <a:sym typeface="Arial"/>
            </a:endParaRPr>
          </a:p>
        </p:txBody>
      </p:sp>
      <p:sp>
        <p:nvSpPr>
          <p:cNvPr id="847" name="Google Shape;847;p25"/>
          <p:cNvSpPr/>
          <p:nvPr/>
        </p:nvSpPr>
        <p:spPr>
          <a:xfrm>
            <a:off x="822960" y="1188720"/>
            <a:ext cx="105156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5"/>
          <p:cNvSpPr/>
          <p:nvPr/>
        </p:nvSpPr>
        <p:spPr>
          <a:xfrm>
            <a:off x="822960" y="1188720"/>
            <a:ext cx="73152" cy="658368"/>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5"/>
          <p:cNvSpPr/>
          <p:nvPr/>
        </p:nvSpPr>
        <p:spPr>
          <a:xfrm>
            <a:off x="1097280" y="132588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50"/>
              <a:buFont typeface="Arial"/>
              <a:buNone/>
            </a:pPr>
            <a:r>
              <a:rPr b="1" i="0" lang="en-US" sz="1450" u="none" cap="none" strike="noStrike">
                <a:solidFill>
                  <a:srgbClr val="173E62"/>
                </a:solidFill>
                <a:latin typeface="Arial"/>
                <a:ea typeface="Arial"/>
                <a:cs typeface="Arial"/>
                <a:sym typeface="Arial"/>
              </a:rPr>
              <a:t>Scheduling</a:t>
            </a:r>
            <a:endParaRPr b="0" i="0" sz="1450" u="none" cap="none" strike="noStrike">
              <a:solidFill>
                <a:schemeClr val="dk1"/>
              </a:solidFill>
              <a:latin typeface="Arial"/>
              <a:ea typeface="Arial"/>
              <a:cs typeface="Arial"/>
              <a:sym typeface="Arial"/>
            </a:endParaRPr>
          </a:p>
        </p:txBody>
      </p:sp>
      <p:sp>
        <p:nvSpPr>
          <p:cNvPr id="850" name="Google Shape;850;p25"/>
          <p:cNvSpPr/>
          <p:nvPr/>
        </p:nvSpPr>
        <p:spPr>
          <a:xfrm>
            <a:off x="2697480" y="1325880"/>
            <a:ext cx="7955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Do I have enough blocks/warps resident to keep SMs busy?</a:t>
            </a:r>
            <a:endParaRPr b="0" i="0" sz="1250" u="none" cap="none" strike="noStrike">
              <a:solidFill>
                <a:schemeClr val="dk1"/>
              </a:solidFill>
              <a:latin typeface="Arial"/>
              <a:ea typeface="Arial"/>
              <a:cs typeface="Arial"/>
              <a:sym typeface="Arial"/>
            </a:endParaRPr>
          </a:p>
        </p:txBody>
      </p:sp>
      <p:sp>
        <p:nvSpPr>
          <p:cNvPr id="851" name="Google Shape;851;p25"/>
          <p:cNvSpPr/>
          <p:nvPr/>
        </p:nvSpPr>
        <p:spPr>
          <a:xfrm>
            <a:off x="822960" y="2057400"/>
            <a:ext cx="105156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5"/>
          <p:cNvSpPr/>
          <p:nvPr/>
        </p:nvSpPr>
        <p:spPr>
          <a:xfrm>
            <a:off x="822960" y="2057400"/>
            <a:ext cx="73152" cy="658368"/>
          </a:xfrm>
          <a:prstGeom prst="rect">
            <a:avLst/>
          </a:prstGeom>
          <a:solidFill>
            <a:srgbClr val="D4483B"/>
          </a:solidFill>
          <a:ln cap="flat" cmpd="sng" w="12700">
            <a:solidFill>
              <a:srgbClr val="D448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5"/>
          <p:cNvSpPr/>
          <p:nvPr/>
        </p:nvSpPr>
        <p:spPr>
          <a:xfrm>
            <a:off x="1097280" y="219456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50"/>
              <a:buFont typeface="Arial"/>
              <a:buNone/>
            </a:pPr>
            <a:r>
              <a:rPr b="1" i="0" lang="en-US" sz="1450" u="none" cap="none" strike="noStrike">
                <a:solidFill>
                  <a:srgbClr val="173E62"/>
                </a:solidFill>
                <a:latin typeface="Arial"/>
                <a:ea typeface="Arial"/>
                <a:cs typeface="Arial"/>
                <a:sym typeface="Arial"/>
              </a:rPr>
              <a:t>Control flow</a:t>
            </a:r>
            <a:endParaRPr b="0" i="0" sz="1450" u="none" cap="none" strike="noStrike">
              <a:solidFill>
                <a:schemeClr val="dk1"/>
              </a:solidFill>
              <a:latin typeface="Arial"/>
              <a:ea typeface="Arial"/>
              <a:cs typeface="Arial"/>
              <a:sym typeface="Arial"/>
            </a:endParaRPr>
          </a:p>
        </p:txBody>
      </p:sp>
      <p:sp>
        <p:nvSpPr>
          <p:cNvPr id="854" name="Google Shape;854;p25"/>
          <p:cNvSpPr/>
          <p:nvPr/>
        </p:nvSpPr>
        <p:spPr>
          <a:xfrm>
            <a:off x="2697480" y="2194560"/>
            <a:ext cx="7955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Do threads within each warp mostly follow the same path?</a:t>
            </a:r>
            <a:endParaRPr b="0" i="0" sz="1250" u="none" cap="none" strike="noStrike">
              <a:solidFill>
                <a:schemeClr val="dk1"/>
              </a:solidFill>
              <a:latin typeface="Arial"/>
              <a:ea typeface="Arial"/>
              <a:cs typeface="Arial"/>
              <a:sym typeface="Arial"/>
            </a:endParaRPr>
          </a:p>
        </p:txBody>
      </p:sp>
      <p:sp>
        <p:nvSpPr>
          <p:cNvPr id="855" name="Google Shape;855;p25"/>
          <p:cNvSpPr/>
          <p:nvPr/>
        </p:nvSpPr>
        <p:spPr>
          <a:xfrm>
            <a:off x="822960" y="2926080"/>
            <a:ext cx="105156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5"/>
          <p:cNvSpPr/>
          <p:nvPr/>
        </p:nvSpPr>
        <p:spPr>
          <a:xfrm>
            <a:off x="822960" y="2926080"/>
            <a:ext cx="73152" cy="658368"/>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p:nvPr/>
        </p:nvSpPr>
        <p:spPr>
          <a:xfrm>
            <a:off x="1097280" y="306324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50"/>
              <a:buFont typeface="Arial"/>
              <a:buNone/>
            </a:pPr>
            <a:r>
              <a:rPr b="1" i="0" lang="en-US" sz="1450" u="none" cap="none" strike="noStrike">
                <a:solidFill>
                  <a:srgbClr val="173E62"/>
                </a:solidFill>
                <a:latin typeface="Arial"/>
                <a:ea typeface="Arial"/>
                <a:cs typeface="Arial"/>
                <a:sym typeface="Arial"/>
              </a:rPr>
              <a:t>Latency</a:t>
            </a:r>
            <a:endParaRPr b="0" i="0" sz="1450" u="none" cap="none" strike="noStrike">
              <a:solidFill>
                <a:schemeClr val="dk1"/>
              </a:solidFill>
              <a:latin typeface="Arial"/>
              <a:ea typeface="Arial"/>
              <a:cs typeface="Arial"/>
              <a:sym typeface="Arial"/>
            </a:endParaRPr>
          </a:p>
        </p:txBody>
      </p:sp>
      <p:sp>
        <p:nvSpPr>
          <p:cNvPr id="858" name="Google Shape;858;p25"/>
          <p:cNvSpPr/>
          <p:nvPr/>
        </p:nvSpPr>
        <p:spPr>
          <a:xfrm>
            <a:off x="2697480" y="3063240"/>
            <a:ext cx="7955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When one warp stalls, are other independent warps ready?</a:t>
            </a:r>
            <a:endParaRPr b="0" i="0" sz="1250" u="none" cap="none" strike="noStrike">
              <a:solidFill>
                <a:schemeClr val="dk1"/>
              </a:solidFill>
              <a:latin typeface="Arial"/>
              <a:ea typeface="Arial"/>
              <a:cs typeface="Arial"/>
              <a:sym typeface="Arial"/>
            </a:endParaRPr>
          </a:p>
        </p:txBody>
      </p:sp>
      <p:sp>
        <p:nvSpPr>
          <p:cNvPr id="859" name="Google Shape;859;p25"/>
          <p:cNvSpPr/>
          <p:nvPr/>
        </p:nvSpPr>
        <p:spPr>
          <a:xfrm>
            <a:off x="822960" y="3794760"/>
            <a:ext cx="105156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5"/>
          <p:cNvSpPr/>
          <p:nvPr/>
        </p:nvSpPr>
        <p:spPr>
          <a:xfrm>
            <a:off x="822960" y="3794760"/>
            <a:ext cx="73152" cy="658368"/>
          </a:xfrm>
          <a:prstGeom prst="rect">
            <a:avLst/>
          </a:prstGeom>
          <a:solidFill>
            <a:srgbClr val="C27A12"/>
          </a:solidFill>
          <a:ln cap="flat" cmpd="sng" w="12700">
            <a:solidFill>
              <a:srgbClr val="C27A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5"/>
          <p:cNvSpPr/>
          <p:nvPr/>
        </p:nvSpPr>
        <p:spPr>
          <a:xfrm>
            <a:off x="1097280" y="393192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50"/>
              <a:buFont typeface="Arial"/>
              <a:buNone/>
            </a:pPr>
            <a:r>
              <a:rPr b="1" i="0" lang="en-US" sz="1450" u="none" cap="none" strike="noStrike">
                <a:solidFill>
                  <a:srgbClr val="173E62"/>
                </a:solidFill>
                <a:latin typeface="Arial"/>
                <a:ea typeface="Arial"/>
                <a:cs typeface="Arial"/>
                <a:sym typeface="Arial"/>
              </a:rPr>
              <a:t>Memory scope</a:t>
            </a:r>
            <a:endParaRPr b="0" i="0" sz="1450" u="none" cap="none" strike="noStrike">
              <a:solidFill>
                <a:schemeClr val="dk1"/>
              </a:solidFill>
              <a:latin typeface="Arial"/>
              <a:ea typeface="Arial"/>
              <a:cs typeface="Arial"/>
              <a:sym typeface="Arial"/>
            </a:endParaRPr>
          </a:p>
        </p:txBody>
      </p:sp>
      <p:sp>
        <p:nvSpPr>
          <p:cNvPr id="862" name="Google Shape;862;p25"/>
          <p:cNvSpPr/>
          <p:nvPr/>
        </p:nvSpPr>
        <p:spPr>
          <a:xfrm>
            <a:off x="2697480" y="3931920"/>
            <a:ext cx="7955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Am I using the smallest/fastest memory space that fits the required visibility?</a:t>
            </a:r>
            <a:endParaRPr b="0" i="0" sz="1250" u="none" cap="none" strike="noStrike">
              <a:solidFill>
                <a:schemeClr val="dk1"/>
              </a:solidFill>
              <a:latin typeface="Arial"/>
              <a:ea typeface="Arial"/>
              <a:cs typeface="Arial"/>
              <a:sym typeface="Arial"/>
            </a:endParaRPr>
          </a:p>
        </p:txBody>
      </p:sp>
      <p:sp>
        <p:nvSpPr>
          <p:cNvPr id="863" name="Google Shape;863;p25"/>
          <p:cNvSpPr/>
          <p:nvPr/>
        </p:nvSpPr>
        <p:spPr>
          <a:xfrm>
            <a:off x="822960" y="4663440"/>
            <a:ext cx="10515600" cy="658368"/>
          </a:xfrm>
          <a:prstGeom prst="roundRect">
            <a:avLst>
              <a:gd fmla="val 1111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5"/>
          <p:cNvSpPr/>
          <p:nvPr/>
        </p:nvSpPr>
        <p:spPr>
          <a:xfrm>
            <a:off x="822960" y="4663440"/>
            <a:ext cx="73152" cy="658368"/>
          </a:xfrm>
          <a:prstGeom prst="rect">
            <a:avLst/>
          </a:prstGeom>
          <a:solidFill>
            <a:srgbClr val="1493A3"/>
          </a:solidFill>
          <a:ln cap="flat" cmpd="sng" w="12700">
            <a:solidFill>
              <a:srgbClr val="1493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5"/>
          <p:cNvSpPr/>
          <p:nvPr/>
        </p:nvSpPr>
        <p:spPr>
          <a:xfrm>
            <a:off x="1097280" y="480060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450"/>
              <a:buFont typeface="Arial"/>
              <a:buNone/>
            </a:pPr>
            <a:r>
              <a:rPr b="1" i="0" lang="en-US" sz="1450" u="none" cap="none" strike="noStrike">
                <a:solidFill>
                  <a:srgbClr val="173E62"/>
                </a:solidFill>
                <a:latin typeface="Arial"/>
                <a:ea typeface="Arial"/>
                <a:cs typeface="Arial"/>
                <a:sym typeface="Arial"/>
              </a:rPr>
              <a:t>Locality</a:t>
            </a:r>
            <a:endParaRPr b="0" i="0" sz="1450" u="none" cap="none" strike="noStrike">
              <a:solidFill>
                <a:schemeClr val="dk1"/>
              </a:solidFill>
              <a:latin typeface="Arial"/>
              <a:ea typeface="Arial"/>
              <a:cs typeface="Arial"/>
              <a:sym typeface="Arial"/>
            </a:endParaRPr>
          </a:p>
        </p:txBody>
      </p:sp>
      <p:sp>
        <p:nvSpPr>
          <p:cNvPr id="866" name="Google Shape;866;p25"/>
          <p:cNvSpPr/>
          <p:nvPr/>
        </p:nvSpPr>
        <p:spPr>
          <a:xfrm>
            <a:off x="2697480" y="4800600"/>
            <a:ext cx="7955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Are global accesses coalesced, and am I reusing data in registers/shared memory?</a:t>
            </a:r>
            <a:endParaRPr b="0" i="0" sz="1250" u="none" cap="none" strike="noStrike">
              <a:solidFill>
                <a:schemeClr val="dk1"/>
              </a:solidFill>
              <a:latin typeface="Arial"/>
              <a:ea typeface="Arial"/>
              <a:cs typeface="Arial"/>
              <a:sym typeface="Arial"/>
            </a:endParaRPr>
          </a:p>
        </p:txBody>
      </p:sp>
      <p:sp>
        <p:nvSpPr>
          <p:cNvPr id="867" name="Google Shape;867;p25"/>
          <p:cNvSpPr/>
          <p:nvPr/>
        </p:nvSpPr>
        <p:spPr>
          <a:xfrm>
            <a:off x="1234440" y="5715000"/>
            <a:ext cx="9692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7C300"/>
              </a:buClr>
              <a:buSzPts val="1700"/>
              <a:buFont typeface="Arial"/>
              <a:buNone/>
            </a:pPr>
            <a:r>
              <a:rPr b="1" i="0" lang="en-US" sz="1700" u="none" cap="none" strike="noStrike">
                <a:solidFill>
                  <a:srgbClr val="67C300"/>
                </a:solidFill>
                <a:latin typeface="Arial"/>
                <a:ea typeface="Arial"/>
                <a:cs typeface="Arial"/>
                <a:sym typeface="Arial"/>
              </a:rPr>
              <a:t>Next step: write CUDA kernels that are correct first — then optimize execution and memory behavior.</a:t>
            </a:r>
            <a:endParaRPr b="0" i="0" sz="1700" u="none" cap="none" strike="noStrike">
              <a:solidFill>
                <a:schemeClr val="dk1"/>
              </a:solidFill>
              <a:latin typeface="Arial"/>
              <a:ea typeface="Arial"/>
              <a:cs typeface="Arial"/>
              <a:sym typeface="Arial"/>
            </a:endParaRPr>
          </a:p>
        </p:txBody>
      </p:sp>
      <p:sp>
        <p:nvSpPr>
          <p:cNvPr id="868" name="Google Shape;868;p25"/>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26"/>
          <p:cNvSpPr/>
          <p:nvPr/>
        </p:nvSpPr>
        <p:spPr>
          <a:xfrm>
            <a:off x="502920" y="292608"/>
            <a:ext cx="11155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2500"/>
              <a:buFont typeface="Play"/>
              <a:buNone/>
            </a:pPr>
            <a:r>
              <a:rPr b="1" i="0" lang="en-US" sz="2500" u="none" cap="none" strike="noStrike">
                <a:solidFill>
                  <a:srgbClr val="173E62"/>
                </a:solidFill>
                <a:latin typeface="Play"/>
                <a:ea typeface="Play"/>
                <a:cs typeface="Play"/>
                <a:sym typeface="Play"/>
              </a:rPr>
              <a:t>References</a:t>
            </a:r>
            <a:endParaRPr b="0" i="0" sz="2500" u="none" cap="none" strike="noStrike">
              <a:solidFill>
                <a:schemeClr val="dk1"/>
              </a:solidFill>
              <a:latin typeface="Arial"/>
              <a:ea typeface="Arial"/>
              <a:cs typeface="Arial"/>
              <a:sym typeface="Arial"/>
            </a:endParaRPr>
          </a:p>
        </p:txBody>
      </p:sp>
      <p:sp>
        <p:nvSpPr>
          <p:cNvPr id="875" name="Google Shape;875;p26"/>
          <p:cNvSpPr/>
          <p:nvPr/>
        </p:nvSpPr>
        <p:spPr>
          <a:xfrm>
            <a:off x="530352" y="804672"/>
            <a:ext cx="10881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1738B"/>
              </a:buClr>
              <a:buSzPts val="1150"/>
              <a:buFont typeface="Arial"/>
              <a:buNone/>
            </a:pPr>
            <a:r>
              <a:rPr b="0" i="0" lang="en-US" sz="1150" u="none" cap="none" strike="noStrike">
                <a:solidFill>
                  <a:srgbClr val="61738B"/>
                </a:solidFill>
                <a:latin typeface="Arial"/>
                <a:ea typeface="Arial"/>
                <a:cs typeface="Arial"/>
                <a:sym typeface="Arial"/>
              </a:rPr>
              <a:t>Primary NVIDIA documentation used for the technical details in this lecture.</a:t>
            </a:r>
            <a:endParaRPr b="0" i="0" sz="1150" u="none" cap="none" strike="noStrike">
              <a:solidFill>
                <a:schemeClr val="dk1"/>
              </a:solidFill>
              <a:latin typeface="Arial"/>
              <a:ea typeface="Arial"/>
              <a:cs typeface="Arial"/>
              <a:sym typeface="Arial"/>
            </a:endParaRPr>
          </a:p>
        </p:txBody>
      </p:sp>
      <p:sp>
        <p:nvSpPr>
          <p:cNvPr id="876" name="Google Shape;876;p26"/>
          <p:cNvSpPr/>
          <p:nvPr/>
        </p:nvSpPr>
        <p:spPr>
          <a:xfrm>
            <a:off x="777240" y="1371600"/>
            <a:ext cx="10652760" cy="1417320"/>
          </a:xfrm>
          <a:prstGeom prst="roundRect">
            <a:avLst>
              <a:gd fmla="val 516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6"/>
          <p:cNvSpPr/>
          <p:nvPr/>
        </p:nvSpPr>
        <p:spPr>
          <a:xfrm>
            <a:off x="777240" y="1371600"/>
            <a:ext cx="73152" cy="1417320"/>
          </a:xfrm>
          <a:prstGeom prst="rect">
            <a:avLst/>
          </a:prstGeom>
          <a:solidFill>
            <a:srgbClr val="1F6FA5"/>
          </a:solidFill>
          <a:ln cap="flat" cmpd="sng" w="12700">
            <a:solidFill>
              <a:srgbClr val="1F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6"/>
          <p:cNvSpPr/>
          <p:nvPr/>
        </p:nvSpPr>
        <p:spPr>
          <a:xfrm>
            <a:off x="1097280" y="1645920"/>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CUDA Programming Guide</a:t>
            </a:r>
            <a:endParaRPr b="0" i="0" sz="1800" u="none" cap="none" strike="noStrike">
              <a:solidFill>
                <a:schemeClr val="dk1"/>
              </a:solidFill>
              <a:latin typeface="Arial"/>
              <a:ea typeface="Arial"/>
              <a:cs typeface="Arial"/>
              <a:sym typeface="Arial"/>
            </a:endParaRPr>
          </a:p>
        </p:txBody>
      </p:sp>
      <p:sp>
        <p:nvSpPr>
          <p:cNvPr id="879" name="Google Shape;879;p26"/>
          <p:cNvSpPr/>
          <p:nvPr/>
        </p:nvSpPr>
        <p:spPr>
          <a:xfrm>
            <a:off x="1097280" y="2148840"/>
            <a:ext cx="9509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Programming model, thread-block scheduling, warps/SIMT, divergence, and memory hierarchy.</a:t>
            </a:r>
            <a:endParaRPr b="0" i="0" sz="1250" u="none" cap="none" strike="noStrike">
              <a:solidFill>
                <a:schemeClr val="dk1"/>
              </a:solidFill>
              <a:latin typeface="Arial"/>
              <a:ea typeface="Arial"/>
              <a:cs typeface="Arial"/>
              <a:sym typeface="Arial"/>
            </a:endParaRPr>
          </a:p>
        </p:txBody>
      </p:sp>
      <p:sp>
        <p:nvSpPr>
          <p:cNvPr id="880" name="Google Shape;880;p26"/>
          <p:cNvSpPr/>
          <p:nvPr/>
        </p:nvSpPr>
        <p:spPr>
          <a:xfrm>
            <a:off x="777240" y="3246120"/>
            <a:ext cx="10652760" cy="1417320"/>
          </a:xfrm>
          <a:prstGeom prst="roundRect">
            <a:avLst>
              <a:gd fmla="val 5161" name="adj"/>
            </a:avLst>
          </a:prstGeom>
          <a:solidFill>
            <a:srgbClr val="FFFFFF"/>
          </a:solidFill>
          <a:ln cap="flat" cmpd="sng" w="12700">
            <a:solidFill>
              <a:srgbClr val="C9D6E4"/>
            </a:solidFill>
            <a:prstDash val="solid"/>
            <a:round/>
            <a:headEnd len="sm" w="sm" type="none"/>
            <a:tailEnd len="sm" w="sm" type="none"/>
          </a:ln>
          <a:effectLst>
            <a:outerShdw blurRad="12700" rotWithShape="0" algn="bl" dir="2700000" dist="50800">
              <a:srgbClr val="CBD5E1">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6"/>
          <p:cNvSpPr/>
          <p:nvPr/>
        </p:nvSpPr>
        <p:spPr>
          <a:xfrm>
            <a:off x="777240" y="3246120"/>
            <a:ext cx="73152" cy="1417320"/>
          </a:xfrm>
          <a:prstGeom prst="rect">
            <a:avLst/>
          </a:prstGeom>
          <a:solidFill>
            <a:srgbClr val="67C300"/>
          </a:solidFill>
          <a:ln cap="flat" cmpd="sng" w="12700">
            <a:solidFill>
              <a:srgbClr val="67C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6"/>
          <p:cNvSpPr/>
          <p:nvPr/>
        </p:nvSpPr>
        <p:spPr>
          <a:xfrm>
            <a:off x="1097280" y="352044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E62"/>
              </a:buClr>
              <a:buSzPts val="1800"/>
              <a:buFont typeface="Arial"/>
              <a:buNone/>
            </a:pPr>
            <a:r>
              <a:rPr b="1" i="0" lang="en-US" sz="1800" u="none" cap="none" strike="noStrike">
                <a:solidFill>
                  <a:srgbClr val="173E62"/>
                </a:solidFill>
                <a:latin typeface="Arial"/>
                <a:ea typeface="Arial"/>
                <a:cs typeface="Arial"/>
                <a:sym typeface="Arial"/>
              </a:rPr>
              <a:t>CUDA C++ Best Practices Guide</a:t>
            </a:r>
            <a:endParaRPr b="0" i="0" sz="1800" u="none" cap="none" strike="noStrike">
              <a:solidFill>
                <a:schemeClr val="dk1"/>
              </a:solidFill>
              <a:latin typeface="Arial"/>
              <a:ea typeface="Arial"/>
              <a:cs typeface="Arial"/>
              <a:sym typeface="Arial"/>
            </a:endParaRPr>
          </a:p>
        </p:txBody>
      </p:sp>
      <p:sp>
        <p:nvSpPr>
          <p:cNvPr id="883" name="Google Shape;883;p26"/>
          <p:cNvSpPr/>
          <p:nvPr/>
        </p:nvSpPr>
        <p:spPr>
          <a:xfrm>
            <a:off x="1097280" y="4023360"/>
            <a:ext cx="9509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84C"/>
              </a:buClr>
              <a:buSzPts val="1250"/>
              <a:buFont typeface="Arial"/>
              <a:buNone/>
            </a:pPr>
            <a:r>
              <a:rPr b="0" i="0" lang="en-US" sz="1250" u="none" cap="none" strike="noStrike">
                <a:solidFill>
                  <a:srgbClr val="26384C"/>
                </a:solidFill>
                <a:latin typeface="Arial"/>
                <a:ea typeface="Arial"/>
                <a:cs typeface="Arial"/>
                <a:sym typeface="Arial"/>
              </a:rPr>
              <a:t>Occupancy, latency hiding, block-size heuristics, device-memory spaces, coalescing, and memory optimizations.</a:t>
            </a:r>
            <a:endParaRPr b="0" i="0" sz="1250" u="none" cap="none" strike="noStrike">
              <a:solidFill>
                <a:schemeClr val="dk1"/>
              </a:solidFill>
              <a:latin typeface="Arial"/>
              <a:ea typeface="Arial"/>
              <a:cs typeface="Arial"/>
              <a:sym typeface="Arial"/>
            </a:endParaRPr>
          </a:p>
        </p:txBody>
      </p:sp>
      <p:sp>
        <p:nvSpPr>
          <p:cNvPr id="884" name="Google Shape;884;p26"/>
          <p:cNvSpPr/>
          <p:nvPr/>
        </p:nvSpPr>
        <p:spPr>
          <a:xfrm>
            <a:off x="3840480" y="5349240"/>
            <a:ext cx="44805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A5"/>
              </a:buClr>
              <a:buSzPts val="1800"/>
              <a:buFont typeface="Arial"/>
              <a:buNone/>
            </a:pPr>
            <a:r>
              <a:rPr b="1" i="0" lang="en-US" sz="1800" u="none" cap="none" strike="noStrike">
                <a:solidFill>
                  <a:srgbClr val="1F6FA5"/>
                </a:solidFill>
                <a:latin typeface="Arial"/>
                <a:ea typeface="Arial"/>
                <a:cs typeface="Arial"/>
                <a:sym typeface="Arial"/>
              </a:rPr>
              <a:t>docs.nvidia.com/cuda/</a:t>
            </a:r>
            <a:endParaRPr b="0" i="0" sz="1800" u="none" cap="none" strike="noStrike">
              <a:solidFill>
                <a:schemeClr val="dk1"/>
              </a:solidFill>
              <a:latin typeface="Arial"/>
              <a:ea typeface="Arial"/>
              <a:cs typeface="Arial"/>
              <a:sym typeface="Arial"/>
            </a:endParaRPr>
          </a:p>
        </p:txBody>
      </p:sp>
      <p:sp>
        <p:nvSpPr>
          <p:cNvPr id="885" name="Google Shape;885;p26"/>
          <p:cNvSpPr txBox="1"/>
          <p:nvPr>
            <p:ph idx="4294967295" type="sldNum"/>
          </p:nvPr>
        </p:nvSpPr>
        <p:spPr>
          <a:xfrm>
            <a:off x="11649456" y="649224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750" u="none" cap="none" strike="noStrike">
                <a:solidFill>
                  <a:srgbClr val="5E7086"/>
                </a:solidFill>
                <a:latin typeface="Arial"/>
                <a:ea typeface="Arial"/>
                <a:cs typeface="Arial"/>
                <a:sym typeface="Arial"/>
              </a:rPr>
              <a:t>‹#›</a:t>
            </a:fld>
            <a:endParaRPr b="0" i="0" sz="750" u="none" cap="none" strike="noStrike">
              <a:solidFill>
                <a:srgbClr val="5E708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2026-10-05T00:23:44Z</dcterms:created>
  <dc:creator>OpenAI</dc:creator>
</cp:coreProperties>
</file>