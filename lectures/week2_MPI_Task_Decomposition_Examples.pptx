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CS455 • Intro GPU Cluster Programming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326880" y="64739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 task decomposition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170432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How Should We Divide the Work?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04672" y="2011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8F4"/>
                </a:solidFill>
              </a:rPr>
              <a:t>Thinking about MPI task decomposition before writing code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" y="27889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D0E6"/>
                </a:solidFill>
              </a:rPr>
              <a:t>Min/Max • Search • Monte Carlo • Model Training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20496E"/>
          </a:solidFill>
          <a:ln w="15240">
            <a:solidFill>
              <a:srgbClr val="5B8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251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Rank 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29000" y="40233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20496E"/>
          </a:solidFill>
          <a:ln w="15240">
            <a:solidFill>
              <a:srgbClr val="5B8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4251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Rank 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0" y="40233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20496E"/>
          </a:solidFill>
          <a:ln w="15240">
            <a:solidFill>
              <a:srgbClr val="5B8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4251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Rank 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458200" y="40233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20496E"/>
          </a:solidFill>
          <a:ln w="15240">
            <a:solidFill>
              <a:srgbClr val="5B8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42519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Rank 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440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5EDF5"/>
                </a:solidFill>
              </a:rPr>
              <a:t>The key MPI skill is not memorizing APIs — it is deciding who does what.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MPI_Send(): Ask Three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Use this same reasoning for every parallel problem.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664208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7465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6550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DIVIDE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92938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What data/work does each rank own?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39312" y="1984248"/>
            <a:ext cx="411480" cy="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60520" y="150876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6824" y="1664208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06824" y="17465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550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COMPUTE LOCALLY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2938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What can each rank do independently?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76872" y="1984248"/>
            <a:ext cx="411480" cy="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0" y="150876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44384" y="1664208"/>
            <a:ext cx="502920" cy="5029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44384" y="17465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16550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COMBINE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75320" y="192938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What small result must be communicated?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400" y="3063240"/>
            <a:ext cx="10149840" cy="2240280"/>
          </a:xfrm>
          <a:prstGeom prst="roundRect">
            <a:avLst>
              <a:gd name="adj" fmla="val 2449"/>
            </a:avLst>
          </a:prstGeom>
          <a:solidFill>
            <a:srgbClr val="F0F5FA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4015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24F"/>
                </a:solidFill>
              </a:rPr>
              <a:t>Think first. Code second.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34440" y="3886200"/>
            <a:ext cx="90525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Can the total work be split into independent pieces?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Will every process receive roughly the same amount of work?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After local computation, what information must come back to Rank 0?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Is the final communication large, or can each process return only a small summary?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1 — Find the Minimum and Maximum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Problem: Find min and max of a large array using 4 MPI processes.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7101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DIVIDE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271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Split the array into 4 equal chunks.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22402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778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9280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FF"/>
                </a:solidFill>
              </a:rPr>
              <a:t>Rank 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2176272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[ 8  3  11  6 ]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783080"/>
            <a:ext cx="22402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778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189280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8B8D"/>
                </a:solidFill>
              </a:rPr>
              <a:t>Rank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176272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[ 20  1  9  15 ]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783080"/>
            <a:ext cx="22402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89280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Rank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28232" y="2176272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[ 7  13  4  10 ]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0" y="1783080"/>
            <a:ext cx="22402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7780">
            <a:solidFill>
              <a:srgbClr val="D72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7152" y="189280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63D"/>
                </a:solidFill>
              </a:rPr>
              <a:t>Rank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17152" y="2176272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[ 5  18  2  12 ]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88036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9169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LOCAL WORK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3337560"/>
            <a:ext cx="224028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53872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min=3, max=11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566160" y="3337560"/>
            <a:ext cx="224028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9312" y="353872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min=1, max=20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55080" y="3337560"/>
            <a:ext cx="224028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353872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min=4, max=13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44000" y="3337560"/>
            <a:ext cx="224028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17152" y="353872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min=2, max=18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425196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2885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COMBINE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48840" y="42885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Each rank sends only its local min and max to Rank 0.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892808" y="4023360"/>
            <a:ext cx="4215384" cy="868680"/>
          </a:xfrm>
          <a:prstGeom prst="line">
            <a:avLst/>
          </a:prstGeom>
          <a:noFill/>
          <a:ln w="1397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681728" y="4023360"/>
            <a:ext cx="1426464" cy="868680"/>
          </a:xfrm>
          <a:prstGeom prst="line">
            <a:avLst/>
          </a:prstGeom>
          <a:noFill/>
          <a:ln w="1397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470648" y="4023360"/>
            <a:ext cx="-1362456" cy="868680"/>
          </a:xfrm>
          <a:prstGeom prst="line">
            <a:avLst/>
          </a:prstGeom>
          <a:noFill/>
          <a:ln w="1397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259568" y="4023360"/>
            <a:ext cx="-4151376" cy="868680"/>
          </a:xfrm>
          <a:prstGeom prst="line">
            <a:avLst/>
          </a:prstGeom>
          <a:noFill/>
          <a:ln w="1397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572000" y="4892040"/>
            <a:ext cx="3063240" cy="941832"/>
          </a:xfrm>
          <a:prstGeom prst="roundRect">
            <a:avLst>
              <a:gd name="adj" fmla="val 5825"/>
            </a:avLst>
          </a:prstGeom>
          <a:solidFill>
            <a:srgbClr val="FFF1F2"/>
          </a:solidFill>
          <a:ln w="19050">
            <a:solidFill>
              <a:srgbClr val="D72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506577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3D"/>
                </a:solidFill>
              </a:rPr>
              <a:t>Rank 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86400" y="5029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Global min = 1   •   Global max = 20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736592" y="548640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Key idea: do not send the whole chunk back — send the summary.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2 — Search an Array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Problem: Find value 42 in a huge array using 4 MPI processes.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7101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DIVIDE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2710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Split the search space: each rank gets a different part of the array.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22402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778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9280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FF"/>
                </a:solidFill>
              </a:rPr>
              <a:t>Rank 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2176272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[ 8  3  11  6 ]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783080"/>
            <a:ext cx="22402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778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189280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8B8D"/>
                </a:solidFill>
              </a:rPr>
              <a:t>Rank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176272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[ 20  1  42  15 ]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783080"/>
            <a:ext cx="22402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89280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Rank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28232" y="2176272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[ 7  13  4  10 ]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0" y="1783080"/>
            <a:ext cx="22402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7780">
            <a:solidFill>
              <a:srgbClr val="D72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7152" y="1892808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63D"/>
                </a:solidFill>
              </a:rPr>
              <a:t>Rank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17152" y="2176272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[ 5  42  2  12 ]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90779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9443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LOCAL WORK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3355848"/>
            <a:ext cx="224028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53872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7280"/>
                </a:solidFill>
              </a:rPr>
              <a:t>not found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566160" y="3355848"/>
            <a:ext cx="2240280" cy="658368"/>
          </a:xfrm>
          <a:prstGeom prst="roundRect">
            <a:avLst>
              <a:gd name="adj" fmla="val 6944"/>
            </a:avLst>
          </a:prstGeom>
          <a:solidFill>
            <a:srgbClr val="ECFDF5"/>
          </a:solidFill>
          <a:ln w="12700">
            <a:solidFill>
              <a:srgbClr val="86C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9312" y="353872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7D32"/>
                </a:solidFill>
              </a:rPr>
              <a:t>found at local index 2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3355848"/>
            <a:ext cx="224028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353872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7280"/>
                </a:solidFill>
              </a:rPr>
              <a:t>not found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144000" y="3355848"/>
            <a:ext cx="2240280" cy="658368"/>
          </a:xfrm>
          <a:prstGeom prst="roundRect">
            <a:avLst>
              <a:gd name="adj" fmla="val 6944"/>
            </a:avLst>
          </a:prstGeom>
          <a:solidFill>
            <a:srgbClr val="ECFDF5"/>
          </a:solidFill>
          <a:ln w="12700">
            <a:solidFill>
              <a:srgbClr val="86C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17152" y="353872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7D32"/>
                </a:solidFill>
              </a:rPr>
              <a:t>found at local index 1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31520" y="431596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3525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COMBINE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48840" y="43525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Ranks return a small result: found/not found + index.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828800" y="4892040"/>
            <a:ext cx="8549640" cy="9144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2700">
            <a:solidFill>
              <a:srgbClr val="F6C1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50749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Rank 0 combines the answers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80560" y="5029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42 occurs in Rank 1 and Rank 3 chunks → convert local indices to global indices.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03120" y="54864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7263D"/>
                </a:solidFill>
              </a:rPr>
              <a:t>Thinking question: What changes if we only need the first match?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3 — Monte Carlo Simulation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Problem: Estimate π using many random points.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807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The serial idea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1737360"/>
            <a:ext cx="292608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Generate random points in a square. Count how many fall inside the circle.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π ≈ 4 × (inside / total)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234440"/>
            <a:ext cx="132588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1632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234440"/>
            <a:ext cx="1325880" cy="1325880"/>
          </a:xfrm>
          <a:prstGeom prst="ellipse">
            <a:avLst/>
          </a:prstGeom>
          <a:solidFill>
            <a:srgbClr val="EAF0FF">
              <a:alpha val="65000"/>
            </a:srgbClr>
          </a:solidFill>
          <a:ln w="15240">
            <a:solidFill>
              <a:srgbClr val="2F6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481328"/>
            <a:ext cx="54864" cy="5486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82896" y="1737360"/>
            <a:ext cx="54864" cy="5486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30368" y="1389888"/>
            <a:ext cx="54864" cy="5486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2103120"/>
            <a:ext cx="54864" cy="54864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2240280"/>
            <a:ext cx="54864" cy="5486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2011680"/>
            <a:ext cx="54864" cy="5486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874520"/>
            <a:ext cx="54864" cy="5486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6002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Millions of independent trials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8076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This is naturally parallel because one random point does not depend on another.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29718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3127248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32095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311810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DIVIDE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339242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What data/work does each rank own?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39312" y="3447288"/>
            <a:ext cx="411480" cy="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160520" y="29718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06824" y="3127248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06824" y="32095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311810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COMPUTE LOCALLY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0" y="339242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What can each rank do independently?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976872" y="3447288"/>
            <a:ext cx="411480" cy="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98080" y="297180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44384" y="3127248"/>
            <a:ext cx="502920" cy="5029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44384" y="32095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75320" y="311810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COMBINE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75320" y="339242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What small result must be communicated?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68680" y="4297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Example: 100,000,000 trials with 4 processes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822960" y="4754880"/>
            <a:ext cx="210312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7780">
            <a:solidFill>
              <a:srgbClr val="2F6B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486460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FF"/>
                </a:solidFill>
              </a:rPr>
              <a:t>Rank 0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96112" y="514807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25M trials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0120" y="56509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19.63M inside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3474720" y="4754880"/>
            <a:ext cx="210312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7780">
            <a:solidFill>
              <a:srgbClr val="0F8B8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47872" y="486460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8B8D"/>
                </a:solidFill>
              </a:rPr>
              <a:t>Rank 1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547872" y="514807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25M trials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11880" y="56509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19.64M inside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126480" y="4754880"/>
            <a:ext cx="210312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9632" y="486460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Rank 2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99632" y="514807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25M trials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63640" y="56509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19.62M inside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778240" y="4754880"/>
            <a:ext cx="210312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7780">
            <a:solidFill>
              <a:srgbClr val="D72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51392" y="486460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63D"/>
                </a:solidFill>
              </a:rPr>
              <a:t>Rank 3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851392" y="514807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25M trials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915400" y="56509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19.63M inside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1463040" y="6016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263D"/>
                </a:solidFill>
              </a:rPr>
              <a:t>Rank 0 sums all “inside” counts and all trials → computes one final estimate of π.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4 — Model Training (Data Parallelism)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Problem: Train one model faster using multiple processes / GPUs.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7101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DIVIDE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27101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Divide the training data — not the model — across processes.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178308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EEF2FF"/>
          </a:solidFill>
          <a:ln w="12700">
            <a:solidFill>
              <a:srgbClr val="B9C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Training dataset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1,000,000 images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97480" y="2331720"/>
            <a:ext cx="45720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54680" y="178308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2F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99339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Rank 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250K images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27832" y="248716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+ same model copy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97480" y="2331720"/>
            <a:ext cx="256032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57800" y="178308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0952" y="199339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Rank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250K images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30952" y="248716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+ same model copy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97480" y="2331720"/>
            <a:ext cx="466344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60920" y="178308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34072" y="199339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Rank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250K images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34072" y="248716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+ same model copy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97480" y="2331720"/>
            <a:ext cx="676656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464040" y="178308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D72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37192" y="199339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Rank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250K images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37192" y="248716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+ same model copy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32461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2826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LOCAL WORK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48840" y="32826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Each process runs forward + backward pass on its own mini-batch and computes local gradients.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154680" y="3767328"/>
            <a:ext cx="169164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27832" y="398678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local gradient g0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257800" y="3767328"/>
            <a:ext cx="169164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0952" y="398678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local gradient g1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360920" y="3767328"/>
            <a:ext cx="169164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34072" y="398678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local gradient g2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464040" y="3767328"/>
            <a:ext cx="169164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37192" y="398678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local gradient g3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31520" y="470916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7457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COMBINE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148840" y="47457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Combine / average gradients, update the model, then give the updated model back to all processes.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995928" y="4480560"/>
            <a:ext cx="2103120" cy="7315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099048" y="4480560"/>
            <a:ext cx="0" cy="7315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202168" y="4480560"/>
            <a:ext cx="-2103120" cy="7315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305288" y="4480560"/>
            <a:ext cx="-4206240" cy="7315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681728" y="5212080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FFF1F2"/>
          </a:solidFill>
          <a:ln w="17780">
            <a:solidFill>
              <a:srgbClr val="D72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5413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7263D"/>
                </a:solidFill>
              </a:rPr>
              <a:t>Rank 0: average gradients → update model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3886200" y="60350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</a:rPr>
              <a:t>Later: MPI_Allreduce can let all ranks participate in gradient aggregation.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Pattern, Different Problems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The decomposition changes; the reasoning pattern stays the same.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828800" cy="530352"/>
          </a:xfrm>
          <a:prstGeom prst="roundRect">
            <a:avLst>
              <a:gd name="adj" fmla="val 6897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4904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1325880"/>
            <a:ext cx="2651760" cy="530352"/>
          </a:xfrm>
          <a:prstGeom prst="roundRect">
            <a:avLst>
              <a:gd name="adj" fmla="val 6897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06624" y="149047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Divide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325880"/>
            <a:ext cx="2743200" cy="530352"/>
          </a:xfrm>
          <a:prstGeom prst="roundRect">
            <a:avLst>
              <a:gd name="adj" fmla="val 6897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32704" y="149047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Compute locally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95360" y="1325880"/>
            <a:ext cx="2926080" cy="530352"/>
          </a:xfrm>
          <a:prstGeom prst="roundRect">
            <a:avLst>
              <a:gd name="adj" fmla="val 6897"/>
            </a:avLst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50224" y="1490472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Combine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1993392"/>
            <a:ext cx="18288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176272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</a:rPr>
              <a:t>Min / Max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51760" y="1993392"/>
            <a:ext cx="26517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61488" y="21762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Array elements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77840" y="1993392"/>
            <a:ext cx="2743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217627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Local min + local max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95360" y="1993392"/>
            <a:ext cx="29260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05088" y="217627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Global min + global max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2907792"/>
            <a:ext cx="1828800" cy="749808"/>
          </a:xfrm>
          <a:prstGeom prst="rect">
            <a:avLst/>
          </a:prstGeom>
          <a:solidFill>
            <a:srgbClr val="F6F8FB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090672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</a:rPr>
              <a:t>Search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51760" y="2907792"/>
            <a:ext cx="2651760" cy="749808"/>
          </a:xfrm>
          <a:prstGeom prst="rect">
            <a:avLst/>
          </a:prstGeom>
          <a:solidFill>
            <a:srgbClr val="F6F8FB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61488" y="30906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Array elements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77840" y="2907792"/>
            <a:ext cx="2743200" cy="749808"/>
          </a:xfrm>
          <a:prstGeom prst="rect">
            <a:avLst/>
          </a:prstGeom>
          <a:solidFill>
            <a:srgbClr val="F6F8FB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309067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Found? + local index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95360" y="2907792"/>
            <a:ext cx="2926080" cy="749808"/>
          </a:xfrm>
          <a:prstGeom prst="rect">
            <a:avLst/>
          </a:prstGeom>
          <a:solidFill>
            <a:srgbClr val="F6F8FB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05088" y="309067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Global match(es)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3822192"/>
            <a:ext cx="18288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005072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</a:rPr>
              <a:t>Monte Carlo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651760" y="3822192"/>
            <a:ext cx="26517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61488" y="40050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Simulation trials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577840" y="3822192"/>
            <a:ext cx="2743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400507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Local inside-count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595360" y="3822192"/>
            <a:ext cx="29260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05088" y="400507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Global estimate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4736592"/>
            <a:ext cx="1828800" cy="749808"/>
          </a:xfrm>
          <a:prstGeom prst="rect">
            <a:avLst/>
          </a:prstGeom>
          <a:solidFill>
            <a:srgbClr val="F6F8FB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4919472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</a:rPr>
              <a:t>Model Training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651760" y="4736592"/>
            <a:ext cx="2651760" cy="749808"/>
          </a:xfrm>
          <a:prstGeom prst="rect">
            <a:avLst/>
          </a:prstGeom>
          <a:solidFill>
            <a:srgbClr val="F6F8FB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61488" y="4919472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Training samples / mini-batches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577840" y="4736592"/>
            <a:ext cx="2743200" cy="749808"/>
          </a:xfrm>
          <a:prstGeom prst="rect">
            <a:avLst/>
          </a:prstGeom>
          <a:solidFill>
            <a:srgbClr val="F6F8FB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87568" y="491947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Local gradients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595360" y="4736592"/>
            <a:ext cx="2926080" cy="749808"/>
          </a:xfrm>
          <a:prstGeom prst="rect">
            <a:avLst/>
          </a:prstGeom>
          <a:solidFill>
            <a:srgbClr val="F6F8FB"/>
          </a:solidFill>
          <a:ln w="10160">
            <a:solidFill>
              <a:srgbClr val="DDE4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05088" y="491947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Updated model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14400" y="5833872"/>
            <a:ext cx="10058400" cy="475488"/>
          </a:xfrm>
          <a:prstGeom prst="roundRect">
            <a:avLst>
              <a:gd name="adj" fmla="val 9615"/>
            </a:avLst>
          </a:prstGeom>
          <a:solidFill>
            <a:srgbClr val="EEF6FF"/>
          </a:solidFill>
          <a:ln w="12700">
            <a:solidFill>
              <a:srgbClr val="C7DD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597103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</a:rPr>
              <a:t>The best parallel solution usually minimizes communication and maximizes independent local work.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Now You Decide the Decomposition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Before touching MPI code, answer these on paper.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444752"/>
            <a:ext cx="475488" cy="47548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6362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08760" y="13258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Array size = 10, processes = 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709928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How many elements should each rank receive? What happens to the remainder?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475488" cy="47548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2491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24871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Search for a value that may occur many times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871216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What should each rank return: boolean, one index, or all indices?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76732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8620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364845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Monte Carlo with 1 billion trials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4032504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Should Rank 0 generate all random points and send them, or should each rank generate its own? Why?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4928616"/>
            <a:ext cx="475488" cy="475488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474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48097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Model training with 4 GPUs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5193792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What data is local? What information must be synchronized after each mini-batch?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60533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6324F"/>
                </a:solidFill>
              </a:rPr>
              <a:t>Goal: explain the decomposition clearly enough that another student could draw the process diagram.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This Thinking Extends to MPI + CUDA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MPI divides coarse-grained work across processes; CUDA divides each process’s local work across GPU threads.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15600" cy="68580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17720" y="15727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Large Problem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80760" y="2075688"/>
            <a:ext cx="0" cy="43891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60120" y="2578608"/>
            <a:ext cx="20116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778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77063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MPI Rank 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local chunk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65960" y="3383280"/>
            <a:ext cx="0" cy="438912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0120" y="3840480"/>
            <a:ext cx="2011680" cy="109728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40050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GPU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24712" y="43159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CUDA threads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process local items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03320" y="2578608"/>
            <a:ext cx="20116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7780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277063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MPI Rank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local chunk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3383280"/>
            <a:ext cx="0" cy="438912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03320" y="3840480"/>
            <a:ext cx="2011680" cy="109728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40050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GPU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67912" y="43159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CUDA threads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process local items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2578608"/>
            <a:ext cx="20116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277063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MPI Rank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local chunk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52360" y="3383280"/>
            <a:ext cx="0" cy="438912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46520" y="3840480"/>
            <a:ext cx="2011680" cy="109728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40050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GPU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11112" y="43159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CUDA threads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process local items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89720" y="2578608"/>
            <a:ext cx="20116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7780">
            <a:solidFill>
              <a:srgbClr val="D72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62872" y="277063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MPI Rank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local chunk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195560" y="3383280"/>
            <a:ext cx="0" cy="438912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189720" y="3840480"/>
            <a:ext cx="2011680" cy="109728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40050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GPU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54312" y="43159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CUDA threads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process local items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5349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3D"/>
                </a:solidFill>
              </a:rPr>
              <a:t>Example: Model training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834640" y="53218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MPI → each rank/GPU gets a different mini-batch   •   CUDA → GPU threads execute the tensor operations inside that mini-batch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0" y="59710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6324F"/>
                </a:solidFill>
              </a:rPr>
              <a:t>The decomposition question exists at both levels.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931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For every MPI problem, be able to tell the story before writing the code.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572768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6550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56362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DIVIDE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8379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What data/work does each rank own?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39312" y="1892808"/>
            <a:ext cx="411480" cy="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60520" y="141732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6824" y="1572768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06824" y="16550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56362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COMPUTE LOCALLY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8379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What can each rank do independently?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76872" y="1892808"/>
            <a:ext cx="411480" cy="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0" y="141732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44384" y="1572768"/>
            <a:ext cx="502920" cy="5029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44384" y="16550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156362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COMBINE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75320" y="183794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What small result must be communicated?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60120" y="2971800"/>
            <a:ext cx="10058400" cy="2423160"/>
          </a:xfrm>
          <a:prstGeom prst="roundRect">
            <a:avLst>
              <a:gd name="adj" fmla="val 2264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3310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Your explanation should sound like this: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25880" y="3840480"/>
            <a:ext cx="91440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AF0F6"/>
                </a:solidFill>
              </a:rPr>
              <a:t>“We have P processes. We divide ______ into P pieces.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AF0F6"/>
                </a:solidFill>
              </a:rPr>
              <a:t>Each process independently computes ______.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AF0F6"/>
                </a:solidFill>
              </a:rPr>
              <a:t>Then the processes send ______ to Rank 0, which computes ______.”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25880" y="5074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D0E6"/>
                </a:solidFill>
              </a:rPr>
              <a:t>If you can fill in those four blanks, you understand the parallel decomposition.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55664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NJIT CS455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Should We Divide the Work?</dc:title>
  <dc:subject>CS455 - Thinking About Task Decomposition in MPI</dc:subject>
  <dc:creator>OpenAI</dc:creator>
  <cp:lastModifiedBy>OpenAI</cp:lastModifiedBy>
  <cp:revision>1</cp:revision>
  <dcterms:created xsi:type="dcterms:W3CDTF">2026-09-08T20:33:10Z</dcterms:created>
  <dcterms:modified xsi:type="dcterms:W3CDTF">2026-09-08T20:33:10Z</dcterms:modified>
</cp:coreProperties>
</file>