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CS455 • MPI Collective Communication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428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Recap: MPI_Bcast, MPI_Scatter, MPI_Gather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</a:rPr>
              <a:t>Three patterns you already know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1546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50800" dir="2700000">
              <a:srgbClr val="C8D0D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5597"/>
                </a:solidFill>
              </a:rPr>
              <a:t>MPI_Bcast()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645920" y="212140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19072" y="21945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597"/>
                </a:solidFill>
              </a:rPr>
              <a:t>1 → 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2514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One process sends the same data to everyone.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096512" y="1417320"/>
            <a:ext cx="31546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50800" dir="2700000">
              <a:srgbClr val="C8D0D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79392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5597"/>
                </a:solidFill>
              </a:rPr>
              <a:t>MPI_Scatter()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102352" y="212140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1945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597"/>
                </a:solidFill>
              </a:rPr>
              <a:t>1 → pieces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16552" y="4800600"/>
            <a:ext cx="2514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One process splits data and sends one chunk to each process.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52944" y="1417320"/>
            <a:ext cx="31546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FEA"/>
            </a:solidFill>
            <a:prstDash val="solid"/>
          </a:ln>
          <a:effectLst>
            <a:outerShdw sx="100000" sy="100000" kx="0" ky="0" algn="bl" rotWithShape="0" blurRad="12700" dist="50800" dir="2700000">
              <a:srgbClr val="C8D0D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35824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5597"/>
                </a:solidFill>
              </a:rPr>
              <a:t>MPI_Gather()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558784" y="212140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1936" y="21945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597"/>
                </a:solidFill>
              </a:rPr>
              <a:t>all →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72984" y="4800600"/>
            <a:ext cx="2514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Each process sends its local result to the root, which keeps all results.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719072" y="2816352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29443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8680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19072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69464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9464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176272" y="3328416"/>
            <a:ext cx="-822960" cy="50292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94560" y="3337560"/>
            <a:ext cx="0" cy="484632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31136" y="3328416"/>
            <a:ext cx="822960" cy="50292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93792" y="2816352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29443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43400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193792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44184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44184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650992" y="3328416"/>
            <a:ext cx="-822960" cy="502920"/>
          </a:xfrm>
          <a:prstGeom prst="line">
            <a:avLst/>
          </a:prstGeom>
          <a:noFill/>
          <a:ln w="25400">
            <a:solidFill>
              <a:srgbClr val="287C7E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669280" y="3337560"/>
            <a:ext cx="0" cy="484632"/>
          </a:xfrm>
          <a:prstGeom prst="line">
            <a:avLst/>
          </a:prstGeom>
          <a:noFill/>
          <a:ln w="25400">
            <a:solidFill>
              <a:srgbClr val="287C7E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705856" y="3328416"/>
            <a:ext cx="822960" cy="502920"/>
          </a:xfrm>
          <a:prstGeom prst="line">
            <a:avLst/>
          </a:prstGeom>
          <a:noFill/>
          <a:ln w="25400">
            <a:solidFill>
              <a:srgbClr val="287C7E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732520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582912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82912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433304" y="38404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33304" y="39684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582912" y="2816352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82912" y="29443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Root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189720" y="3822192"/>
            <a:ext cx="822960" cy="-475488"/>
          </a:xfrm>
          <a:prstGeom prst="line">
            <a:avLst/>
          </a:prstGeom>
          <a:noFill/>
          <a:ln w="25400">
            <a:solidFill>
              <a:srgbClr val="6B5CA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040112" y="3822192"/>
            <a:ext cx="0" cy="-457200"/>
          </a:xfrm>
          <a:prstGeom prst="line">
            <a:avLst/>
          </a:prstGeom>
          <a:noFill/>
          <a:ln w="25400">
            <a:solidFill>
              <a:srgbClr val="6B5CA5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890504" y="3822192"/>
            <a:ext cx="-822960" cy="-475488"/>
          </a:xfrm>
          <a:prstGeom prst="line">
            <a:avLst/>
          </a:prstGeom>
          <a:noFill/>
          <a:ln w="25400">
            <a:solidFill>
              <a:srgbClr val="6B5CA5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MPI_Reduce():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</a:rPr>
              <a:t>Combine local results into one final result at the root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Example: each process computes a local maximum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724912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20116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5176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2724912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724912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396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265176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724912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27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22219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MPI_Reduce(..., MPI_MAX, root=0)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25880" y="3127248"/>
            <a:ext cx="2423160" cy="96012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46120" y="3127248"/>
            <a:ext cx="502920" cy="96012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66360" y="3127248"/>
            <a:ext cx="-1417320" cy="96012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6600" y="3127248"/>
            <a:ext cx="-3337560" cy="96012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611880" y="4160520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4288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73168" y="4233672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306824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44"/>
                </a:solidFill>
              </a:rPr>
              <a:t>42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83B66"/>
                </a:solidFill>
              </a:rPr>
              <a:t>Root receives only the reduced result—not all individual values.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6012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70"/>
                </a:solidFill>
              </a:rPr>
              <a:t>Typical uses: sum, minimum, maximum, product, counts, partial errors/gradients.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MPI_Reduce(): API and Arguments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1083564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" y="1453896"/>
            <a:ext cx="105064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MPI_Reduce(&amp;sendbuf, &amp;recvbuf, count, datatype, op, root, communicator);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965960" cy="3657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4597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sendbuf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432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Local value(s) contributed by this process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19659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62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recvbuf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9352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Final reduced result; meaningful at the root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1965960" cy="3657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4655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4381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Number of elements contributed by each process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19659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968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datatype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9410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Type: MPI_INT, MPI_FLOAT, MPI_DOUBLE, ...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4389120"/>
            <a:ext cx="1965960" cy="3657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4714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44439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Reduction operation: MPI_SUM, MPI_MAX, MPI_MIN, ...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4892040"/>
            <a:ext cx="196596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974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17520" y="49469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Rank that receives the final result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22960" y="5394960"/>
            <a:ext cx="1965960" cy="36576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4772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communicator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17520" y="54498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</a:rPr>
              <a:t>Usually MPI_COMM_WORLD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869680" y="5870448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2832" y="5943600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791F"/>
                </a:solidFill>
              </a:rPr>
              <a:t>Collective call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MPI_Reduce(): Common Reduction Operations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2194560" cy="71323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9D9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MPI_SUM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91840" y="1527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Addition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0" y="1527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</a:rPr>
              <a:t>3 + 7 + 2 + 5 = 17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441448"/>
            <a:ext cx="2194560" cy="713232"/>
          </a:xfrm>
          <a:prstGeom prst="roundRect">
            <a:avLst/>
          </a:prstGeom>
          <a:solidFill>
            <a:srgbClr val="F2F8F7"/>
          </a:solidFill>
          <a:ln w="12700">
            <a:solidFill>
              <a:srgbClr val="BFD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24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7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MPI_MAX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91840" y="2551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Maximum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0" y="25511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</a:rPr>
              <a:t>max(3, 7, 2, 5) = 7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3465576"/>
            <a:ext cx="2194560" cy="713232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C9D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484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MPI_MIN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91840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Minimum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0" y="35753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</a:rPr>
              <a:t>min(3, 7, 2, 5) = 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4489704"/>
            <a:ext cx="2194560" cy="713232"/>
          </a:xfrm>
          <a:prstGeom prst="roundRect">
            <a:avLst/>
          </a:prstGeom>
          <a:solidFill>
            <a:srgbClr val="F2F8F7"/>
          </a:solidFill>
          <a:ln w="12700">
            <a:solidFill>
              <a:srgbClr val="BFD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672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7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MPI_PROD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291840" y="4599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Product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0" y="45994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</a:rPr>
              <a:t>3 × 7 × 2 × 5 = 210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66928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</a:rPr>
              <a:t>Also available: logical and bitwise reductions such as MPI_LAND, MPI_LOR, MPI_BAND, MPI_BOR.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MPI_Reduce(): Example — Parallel Sum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5577840" cy="42519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53896"/>
            <a:ext cx="5248656" cy="399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local_sum = ...;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global_sum = 0;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MPI_Reduce(&amp;local_sum, &amp;global_sum, 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MPI_INT, MPI_SUM, 0, MPI_COMM_WORLD);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(rank == 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printf("Total = %d\n", global_sum);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294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Suppose: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29400" y="196596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0" y="20939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29400" y="263347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2552" y="270662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196596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0939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18120" y="263347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91272" y="270662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196596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0939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06840" y="263347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9992" y="270662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95560" y="196596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5560" y="20939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95560" y="263347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68712" y="270662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MPI_SUM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823960" y="2971800"/>
            <a:ext cx="0" cy="77724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21040" y="3950208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0782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28048" y="40233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409651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44"/>
                </a:solidFill>
              </a:rPr>
              <a:t>80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4956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B66"/>
                </a:solidFill>
              </a:rPr>
              <a:t>Only P0 needs the final sum.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37960" y="5504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5B6470"/>
                </a:solidFill>
              </a:rPr>
              <a:t>Monte Carlo π: reduce each process’s “points inside circle” count with MPI_SUM.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MPI_Reduce() vs MPI_Gather()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</a:rPr>
              <a:t>Both move information toward a root, but the root receives something different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389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64208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5597"/>
                </a:solidFill>
              </a:rPr>
              <a:t>MPI_Gather()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148840" y="214884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1992" y="222199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597"/>
                </a:solidFill>
              </a:rPr>
              <a:t>Keep every local 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1389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64208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87C7E"/>
                </a:solidFill>
              </a:rPr>
              <a:t>MPI_Reduce()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635240" y="214884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F2F8F7"/>
          </a:solidFill>
          <a:ln w="12700">
            <a:solidFill>
              <a:srgbClr val="F2F8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8392" y="222199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7C7E"/>
                </a:solidFill>
              </a:rPr>
              <a:t>Combine local results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76272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76272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9424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20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55264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55264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4256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34256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34256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7408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40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43159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receives:  [10, 20, 30, 40]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983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5B6470"/>
                </a:solidFill>
              </a:rPr>
              <a:t>Root must perform any final computation itself.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583680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62672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62672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62672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35824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20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41664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41664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741664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14816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820656" y="283464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0656" y="2962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P3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820656" y="34930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93808" y="356616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40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12280" y="43159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MPI_SUM → Root receives: 100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66560" y="4983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5B6470"/>
                </a:solidFill>
              </a:rPr>
              <a:t>MPI performs the reduction as part of the collective.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1005840" y="610819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B66"/>
                </a:solidFill>
              </a:rPr>
              <a:t>Rule of thumb: need every value → Gather   |   need one aggregate → Reduce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MPI_Reduce(): Important Rules / Constraints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6132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It is a collective: every process in the communicator must participate.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All processes must agree on count, datatype, operation, root, and communicator.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recvbuf matters only at the root process (for ordinary use).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The reduction operation should be associative; MPI may combine values in a different tree/order.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Do not use Reduce when you need every process’s individual result—use Gather instead.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051560" y="5715000"/>
            <a:ext cx="10012680" cy="50292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2D7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5852160"/>
            <a:ext cx="9646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7791F"/>
                </a:solidFill>
              </a:rPr>
              <a:t>Beginner takeaway: all ranks call the same collective; only the root gets the final reduced answer.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MPI_Barrier(): Synchronizing Processes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</a:rPr>
              <a:t>No process can pass the barrier until every process reaches 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42416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</a:rPr>
              <a:t>time 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9659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2084832"/>
            <a:ext cx="9692640" cy="0"/>
          </a:xfrm>
          <a:prstGeom prst="line">
            <a:avLst/>
          </a:prstGeom>
          <a:noFill/>
          <a:ln w="15240">
            <a:solidFill>
              <a:srgbClr val="D0D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8346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2953512"/>
            <a:ext cx="9692640" cy="0"/>
          </a:xfrm>
          <a:prstGeom prst="line">
            <a:avLst/>
          </a:prstGeom>
          <a:noFill/>
          <a:ln w="15240">
            <a:solidFill>
              <a:srgbClr val="D0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703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822192"/>
            <a:ext cx="9692640" cy="0"/>
          </a:xfrm>
          <a:prstGeom prst="line">
            <a:avLst/>
          </a:prstGeom>
          <a:noFill/>
          <a:ln w="15240">
            <a:solidFill>
              <a:srgbClr val="D0D7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572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4690872"/>
            <a:ext cx="9692640" cy="0"/>
          </a:xfrm>
          <a:prstGeom prst="line">
            <a:avLst/>
          </a:prstGeom>
          <a:noFill/>
          <a:ln w="15240">
            <a:solidFill>
              <a:srgbClr val="D0D7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645920"/>
            <a:ext cx="0" cy="3657600"/>
          </a:xfrm>
          <a:prstGeom prst="line">
            <a:avLst/>
          </a:prstGeom>
          <a:noFill/>
          <a:ln w="38100">
            <a:solidFill>
              <a:srgbClr val="B449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5394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49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MPI_Barrier()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71600" y="2084832"/>
            <a:ext cx="2743200" cy="0"/>
          </a:xfrm>
          <a:prstGeom prst="line">
            <a:avLst/>
          </a:prstGeom>
          <a:noFill/>
          <a:ln w="63500">
            <a:solidFill>
              <a:srgbClr val="2F559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2084832"/>
            <a:ext cx="2377440" cy="0"/>
          </a:xfrm>
          <a:prstGeom prst="line">
            <a:avLst/>
          </a:prstGeom>
          <a:noFill/>
          <a:ln w="63500">
            <a:solidFill>
              <a:srgbClr val="AEB8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084832"/>
            <a:ext cx="3474720" cy="0"/>
          </a:xfrm>
          <a:prstGeom prst="line">
            <a:avLst/>
          </a:prstGeom>
          <a:noFill/>
          <a:ln w="63500">
            <a:solidFill>
              <a:srgbClr val="3A7D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953512"/>
            <a:ext cx="3383280" cy="0"/>
          </a:xfrm>
          <a:prstGeom prst="line">
            <a:avLst/>
          </a:prstGeom>
          <a:noFill/>
          <a:ln w="63500">
            <a:solidFill>
              <a:srgbClr val="2F559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53512"/>
            <a:ext cx="1737360" cy="0"/>
          </a:xfrm>
          <a:prstGeom prst="line">
            <a:avLst/>
          </a:prstGeom>
          <a:noFill/>
          <a:ln w="63500">
            <a:solidFill>
              <a:srgbClr val="AEB8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953512"/>
            <a:ext cx="3474720" cy="0"/>
          </a:xfrm>
          <a:prstGeom prst="line">
            <a:avLst/>
          </a:prstGeom>
          <a:noFill/>
          <a:ln w="63500">
            <a:solidFill>
              <a:srgbClr val="3A7D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3822192"/>
            <a:ext cx="4114800" cy="0"/>
          </a:xfrm>
          <a:prstGeom prst="line">
            <a:avLst/>
          </a:prstGeom>
          <a:noFill/>
          <a:ln w="63500">
            <a:solidFill>
              <a:srgbClr val="2F559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822192"/>
            <a:ext cx="1005840" cy="0"/>
          </a:xfrm>
          <a:prstGeom prst="line">
            <a:avLst/>
          </a:prstGeom>
          <a:noFill/>
          <a:ln w="63500">
            <a:solidFill>
              <a:srgbClr val="AEB8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3822192"/>
            <a:ext cx="3474720" cy="0"/>
          </a:xfrm>
          <a:prstGeom prst="line">
            <a:avLst/>
          </a:prstGeom>
          <a:noFill/>
          <a:ln w="63500">
            <a:solidFill>
              <a:srgbClr val="3A7D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4690872"/>
            <a:ext cx="4754880" cy="0"/>
          </a:xfrm>
          <a:prstGeom prst="line">
            <a:avLst/>
          </a:prstGeom>
          <a:noFill/>
          <a:ln w="63500">
            <a:solidFill>
              <a:srgbClr val="2F559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90872"/>
            <a:ext cx="365760" cy="0"/>
          </a:xfrm>
          <a:prstGeom prst="line">
            <a:avLst/>
          </a:prstGeom>
          <a:noFill/>
          <a:ln w="63500">
            <a:solidFill>
              <a:srgbClr val="AEB8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690872"/>
            <a:ext cx="3474720" cy="0"/>
          </a:xfrm>
          <a:prstGeom prst="line">
            <a:avLst/>
          </a:prstGeom>
          <a:noFill/>
          <a:ln w="63500">
            <a:solidFill>
              <a:srgbClr val="3A7D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0"/>
                </a:solidFill>
              </a:rPr>
              <a:t>wait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44"/>
                </a:solidFill>
              </a:rPr>
              <a:t>continue together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88720" y="5971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B66"/>
                </a:solidFill>
              </a:rPr>
              <a:t>Barrier transfers no application data—it only synchronizes progress.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MPI_Barrier(): API, Rules, and Use Cases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4572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" y="1408176"/>
            <a:ext cx="42428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MPI_Barrier(MPI_COMM_WORLD);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</a:rPr>
              <a:t>Argument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23042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communicator — the group of processes that must synchronize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3B66"/>
                </a:solidFill>
              </a:rPr>
              <a:t>Rules / constraints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521208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Every process in the communicator must eventually call the barrier.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A process returns only after all processes have entered that barrier.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If some rank never reaches it, the others can wait forever.</a:t>
            </a:r>
            <a:endParaRPr lang="en-US" sz="1650" dirty="0"/>
          </a:p>
          <a:p>
            <a:pPr marL="203200" indent="-203200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</a:rPr>
              <a:t>Overusing barriers can reduce parallel performance.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4652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3B66"/>
                </a:solidFill>
              </a:rPr>
              <a:t>Useful situations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19088" y="1874520"/>
            <a:ext cx="4709160" cy="9144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02082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597"/>
                </a:solidFill>
              </a:rPr>
              <a:t>Phase boundary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All ranks finish initialization before timed work begins.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19088" y="3108960"/>
            <a:ext cx="470916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255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87C7E"/>
                </a:solidFill>
              </a:rPr>
              <a:t>Timing experiments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0" y="32278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Synchronize before starting a parallel timing measurement.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19088" y="4343400"/>
            <a:ext cx="4709160" cy="9144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7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4897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5597"/>
                </a:solidFill>
              </a:rPr>
              <a:t>Step-based algorithms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0" y="44622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Ensure all ranks finish iteration k before a required global phase.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46520" y="5577840"/>
            <a:ext cx="4663440" cy="594360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E5BA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574243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44949"/>
                </a:solidFill>
              </a:rPr>
              <a:t>Do not add a barrier “just to be safe.” Use it only when synchronization is required.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B66"/>
                </a:solidFill>
              </a:rPr>
              <a:t>MPI_Scan(): Prefix Reduction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0"/>
                </a:solidFill>
              </a:rPr>
              <a:t>A short final collective: each rank gets the reduction of ranks 0 through itself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Input values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23160" y="13258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1453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99339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0665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3258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453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199339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20665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453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99339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20665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1325880"/>
            <a:ext cx="96012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1453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09560" y="199339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206654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2743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MPI_Scan(..., MPI_SUM, ...)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897880" y="3154680"/>
            <a:ext cx="0" cy="502920"/>
          </a:xfrm>
          <a:prstGeom prst="line">
            <a:avLst/>
          </a:prstGeom>
          <a:noFill/>
          <a:ln w="2540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68680" y="38587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Results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423160" y="3703320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831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23160" y="437083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6312" y="444398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44"/>
                </a:solidFill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3703320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3831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51960" y="437083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5112" y="444398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44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80760" y="3703320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831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P2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80760" y="437083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53912" y="444398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44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09560" y="3703320"/>
            <a:ext cx="960120" cy="530352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2F559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3831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909560" y="4370832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82712" y="4443984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44"/>
                </a:solidFill>
              </a:rPr>
              <a:t>10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0120" y="5166360"/>
            <a:ext cx="10241280" cy="65836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" y="5294376"/>
            <a:ext cx="9912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MPI_Scan(&amp;sendbuf, &amp;recvbuf, count, datatype, op, communicator);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51560" y="5925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83B66"/>
                </a:solidFill>
              </a:rPr>
              <a:t>Use case: running totals / prefix sums across ranks—for example, computing each process’s global starting offset.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NJIT CS455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MPI Collectives: Reduce, Barrier, Scan</dc:title>
  <dc:subject>MPI Collectives: Reduce, Barrier, Scan</dc:subject>
  <dc:creator>OpenAI</dc:creator>
  <cp:lastModifiedBy>OpenAI</cp:lastModifiedBy>
  <cp:revision>1</cp:revision>
  <dcterms:created xsi:type="dcterms:W3CDTF">2026-09-15T23:38:32Z</dcterms:created>
  <dcterms:modified xsi:type="dcterms:W3CDTF">2026-09-15T23:38:32Z</dcterms:modified>
</cp:coreProperties>
</file>