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Preview the class and explain that the goal is not performance tuning yet; it is learning the CUDA execution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Connect to prior MPI material. Emphasize that CUDA is within-node GPU parallelism.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Use array addition as the simplest example of data parallelism.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Do not go deep into warps yet. Simply correct the terminology while preserving the “same operation over lots of data” mental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This slide is the mental bridge to thread indexing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Clarify again that pthreads are CPU threads, independent of GPUs.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Brief API review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Do not spend time on mutexes here; the point is work partitioning.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This is conceptual, not a performance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Keep memory model high-level; detailed memory hierarchy can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Introduce APIs only as a roadmap; students do not need to memorize signatures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Emphasize that threads execute the same kernel but have different indices.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Point out that CUDA lets each dimension be 1D/2D/3D, which is convenient for arrays, images, and matrices.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Work through at least two examples orally.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This is the bridge from 1D arrays to matrices.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Reinforce that x maps to column and y maps to row in common CUDA matrix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No need to memorize all today; the indexing formulas will make them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Explain ceiling division. Avoid detailed occupancy discussion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This is a simpler 2D example before matrix multiplication.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Refresh the math, then immediately connect one output element to one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This is the key decomposition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This is the conceptual heart of naive CUDA matmul.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Walk through the code line-by-line. Avoid shared-memory tiling until a later class unless the syllabus calls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Students should understand why extra threads are launched and safely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Ask students to compute another thread’s output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Use this as a recap and misconception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 min. Let students work for 2–3 minutes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Summarize, then preview the next CUDA coding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— Intro GPU Cluster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38360" y="6565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Introduction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CUDA: Intro to SIMD-style thinking and multidimensional execution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502920" cy="502920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35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SIMD / SIMT way of thinking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4920" y="13441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Why thousands of threads can apply the same operation to different data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502920" cy="502920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957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CPU threads with Pthreads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4920" y="230428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A short bridge from thread-level parallelism to GPU programming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85800" y="3273552"/>
            <a:ext cx="502920" cy="5029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558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CUDA host and device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74920" y="32644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CPU controls the program; GPU executes kernels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85800" y="4233672"/>
            <a:ext cx="502920" cy="5029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3159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Grids, blocks, and threads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422452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How CUDA organizes work in 1D, 2D, and 3D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85800" y="5193792"/>
            <a:ext cx="502920" cy="5029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76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Matrix multiplication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74920" y="518464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Map output matrix elements to CUDA threads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CUDA Fits in CS455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cluster-level parallelism to thousands of GPU threads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0175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187452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361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938528"/>
            <a:ext cx="26974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processes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span multiple machines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passing / RMA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0175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371600"/>
            <a:ext cx="73152" cy="187452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5361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73168" y="1938528"/>
            <a:ext cx="26974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CPU threads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one process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address space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1371600"/>
            <a:ext cx="30175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371600"/>
            <a:ext cx="73152" cy="18745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5088" y="15361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05088" y="1938528"/>
            <a:ext cx="26974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GPU threads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a kernel in parallel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data-parallel work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703320" y="2304288"/>
            <a:ext cx="731520" cy="0"/>
          </a:xfrm>
          <a:prstGeom prst="line">
            <a:avLst/>
          </a:prstGeom>
          <a:noFill/>
          <a:ln w="2794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2304288"/>
            <a:ext cx="731520" cy="0"/>
          </a:xfrm>
          <a:prstGeom prst="line">
            <a:avLst/>
          </a:prstGeom>
          <a:noFill/>
          <a:ln w="2794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20240" y="3977640"/>
            <a:ext cx="83210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4087368"/>
            <a:ext cx="7991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big idea: divide a large computation into smaller independent pieces.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CUDA is not “MPI on a GPU.” It uses a different execution model, but the decomposition mindset is the same.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SIMD Way of Thinking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same operation to many data elements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Serial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83664"/>
            <a:ext cx="334670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+ B[i];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Data-parallel view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713232" cy="502920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874520"/>
            <a:ext cx="713232" cy="5029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08976" y="1874520"/>
            <a:ext cx="713232" cy="502920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08976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50224" y="1874520"/>
            <a:ext cx="713232" cy="5029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0224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91472" y="1874520"/>
            <a:ext cx="713232" cy="502920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0" y="1874520"/>
            <a:ext cx="713232" cy="5029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193852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i=5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651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Each worker performs the same operation on a different element.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26280" y="2331720"/>
            <a:ext cx="1188720" cy="0"/>
          </a:xfrm>
          <a:prstGeom prst="line">
            <a:avLst/>
          </a:prstGeom>
          <a:noFill/>
          <a:ln w="3302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43000" y="3977640"/>
            <a:ext cx="996696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087368"/>
            <a:ext cx="9637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6B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 in CUDA: “Can I map one independent piece of data/work to one thread?”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SIMD vs. CUDA SIMT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syllabus says SIMD thinking; CUDA formally uses a SIMT execution model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84248"/>
            <a:ext cx="470916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Instruction, Multiple 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instruction operates on multiple data lanes.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417320"/>
            <a:ext cx="73152" cy="19202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5819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SIMT (CUDA)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1984248"/>
            <a:ext cx="470916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Instruction, Multiple Threads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threads execute the same kernel, each with its own thread identity.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Why the distinction matters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24128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write code as if each CUDA thread is its own logical worker.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are grouped for execution, but each thread computes its own indices and data.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threads may take different branches, although divergence can reduce efficiency.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Loop Iterations to Threads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CUDA transformation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72184"/>
            <a:ext cx="371246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CPU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+ B[i];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60520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6B900"/>
                </a:solidFill>
              </a:rPr>
              <a:t>Think of each loop iteration as independent work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754880" y="2240280"/>
            <a:ext cx="1645920" cy="0"/>
          </a:xfrm>
          <a:prstGeom prst="line">
            <a:avLst/>
          </a:prstGeom>
          <a:noFill/>
          <a:ln w="381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20840" y="132588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2008" y="1472184"/>
            <a:ext cx="426110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GPU kernel: one thread handles one 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...global thread index...;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 &lt; 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+ B[i];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4709160"/>
            <a:ext cx="749808" cy="530352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99232" y="4709160"/>
            <a:ext cx="749808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86784" y="4709160"/>
            <a:ext cx="749808" cy="530352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74336" y="4709160"/>
            <a:ext cx="749808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61888" y="4709160"/>
            <a:ext cx="749808" cy="530352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4709160"/>
            <a:ext cx="749808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36992" y="4709160"/>
            <a:ext cx="749808" cy="530352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24544" y="4709160"/>
            <a:ext cx="749808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24544" y="477316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5486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T0→element 0   T1→element 1   …   T7→element 7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 Thread-Level Parallelism: Pthreads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bridge before CUDA threads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926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280160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84248"/>
            <a:ext cx="260604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code, heap, and global variables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1188720" cy="59436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72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508760"/>
            <a:ext cx="1188720" cy="59436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572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1508760"/>
            <a:ext cx="1188720" cy="59436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72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1508760"/>
            <a:ext cx="1188720" cy="59436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572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874520"/>
            <a:ext cx="594360" cy="0"/>
          </a:xfrm>
          <a:prstGeom prst="line">
            <a:avLst/>
          </a:prstGeom>
          <a:noFill/>
          <a:ln w="2794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3154680"/>
            <a:ext cx="10332720" cy="1965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Pthreads create multiple CPU threads inside one process.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share the process address space, so they can work on different parts of the same array.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GPU is required: Pthreads run on CPU cores.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463040" y="5440680"/>
            <a:ext cx="914400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7D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5550408"/>
            <a:ext cx="881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same decomposition idea we will use in CUDA—just at a much larger thread count.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Pthreads: Two APIs to Remember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work, then wait for it to finish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63624"/>
            <a:ext cx="45354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pthread_create(&amp;thread, NULL, worker, arg);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563624"/>
            <a:ext cx="4169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pthread_join(thread, NULL);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937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34640"/>
            <a:ext cx="73152" cy="141732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9923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pthread_create()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3401568"/>
            <a:ext cx="461772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new thread and starts the specified worker function.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2834640"/>
            <a:ext cx="4572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834640"/>
            <a:ext cx="73152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9992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pthread_join()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968" y="3401568"/>
            <a:ext cx="425196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Waits until a joinable thread finishes before the caller continues.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97280" y="4983480"/>
            <a:ext cx="996696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5093208"/>
            <a:ext cx="9637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has a different API, but the pattern “launch parallel work → synchronize when needed” will feel familiar.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Pthreads Example: Scale an Array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CPU thread processes a different range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80744"/>
            <a:ext cx="5266944" cy="4178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*a;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start, end;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Task;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*scale(void *arg)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 *t = (Task *)arg;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t-&gt;start; i &lt; t-&gt;end; i++)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t-&gt;a[i] *= 2.0f;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29400" y="1325880"/>
            <a:ext cx="4663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0" y="1325880"/>
            <a:ext cx="73152" cy="20574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4904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Division of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30568" y="1892808"/>
            <a:ext cx="434340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0 → first quarter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1 → second quarter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2 → third quarter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3 → fourth quarter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2084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Compile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29400" y="416052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4306824"/>
            <a:ext cx="4261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program.c -o program -pthread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29400" y="5212080"/>
            <a:ext cx="46634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5321808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6B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will replace a handful of CPU threads with a very large number of GPU threads.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Pthreads vs. CUDA Threads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word “thread,” very different scale and programming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286000" cy="411480"/>
          </a:xfrm>
          <a:prstGeom prst="rect">
            <a:avLst/>
          </a:prstGeom>
          <a:solidFill>
            <a:srgbClr val="153A5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Aspect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4023360" cy="411480"/>
          </a:xfrm>
          <a:prstGeom prst="rect">
            <a:avLst/>
          </a:prstGeom>
          <a:solidFill>
            <a:srgbClr val="1F5D8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Pthreads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49440" y="1280160"/>
            <a:ext cx="4572000" cy="411480"/>
          </a:xfrm>
          <a:prstGeom prst="rect">
            <a:avLst/>
          </a:prstGeom>
          <a:solidFill>
            <a:srgbClr val="76B900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CUDA Threads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A5B"/>
                </a:solidFill>
              </a:rPr>
              <a:t>Where they execute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926080" y="1691640"/>
            <a:ext cx="402336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CPU cores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4572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GPU streaming multiprocessors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2496312"/>
            <a:ext cx="228600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A5B"/>
                </a:solidFill>
              </a:rPr>
              <a:t>Typical thread count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26080" y="2496312"/>
            <a:ext cx="402336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Small / moderate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49440" y="2496312"/>
            <a:ext cx="457200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Hundreds to millions across a kernel launch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3300984"/>
            <a:ext cx="2286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A5B"/>
                </a:solidFill>
              </a:rPr>
              <a:t>Work assignment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26080" y="3300984"/>
            <a:ext cx="402336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You usually partition ranges manually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49440" y="3300984"/>
            <a:ext cx="4572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CUDA thread/block indices map work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4105656"/>
            <a:ext cx="228600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A5B"/>
                </a:solidFill>
              </a:rPr>
              <a:t>Shared state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926080" y="4105656"/>
            <a:ext cx="402336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Same process address space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49440" y="4105656"/>
            <a:ext cx="4572000" cy="804672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Threads access device memory; block-local cooperation is possible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4910328"/>
            <a:ext cx="2286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A5B"/>
                </a:solidFill>
              </a:rPr>
              <a:t>Primary goal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926080" y="4910328"/>
            <a:ext cx="402336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General CPU concurrency / parallelism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0" y="4910328"/>
            <a:ext cx="4572000" cy="80467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Massively data-parallel computation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 Host and Device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processors, two roles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297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20116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 = CPU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984248"/>
            <a:ext cx="397764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main() and normal C/C++ code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Allocates/manages data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Launches GPU kernels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040880" y="1417320"/>
            <a:ext cx="4297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417320"/>
            <a:ext cx="73152" cy="2011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15819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= GPU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42048" y="1984248"/>
            <a:ext cx="397764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CUDA kernels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 many threads in parallel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data in device-accessible memory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66360" y="1965960"/>
            <a:ext cx="1645920" cy="0"/>
          </a:xfrm>
          <a:prstGeom prst="line">
            <a:avLst/>
          </a:prstGeom>
          <a:noFill/>
          <a:ln w="3556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2852928"/>
            <a:ext cx="-1645920" cy="0"/>
          </a:xfrm>
          <a:prstGeom prst="line">
            <a:avLst/>
          </a:prstGeom>
          <a:noFill/>
          <a:ln w="35560">
            <a:solidFill>
              <a:srgbClr val="1F5D8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5780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Kernel launch 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D8F"/>
                </a:solidFill>
              </a:rPr>
              <a:t>← Data/result transfer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03120" y="4297680"/>
            <a:ext cx="795528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4407408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code orchestrates; device code performs massively parallel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CUDA Program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typical host-driven sequence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0352" cy="530352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00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2728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Allocate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52728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040"/>
                </a:solidFill>
              </a:rPr>
              <a:t>Host/device buffers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2560320" y="1856232"/>
            <a:ext cx="246888" cy="0"/>
          </a:xfrm>
          <a:prstGeom prst="line">
            <a:avLst/>
          </a:prstGeom>
          <a:noFill/>
          <a:ln w="1905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600200"/>
            <a:ext cx="530352" cy="530352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700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38728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Copy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040"/>
                </a:solidFill>
              </a:rPr>
              <a:t>Input data to device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846320" y="1856232"/>
            <a:ext cx="246888" cy="0"/>
          </a:xfrm>
          <a:prstGeom prst="line">
            <a:avLst/>
          </a:prstGeom>
          <a:noFill/>
          <a:ln w="1905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600200"/>
            <a:ext cx="530352" cy="53035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00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24728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Launch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24728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040"/>
                </a:solidFill>
              </a:rPr>
              <a:t>GPU kernel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7132320" y="1856232"/>
            <a:ext cx="246888" cy="0"/>
          </a:xfrm>
          <a:prstGeom prst="line">
            <a:avLst/>
          </a:prstGeom>
          <a:noFill/>
          <a:ln w="1905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1600200"/>
            <a:ext cx="530352" cy="530352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700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10728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Copy back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10728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040"/>
                </a:solidFill>
              </a:rPr>
              <a:t>Results to host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9418320" y="1856232"/>
            <a:ext cx="246888" cy="0"/>
          </a:xfrm>
          <a:prstGeom prst="line">
            <a:avLst/>
          </a:prstGeom>
          <a:noFill/>
          <a:ln w="19050">
            <a:solidFill>
              <a:srgbClr val="66758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38360" y="1600200"/>
            <a:ext cx="530352" cy="530352"/>
          </a:xfrm>
          <a:prstGeom prst="ellipse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1700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96728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Free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396728" y="1892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040"/>
                </a:solidFill>
              </a:rPr>
              <a:t>Release resources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1874520" y="3063240"/>
            <a:ext cx="84124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3209544"/>
            <a:ext cx="8010144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cudaMalloc(...);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cudaMemcpy(..., cudaMemcpyHostToDevice);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myKernel&lt;&lt;&lt;grid, block&gt;&gt;&gt;(...);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cudaMemcpy(..., cudaMemcpyDeviceToHost);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cudaFree(...);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 Kernel Basics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kernel is a function executed by many GPU threads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80744"/>
            <a:ext cx="5632704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add(const float *A,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const float *B,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float *C, int N)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blockIdx.x * blockDim.x + threadIdx.x;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&lt; N)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C[i] = A[i] + B[i];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040880" y="141732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0" y="1417320"/>
            <a:ext cx="73152" cy="1143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42048" y="15819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__global__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42048" y="1984248"/>
            <a:ext cx="40690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a function that is launched from the host and executed on the device.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040880" y="2880360"/>
            <a:ext cx="4389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0" y="2880360"/>
            <a:ext cx="73152" cy="13258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2048" y="30449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thread runs this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42048" y="3447288"/>
            <a:ext cx="40690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thread computes its own i, then operates on its own element.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040880" y="4709160"/>
            <a:ext cx="438912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4818888"/>
            <a:ext cx="4059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kernel definition → many logical thread instances.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 Execution Hierarchy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→ Blocks → Grid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07040" cy="4480560"/>
          </a:xfrm>
          <a:prstGeom prst="roundRect">
            <a:avLst/>
          </a:prstGeom>
          <a:solidFill>
            <a:srgbClr val="F1F6FA"/>
          </a:solidFill>
          <a:ln w="25400">
            <a:solidFill>
              <a:srgbClr val="153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A5B"/>
                </a:solidFill>
              </a:rPr>
              <a:t>Grid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39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(0,0)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99032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0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24328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99032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24328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36976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6976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196596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039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(1,0)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57800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70448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83096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45152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57800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70448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83096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26680" y="196596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2039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(2,0)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891272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503920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116568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16568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729216" y="239572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29216" y="24597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91272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503920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16568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16568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729216" y="280720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29216" y="2871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234440" y="365760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25880" y="37307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(0,1)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1399032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99032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011680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624328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24328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36976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36976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399032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99032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011680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0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624328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24328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36976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36976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480560" y="365760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0" y="37307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(1,1)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4645152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45152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257800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57800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870448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70448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483096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83096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645152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45152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257800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257800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870448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70448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83096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83096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726680" y="365760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D8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18120" y="37307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8F"/>
                </a:solidFill>
              </a:rPr>
              <a:t>Block (2,1)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7891272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91272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503920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503920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116568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16568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9729216" y="408736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29216" y="415137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891272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891272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503920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03920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9116568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16568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9729216" y="4498848"/>
            <a:ext cx="502920" cy="301752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729216" y="456285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788920" y="5989320"/>
            <a:ext cx="6583680" cy="4754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6B9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953512" y="6099048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block contains threads. A grid contains blocks.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1D Thread Indexing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thread computes its global position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80160" y="132588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1328" y="1472184"/>
            <a:ext cx="91988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blockIdx.x * blockDim.x + threadIdx.x;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3200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697480"/>
            <a:ext cx="73152" cy="10972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8620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blockIdx.x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264408"/>
            <a:ext cx="2880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block am I in?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80560" y="2697480"/>
            <a:ext cx="3200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97480"/>
            <a:ext cx="73152" cy="109728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8620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blockDim.x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1728" y="3264408"/>
            <a:ext cx="2880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threads are in each block?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2697480"/>
            <a:ext cx="3200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697480"/>
            <a:ext cx="73152" cy="10972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8620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threadIdx.x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3264408"/>
            <a:ext cx="28803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thread am I inside my block?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A5B"/>
                </a:solidFill>
              </a:rPr>
              <a:t>Example: blockIdx.x = 2, blockDim.x = 4, threadIdx.x = 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57600" y="4983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B900"/>
                </a:solidFill>
              </a:rPr>
              <a:t>i = 2 × 4 + 1 = 9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Multidimensional Grids and Blocks?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execution geometry to the data geometry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1D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84248"/>
            <a:ext cx="297180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Vectors / arrays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thread → one element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15544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819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6008" y="1984248"/>
            <a:ext cx="297180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/ matrices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thread → one pixel or matrix element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17320"/>
            <a:ext cx="73152" cy="155448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819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3D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1984248"/>
            <a:ext cx="297180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Volumes / voxel grids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thread → one 3D location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A5B"/>
                </a:solidFill>
              </a:rPr>
              <a:t>Example 2D matrix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5448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3464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4069080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1330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5448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9456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0" y="4581144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645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4400" y="5093208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54480" y="5093208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5448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94560" y="5093208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34640" y="5093208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0" y="5093208"/>
            <a:ext cx="566928" cy="420624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14800" y="5093208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5157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440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55448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5448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9456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3464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7472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114800" y="5605272"/>
            <a:ext cx="56692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0" y="5669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0" y="4434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Thread (row=2, col=4) naturally maps to element [2][4].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 Thread Indexing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row and column independently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" y="123444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380744"/>
            <a:ext cx="983894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col = blockIdx.x * blockDim.x + threadIdx.x;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row = blockIdx.y * blockDim.y + threadIdx.y;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34640"/>
            <a:ext cx="73152" cy="141732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9992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dimension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3401568"/>
            <a:ext cx="452628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blockIdx.x, blockDim.x, threadIdx.x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column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283464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834640"/>
            <a:ext cx="73152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9992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dimension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93408" y="3401568"/>
            <a:ext cx="452628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blockIdx.y, blockDim.y, threadIdx.y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4892040"/>
            <a:ext cx="804672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5001768"/>
            <a:ext cx="7717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matrices, a common convention is x → columns and y → rows.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 Built-in Variables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coordinates available to every thread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25880"/>
            <a:ext cx="73152" cy="91440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49047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threadIdx.x / y / 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892808"/>
            <a:ext cx="10012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coordinate inside its block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514600"/>
            <a:ext cx="73152" cy="9144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7919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blockIdx.x / y / 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81528"/>
            <a:ext cx="10012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coordinate inside the grid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03320"/>
            <a:ext cx="73152" cy="91440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6791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blockDim.x / y / 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4270248"/>
            <a:ext cx="10012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threads in each block dimension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89204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892040"/>
            <a:ext cx="73152" cy="9144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056632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gridDim.x / y / 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5458968"/>
            <a:ext cx="10012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blocks in each grid dimension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 Launch Configuration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chooses the grid and block dimensions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1234440"/>
            <a:ext cx="1005840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1380744"/>
            <a:ext cx="96560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myKernel&lt;&lt;&lt;gridDim, blockDim&gt;&gt;&gt;(arguments);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06040"/>
            <a:ext cx="73152" cy="20116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770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1D example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3172968"/>
            <a:ext cx="493776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threads = 256;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blocks = (N + threads - 1) / threads;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add&lt;&lt;&lt;blocks, threads&gt;&gt;&gt;(A, B, C, N);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606040"/>
            <a:ext cx="73152" cy="2011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770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56248" y="3172968"/>
            <a:ext cx="47548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dim3 block(16, 16);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dim3 grid((W+15)/16, (H+15)/16);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matAdd&lt;&lt;&lt;grid, block&gt;&gt;&gt;(...);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63040" y="5166360"/>
            <a:ext cx="932688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5276088"/>
            <a:ext cx="8997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launch configuration determines how many logical threads are created and how they are grouped.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Warm-up: 2D Matrix Addition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thread computes one output element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76656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89304"/>
            <a:ext cx="6364224" cy="4270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matAdd(const float *A, const float *B,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float *C, int rows, int cols) {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col = blockIdx.x * blockDim.x + threadIdx.x;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row = blockIdx.y * blockDim.y + threadIdx.y;</a:t>
            </a:r>
            <a:endParaRPr lang="en-US" sz="1460" dirty="0"/>
          </a:p>
          <a:p>
            <a:pPr indent="0" marL="0">
              <a:buNone/>
            </a:pP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(row &lt; rows &amp;&amp; col &lt; cols)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C[row * cols + col] =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A[row * cols + col] + B[row * cols + col];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60" dirty="0"/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3931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1325880"/>
            <a:ext cx="73152" cy="15544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6408" y="14904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 responsibility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36408" y="1892808"/>
            <a:ext cx="36118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(row, col) reads A[row,col] and B[row,col], then writes C[row,col].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635240" y="3246120"/>
            <a:ext cx="3931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35240" y="3246120"/>
            <a:ext cx="73152" cy="15544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34107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easy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36408" y="3813048"/>
            <a:ext cx="36118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output element is independent—no thread needs another thread’s result.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Matrix Multiplication Refresher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output element is a row–column dot product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</a:rPr>
              <a:t>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43000" y="1325880"/>
            <a:ext cx="585216" cy="512064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3898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01368" y="1325880"/>
            <a:ext cx="585216" cy="512064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3898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9736" y="1325880"/>
            <a:ext cx="585216" cy="512064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9736" y="13898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1929384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99339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01368" y="1929384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199339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59736" y="1929384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199339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3A5B"/>
                </a:solidFill>
              </a:rPr>
              <a:t>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0332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</a:rPr>
              <a:t>B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23360" y="1325880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3898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1325880"/>
            <a:ext cx="585216" cy="512064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3898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23360" y="1929384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99339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1728" y="1929384"/>
            <a:ext cx="585216" cy="512064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9339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2532888"/>
            <a:ext cx="585216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259689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1728" y="2532888"/>
            <a:ext cx="585216" cy="512064"/>
          </a:xfrm>
          <a:prstGeom prst="roundRect">
            <a:avLst/>
          </a:prstGeom>
          <a:solidFill>
            <a:srgbClr val="DDEAF6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59689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3A5B"/>
                </a:solidFill>
              </a:rPr>
              <a:t>=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98932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A5B"/>
                </a:solidFill>
              </a:rPr>
              <a:t>C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309360" y="1325880"/>
            <a:ext cx="64008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3898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40880" y="1325880"/>
            <a:ext cx="640080" cy="512064"/>
          </a:xfrm>
          <a:prstGeom prst="roundRect">
            <a:avLst/>
          </a:prstGeom>
          <a:solidFill>
            <a:srgbClr val="FFF4D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3898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1929384"/>
            <a:ext cx="64008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9933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1929384"/>
            <a:ext cx="64008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AEBB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19933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20240" y="3657600"/>
            <a:ext cx="83210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3767328"/>
            <a:ext cx="7991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C[0,1] = 1×8 + 2×10 + 3×12 = 64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828800" y="4892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6B900"/>
                </a:solidFill>
              </a:rPr>
              <a:t>CUDA idea: assign one thread to compute one C[row, col].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Serial Matrix Multiplication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nested loops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12648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289304"/>
            <a:ext cx="5724144" cy="4270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row = 0; row &lt; N; row++) {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col = 0; col &lt; N; col++) {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sum = 0.0f;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k = 0; k &lt; N; k++) {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sum += A[row*N + k] * B[k*N + col];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C[row*N + col] = sum;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40" dirty="0"/>
          </a:p>
        </p:txBody>
      </p:sp>
      <p:sp>
        <p:nvSpPr>
          <p:cNvPr id="6" name="Shape 4"/>
          <p:cNvSpPr/>
          <p:nvPr/>
        </p:nvSpPr>
        <p:spPr>
          <a:xfrm>
            <a:off x="7132320" y="1417320"/>
            <a:ext cx="4251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417320"/>
            <a:ext cx="73152" cy="13716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3488" y="15819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loops can CUDA parallelize?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33488" y="1984248"/>
            <a:ext cx="39319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row and column choices identify independent output elements.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0" y="3246120"/>
            <a:ext cx="4251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3246120"/>
            <a:ext cx="73152" cy="137160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34107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stays inside each thread?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33488" y="3813048"/>
            <a:ext cx="39319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 loop performs the dot product needed for that one output element.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32320" y="5074920"/>
            <a:ext cx="4251960" cy="777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5184648"/>
            <a:ext cx="39227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Parallelize the outer two dimensions; keep the inner dot-product loop per thread.</a:t>
            </a:r>
            <a:endParaRPr lang="en-US" sz="1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CUDA Matrix Multiplication Mapping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thread → one output element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A5B"/>
                </a:solidFill>
              </a:rPr>
              <a:t>Output matrix 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44752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0824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96896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169164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7556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44752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20824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0824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96896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6896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2968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49040" y="2167128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2311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44752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4752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20824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0824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96896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96896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72968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72968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49040" y="2642616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70662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8680" y="3118104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444752" y="3118104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44752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20824" y="3118104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0824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96896" y="3118104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96896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72968" y="3118104"/>
            <a:ext cx="512064" cy="3840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72968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749040" y="3118104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3182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68680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444752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44752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020824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0824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96896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96896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4,3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172968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72968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49040" y="3593592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49040" y="36576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68680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444752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44752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020824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2082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5,2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596896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9689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5,3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172968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72968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5,4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749040" y="4069080"/>
            <a:ext cx="512064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49040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5,5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0" y="3108960"/>
            <a:ext cx="1143000" cy="0"/>
          </a:xfrm>
          <a:prstGeom prst="line">
            <a:avLst/>
          </a:prstGeom>
          <a:noFill/>
          <a:ln w="3556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6035040" y="1600200"/>
            <a:ext cx="50749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035040" y="1600200"/>
            <a:ext cx="73152" cy="24231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36208" y="17647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 (row=3, col=4)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6236208" y="2167128"/>
            <a:ext cx="4754880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row 3 from 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column 4 from B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Computes their dot product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C[3,4]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6035040" y="4526280"/>
            <a:ext cx="5074920" cy="777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5D8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99632" y="4636008"/>
            <a:ext cx="4745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5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output elements can be computed independently.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Naïve CUDA Matrix Multiplication Kernel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thread computes one C[row, col]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406640" cy="5166360"/>
          </a:xfrm>
          <a:prstGeom prst="roundRect">
            <a:avLst>
              <a:gd name="adj" fmla="val 14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97864"/>
            <a:ext cx="7004304" cy="4910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matMul(const float *A, const float *B,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float *C, int N) {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col = blockIdx.x * blockDim.x + threadIdx.x;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row = blockIdx.y * blockDim.y + threadIdx.y;</a:t>
            </a:r>
            <a:endParaRPr lang="en-US" sz="1460" dirty="0"/>
          </a:p>
          <a:p>
            <a:pPr indent="0" marL="0">
              <a:buNone/>
            </a:pP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(row &lt; N &amp;&amp; col &lt; N) {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sum = 0.0f;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k = 0; k &lt; N; k++)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sum += A[row*N + k] * B[k*N + col];</a:t>
            </a:r>
            <a:endParaRPr lang="en-US" sz="1460" dirty="0"/>
          </a:p>
          <a:p>
            <a:pPr indent="0" marL="0">
              <a:buNone/>
            </a:pP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C[row*N + col] = sum;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60" dirty="0"/>
          </a:p>
        </p:txBody>
      </p:sp>
      <p:sp>
        <p:nvSpPr>
          <p:cNvPr id="6" name="Shape 4"/>
          <p:cNvSpPr/>
          <p:nvPr/>
        </p:nvSpPr>
        <p:spPr>
          <a:xfrm>
            <a:off x="8321040" y="1417320"/>
            <a:ext cx="3200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0" y="1417320"/>
            <a:ext cx="73152" cy="21488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22208" y="15819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Per-thread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22208" y="1984248"/>
            <a:ext cx="288036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Compute (row, col)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Loop over k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Accumulate dot product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Store one output</a:t>
            </a:r>
            <a:endParaRPr lang="en-US" sz="1680" dirty="0"/>
          </a:p>
        </p:txBody>
      </p:sp>
      <p:sp>
        <p:nvSpPr>
          <p:cNvPr id="10" name="Shape 8"/>
          <p:cNvSpPr/>
          <p:nvPr/>
        </p:nvSpPr>
        <p:spPr>
          <a:xfrm>
            <a:off x="8321040" y="406908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1040" y="4069080"/>
            <a:ext cx="73152" cy="141732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42336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version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22208" y="4636008"/>
            <a:ext cx="288036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correct. Later optimizations can reduce redundant global-memory accesses.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Launching the Matrix-Multiplication Kernel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blocks + ceiling division + boundary check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6400800" cy="2240280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72184"/>
            <a:ext cx="5998464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block(16, 16);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grid((N + block.x - 1) / block.x,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(N + block.y - 1) / block.y);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matMul&lt;&lt;&lt;grid, block&gt;&gt;&gt;(d_A, d_B, d_C, N);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60920" y="1371600"/>
            <a:ext cx="4114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60920" y="1371600"/>
            <a:ext cx="73152" cy="132588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62088" y="15361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ceiling division?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62088" y="1938528"/>
            <a:ext cx="37947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dimensions may not be exact multiples of the block dimensions.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60920" y="3063240"/>
            <a:ext cx="4114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60920" y="3063240"/>
            <a:ext cx="73152" cy="13258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32278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if-check?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62088" y="3630168"/>
            <a:ext cx="37947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block may contain threads whose row/col lies outside the matrix.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920240" y="47091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4855464"/>
            <a:ext cx="79187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(row &lt; N &amp;&amp; col &lt; N) { ... 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4×4 Matrix with 2×2 Thread Blocks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one thread from launch coordinates to output element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2057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490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8F"/>
                </a:solidFill>
              </a:rPr>
              <a:t>Block (0,0)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8562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C[0,0]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8562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920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C[0,1]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3591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C[1,0]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3591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C[1,1]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057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490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8F"/>
                </a:solidFill>
              </a:rPr>
              <a:t>Block (1,0)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8562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920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C[0,2]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8562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920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C[0,3]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23591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C[1,2]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0" y="23591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4231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C[1,3]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3246120"/>
            <a:ext cx="2057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319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8F"/>
                </a:solidFill>
              </a:rPr>
              <a:t>Block (0,1)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36850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7490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C[2,0]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36850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37490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C[2,1]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1879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2519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C[3,0]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41879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42519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C[3,1]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246120"/>
            <a:ext cx="2057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319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8F"/>
                </a:solidFill>
              </a:rPr>
              <a:t>Block (1,1)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20440" y="36850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7490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C[2,2]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3400" y="368503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7490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C[2,3]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20440" y="4187952"/>
            <a:ext cx="713232" cy="3840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2519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C[3,2]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43400" y="4187952"/>
            <a:ext cx="713232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42519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C[3,3]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0" y="1417320"/>
            <a:ext cx="4663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0" y="1417320"/>
            <a:ext cx="73152" cy="1691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15819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Highlighted thread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01968" y="1984248"/>
            <a:ext cx="43434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blockIdx = (1,1)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threadIdx = (0,1)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blockDim = (2,2)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400800" y="347472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3621024"/>
            <a:ext cx="426110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1*2 + 0 = 2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1*2 + 1 = 3</a:t>
            </a:r>
            <a:endParaRPr lang="en-US" sz="1750" dirty="0"/>
          </a:p>
        </p:txBody>
      </p:sp>
      <p:sp>
        <p:nvSpPr>
          <p:cNvPr id="50" name="Shape 48"/>
          <p:cNvSpPr/>
          <p:nvPr/>
        </p:nvSpPr>
        <p:spPr>
          <a:xfrm>
            <a:off x="6400800" y="5074920"/>
            <a:ext cx="466344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5184648"/>
            <a:ext cx="43342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this thread computes C[3,2].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Beginner Mistakes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checklist before writing CUDA kernels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43000"/>
            <a:ext cx="73152" cy="7863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07592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Forgetting the boundary check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709928"/>
            <a:ext cx="101955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threads in the final block may access invalid memory.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121408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73152" cy="786384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86000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Mixing up x/y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688336"/>
            <a:ext cx="101955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matrix convention: x→column, y→row.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099816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099816"/>
            <a:ext cx="73152" cy="7863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264408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Thinking blockIdx is a global thread 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3666744"/>
            <a:ext cx="101955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still need blockDim and threadIdx.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4078224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78224"/>
            <a:ext cx="73152" cy="786384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42816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Expecting CUDA threads to behave like Pthreads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4645152"/>
            <a:ext cx="101955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threads are lightweight logical workers in a GPU execution hierarchy.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56632"/>
            <a:ext cx="105156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056632"/>
            <a:ext cx="73152" cy="7863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221224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Parallelizing dependent work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5623560"/>
            <a:ext cx="101955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work best when their assigned outputs can be computed independently.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Exercise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 10×10 matrix to CUDA threads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1417320"/>
          </a:xfrm>
          <a:prstGeom prst="rect">
            <a:avLst/>
          </a:prstGeom>
          <a:solidFill>
            <a:srgbClr val="1F5D8F"/>
          </a:solidFill>
          <a:ln w="12700">
            <a:solidFill>
              <a:srgbClr val="1F5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904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Given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892808"/>
            <a:ext cx="306324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Matrix: 10 × 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Block: dim3 block(4, 4)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6583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9C5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325880"/>
            <a:ext cx="73152" cy="23774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490472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73168" y="1892808"/>
            <a:ext cx="626364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grid dimensions are needed?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How many logical threads are launched?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How many threads are outside the matrix?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does block (2,1), thread (1,3) map to?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51560" y="4251960"/>
            <a:ext cx="1920240" cy="502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53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36168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040"/>
                </a:solidFill>
              </a:rPr>
              <a:t>grid = (3,3)   •   threads launched = 9 × 16 = 144   •   useful elements = 100   •   outside = 44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3A5B"/>
                </a:solidFill>
              </a:rPr>
              <a:t>block (2,1), thread (1,3) → col = 2×4+1 = 9, row = 1×4+3 = 7 → element [7,9]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leave with today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105156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starts with a data-parallel mindset: identify many similar, independent pieces of work.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CPU is the host; the GPU is the device; the host launches kernels on the device.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organizes threads into blocks and blocks into a grid.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blockIdx, blockDim, and threadIdx to compute each thread’s global data coordinates.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naïve matrix multiplication, one thread can compute one output matrix element.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A5B"/>
                </a:solidFill>
              </a:rPr>
              <a:t>Primary references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5166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A"/>
                </a:solidFill>
              </a:rPr>
              <a:t>NVIDIA CUDA Programming Guide — programming model, kernels, thread hierarchy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6758A"/>
                </a:solidFill>
              </a:rPr>
              <a:t>NVIDIA CUDA C++ Best Practices Guide — matrix-multiplication examples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6758A"/>
                </a:solidFill>
              </a:rPr>
              <a:t>The Open Group POSIX — pthread_create() and pthread_join()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NJIT 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CUDA: SIMD Thinking, Threads, Grids, Blocks, and Matrix Multiplication</dc:title>
  <dc:subject>CS455 CUDA Introduction</dc:subject>
  <dc:creator>OpenAI</dc:creator>
  <cp:lastModifiedBy>OpenAI</cp:lastModifiedBy>
  <cp:revision>1</cp:revision>
  <dcterms:created xsi:type="dcterms:W3CDTF">2026-09-28T01:17:03Z</dcterms:created>
  <dcterms:modified xsi:type="dcterms:W3CDTF">2026-09-28T01:17:03Z</dcterms:modified>
</cp:coreProperties>
</file>