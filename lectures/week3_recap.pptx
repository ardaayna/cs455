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CS455 • Intro GPU Cluster Programming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06640" y="651052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 Point-to-Point Communication Recap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Blocking vs. Non-Blocking Point-to-Point Communication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styles move a message between two MPI processes; the key difference is when the function call returns.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90288" y="1417320"/>
            <a:ext cx="1078992" cy="1078992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90288" y="17556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P0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28816" y="1417320"/>
            <a:ext cx="1078992" cy="1078992"/>
          </a:xfrm>
          <a:prstGeom prst="ellipse">
            <a:avLst/>
          </a:prstGeom>
          <a:solidFill>
            <a:srgbClr val="2A7F86"/>
          </a:solidFill>
          <a:ln w="12700">
            <a:solidFill>
              <a:srgbClr val="2A7F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8816" y="17556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P1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705856" y="1956816"/>
            <a:ext cx="768096" cy="0"/>
          </a:xfrm>
          <a:prstGeom prst="line">
            <a:avLst/>
          </a:prstGeom>
          <a:noFill/>
          <a:ln w="38100">
            <a:solidFill>
              <a:srgbClr val="C46A24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632704" y="15727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46A24"/>
                </a:solidFill>
              </a:rPr>
              <a:t>message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788920"/>
            <a:ext cx="5166360" cy="2487168"/>
          </a:xfrm>
          <a:prstGeom prst="roundRect">
            <a:avLst>
              <a:gd name="adj" fmla="val 2941"/>
            </a:avLst>
          </a:prstGeom>
          <a:solidFill>
            <a:srgbClr val="E8F1F8"/>
          </a:solidFill>
          <a:ln w="12700">
            <a:solidFill>
              <a:srgbClr val="C9D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054096"/>
            <a:ext cx="1143000" cy="347472"/>
          </a:xfrm>
          <a:prstGeom prst="roundRect">
            <a:avLst>
              <a:gd name="adj" fmla="val 31579"/>
            </a:avLst>
          </a:prstGeom>
          <a:solidFill>
            <a:srgbClr val="D6E6F3"/>
          </a:solidFill>
          <a:ln w="12700">
            <a:solidFill>
              <a:srgbClr val="D6E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18104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A5F"/>
                </a:solidFill>
              </a:rPr>
              <a:t>BLOCKING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35295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5F"/>
                </a:solidFill>
              </a:rPr>
              <a:t>MPI_Send()  +  MPI_Recv()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50976" y="4005072"/>
            <a:ext cx="452628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3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waits inside the MPI call until that local operation is complete.</a:t>
            </a:r>
            <a:endParaRPr lang="en-US" sz="1360" dirty="0"/>
          </a:p>
          <a:p>
            <a:r>
              <a:rPr lang="en-US" sz="13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and natural when the next step depends on the communication.</a:t>
            </a:r>
            <a:endParaRPr lang="en-US" sz="1360" dirty="0"/>
          </a:p>
          <a:p>
            <a:r>
              <a:rPr lang="en-US" sz="13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leave a process idle while it waits.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6364224" y="2788920"/>
            <a:ext cx="5166360" cy="2487168"/>
          </a:xfrm>
          <a:prstGeom prst="roundRect">
            <a:avLst>
              <a:gd name="adj" fmla="val 2941"/>
            </a:avLst>
          </a:prstGeom>
          <a:solidFill>
            <a:srgbClr val="E7F4F3"/>
          </a:solidFill>
          <a:ln w="12700">
            <a:solidFill>
              <a:srgbClr val="C7DE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8544" y="3054096"/>
            <a:ext cx="1444752" cy="347472"/>
          </a:xfrm>
          <a:prstGeom prst="roundRect">
            <a:avLst>
              <a:gd name="adj" fmla="val 31579"/>
            </a:avLst>
          </a:prstGeom>
          <a:solidFill>
            <a:srgbClr val="D2E9E7"/>
          </a:solidFill>
          <a:ln w="12700">
            <a:solidFill>
              <a:srgbClr val="D2E9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31181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7F86"/>
                </a:solidFill>
              </a:rPr>
              <a:t>NON-BLOCKING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38544" y="35295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F86"/>
                </a:solidFill>
              </a:rPr>
              <a:t>MPI_Isend()  +  MPI_Irecv()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56832" y="4005072"/>
            <a:ext cx="452628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3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call starts the communication and returns immediately with an MPI_Request.</a:t>
            </a:r>
            <a:endParaRPr lang="en-US" sz="1360" dirty="0"/>
          </a:p>
          <a:p>
            <a:r>
              <a:rPr lang="en-US" sz="13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can do independent work while communication progresses.</a:t>
            </a:r>
            <a:endParaRPr lang="en-US" sz="1360" dirty="0"/>
          </a:p>
          <a:p>
            <a:r>
              <a:rPr lang="en-US" sz="13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must still be checked with MPI_Wait() or MPI_Test().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2011680" y="5559552"/>
            <a:ext cx="8156448" cy="594360"/>
          </a:xfrm>
          <a:prstGeom prst="roundRect">
            <a:avLst>
              <a:gd name="adj" fmla="val 9231"/>
            </a:avLst>
          </a:prstGeom>
          <a:solidFill>
            <a:srgbClr val="FFF8E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5733288"/>
            <a:ext cx="7644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1571A"/>
                </a:solidFill>
              </a:rPr>
              <a:t>Key idea:  Blocking = wait inside the communication call.   Non-blocking = start now, finish/check later.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Blocking Communication: MPI_Send() and MPI_Recv()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when the program should not continue until the required communication step is complete.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808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5F"/>
                </a:solidFill>
              </a:rPr>
              <a:t>Process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2907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F86"/>
                </a:solidFill>
              </a:rPr>
              <a:t>Process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74520" y="1664208"/>
            <a:ext cx="5212080" cy="0"/>
          </a:xfrm>
          <a:prstGeom prst="line">
            <a:avLst/>
          </a:prstGeom>
          <a:noFill/>
          <a:ln w="25400">
            <a:solidFill>
              <a:srgbClr val="9BA7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3072384"/>
            <a:ext cx="5212080" cy="0"/>
          </a:xfrm>
          <a:prstGeom prst="line">
            <a:avLst/>
          </a:prstGeom>
          <a:noFill/>
          <a:ln w="25400">
            <a:solidFill>
              <a:srgbClr val="9BA7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353312"/>
            <a:ext cx="1444752" cy="603504"/>
          </a:xfrm>
          <a:prstGeom prst="roundRect">
            <a:avLst>
              <a:gd name="adj" fmla="val 7576"/>
            </a:avLst>
          </a:prstGeom>
          <a:solidFill>
            <a:srgbClr val="E8F1F8"/>
          </a:solidFill>
          <a:ln w="12700">
            <a:solidFill>
              <a:srgbClr val="2E6E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7712" y="153619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A5F"/>
                </a:solidFill>
              </a:rPr>
              <a:t>MPI_Send()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761488"/>
            <a:ext cx="1444752" cy="603504"/>
          </a:xfrm>
          <a:prstGeom prst="roundRect">
            <a:avLst>
              <a:gd name="adj" fmla="val 7576"/>
            </a:avLst>
          </a:prstGeom>
          <a:solidFill>
            <a:srgbClr val="E7F4F3"/>
          </a:solidFill>
          <a:ln w="12700">
            <a:solidFill>
              <a:srgbClr val="2A7F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294436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7F86"/>
                </a:solidFill>
              </a:rPr>
              <a:t>MPI_Recv()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02736" y="1664208"/>
            <a:ext cx="731520" cy="1408176"/>
          </a:xfrm>
          <a:prstGeom prst="line">
            <a:avLst/>
          </a:prstGeom>
          <a:noFill/>
          <a:ln w="31750">
            <a:solidFill>
              <a:srgbClr val="C46A2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30752" y="21762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A24"/>
                </a:solidFill>
              </a:rPr>
              <a:t>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38528" y="20391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3"/>
                </a:solidFill>
              </a:rPr>
              <a:t>wait / cannot move past this call yet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33088" y="3529584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3"/>
                </a:solidFill>
              </a:rPr>
              <a:t>waits until matching message arrives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79792" y="1353312"/>
            <a:ext cx="3977640" cy="2889504"/>
          </a:xfrm>
          <a:prstGeom prst="roundRect">
            <a:avLst>
              <a:gd name="adj" fmla="val 22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54112" y="16184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5F"/>
                </a:solidFill>
              </a:rPr>
              <a:t>Important facts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54112" y="2057400"/>
            <a:ext cx="324612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3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MPI_Send() returning means its send buffer is safe to reuse; it does not necessarily mean the receiver has already processed the message.</a:t>
            </a:r>
            <a:endParaRPr lang="en-US" sz="1320" dirty="0"/>
          </a:p>
          <a:p>
            <a:r>
              <a:rPr lang="en-US" sz="13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MPI_Recv() returning means the matching message has arrived and the receive buffer contains the data.</a:t>
            </a:r>
            <a:endParaRPr lang="en-US" sz="1320" dirty="0"/>
          </a:p>
          <a:p>
            <a:r>
              <a:rPr lang="en-US" sz="13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ordering of blocking calls can cause deadlock.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49808" y="4526280"/>
            <a:ext cx="10716768" cy="1143000"/>
          </a:xfrm>
          <a:prstGeom prst="roundRect">
            <a:avLst>
              <a:gd name="adj" fmla="val 4800"/>
            </a:avLst>
          </a:prstGeom>
          <a:solidFill>
            <a:srgbClr val="E8F4EC"/>
          </a:solidFill>
          <a:ln w="12700">
            <a:solidFill>
              <a:srgbClr val="C7DD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736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7A4B"/>
                </a:solidFill>
              </a:rPr>
              <a:t>Typical use case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395728" y="4700016"/>
            <a:ext cx="8577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</a:rPr>
              <a:t>A process cannot continue until it receives required input — for example, Process 1 must receive part of an array before it can compute its local minimum.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965960" y="5870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5F"/>
                </a:solidFill>
              </a:rPr>
              <a:t>Simple mental model:  “Do the communication, wait for it, then continue.”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Non-Blocking Communication: MPI_Isend() and MPI_Irecv()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computation and communication can overlap, or when a process communicates with multiple peers.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1536192" cy="1234440"/>
          </a:xfrm>
          <a:prstGeom prst="roundRect">
            <a:avLst>
              <a:gd name="adj" fmla="val 4444"/>
            </a:avLst>
          </a:prstGeom>
          <a:solidFill>
            <a:srgbClr val="E7F4F3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642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F86"/>
                </a:solidFill>
              </a:rPr>
              <a:t>1. Post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199339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MPI_Irecv()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MPI_Isend()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31720" y="1874520"/>
            <a:ext cx="384048" cy="384048"/>
          </a:xfrm>
          <a:prstGeom prst="chevron">
            <a:avLst/>
          </a:prstGeom>
          <a:solidFill>
            <a:srgbClr val="A7B4C2"/>
          </a:solidFill>
          <a:ln w="12700">
            <a:solidFill>
              <a:srgbClr val="A7B4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9232" y="1481328"/>
            <a:ext cx="1536192" cy="123444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16642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5F"/>
                </a:solidFill>
              </a:rPr>
              <a:t>2. Return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99339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Get 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MPI_Request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72584" y="1874520"/>
            <a:ext cx="384048" cy="384048"/>
          </a:xfrm>
          <a:prstGeom prst="chevron">
            <a:avLst/>
          </a:prstGeom>
          <a:solidFill>
            <a:srgbClr val="A7B4C2"/>
          </a:solidFill>
          <a:ln w="12700">
            <a:solidFill>
              <a:srgbClr val="A7B4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0096" y="1481328"/>
            <a:ext cx="1536192" cy="1234440"/>
          </a:xfrm>
          <a:prstGeom prst="roundRect">
            <a:avLst>
              <a:gd name="adj" fmla="val 4444"/>
            </a:avLst>
          </a:prstGeom>
          <a:solidFill>
            <a:srgbClr val="FBEFE4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6642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6A24"/>
                </a:solidFill>
              </a:rPr>
              <a:t>3. Compute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9824" y="199339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Do independent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work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13448" y="1874520"/>
            <a:ext cx="384048" cy="384048"/>
          </a:xfrm>
          <a:prstGeom prst="chevron">
            <a:avLst/>
          </a:prstGeom>
          <a:solidFill>
            <a:srgbClr val="A7B4C2"/>
          </a:solidFill>
          <a:ln w="12700">
            <a:solidFill>
              <a:srgbClr val="A7B4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481328"/>
            <a:ext cx="1536192" cy="1234440"/>
          </a:xfrm>
          <a:prstGeom prst="roundRect">
            <a:avLst>
              <a:gd name="adj" fmla="val 4444"/>
            </a:avLst>
          </a:prstGeom>
          <a:solidFill>
            <a:srgbClr val="E8F1F8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16642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EA6"/>
                </a:solidFill>
              </a:rPr>
              <a:t>4. Complete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90688" y="199339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MPI_Wait() 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MPI_Test()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54312" y="1874520"/>
            <a:ext cx="384048" cy="384048"/>
          </a:xfrm>
          <a:prstGeom prst="chevron">
            <a:avLst/>
          </a:prstGeom>
          <a:solidFill>
            <a:srgbClr val="A7B4C2"/>
          </a:solidFill>
          <a:ln w="12700">
            <a:solidFill>
              <a:srgbClr val="A7B4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1481328"/>
            <a:ext cx="1536192" cy="1234440"/>
          </a:xfrm>
          <a:prstGeom prst="roundRect">
            <a:avLst>
              <a:gd name="adj" fmla="val 4444"/>
            </a:avLst>
          </a:prstGeom>
          <a:solidFill>
            <a:srgbClr val="E8F4EC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22408" y="16642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7A4B"/>
                </a:solidFill>
              </a:rPr>
              <a:t>5. Use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131552" y="199339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Now the buffer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7212B"/>
                </a:solidFill>
              </a:rPr>
              <a:t>is safe/ready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3127248"/>
            <a:ext cx="5321808" cy="2139696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4015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5F"/>
                </a:solidFill>
              </a:rPr>
              <a:t>What MPI_Request tells us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7552" y="3822192"/>
            <a:ext cx="449884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3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identifies a specific outstanding non-blocking operation.</a:t>
            </a:r>
            <a:endParaRPr lang="en-US" sz="1340" dirty="0"/>
          </a:p>
          <a:p>
            <a:r>
              <a:rPr lang="en-US" sz="13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MPI_Wait(&amp;request, ...) waits for that operation to finish.</a:t>
            </a:r>
            <a:endParaRPr lang="en-US" sz="1340" dirty="0"/>
          </a:p>
          <a:p>
            <a:r>
              <a:rPr lang="en-US" sz="13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MPI_Test(&amp;request, ...) checks completion without blocking.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6291072" y="3127248"/>
            <a:ext cx="5166360" cy="2139696"/>
          </a:xfrm>
          <a:prstGeom prst="roundRect">
            <a:avLst>
              <a:gd name="adj" fmla="val 2991"/>
            </a:avLst>
          </a:prstGeom>
          <a:solidFill>
            <a:srgbClr val="FFF9F5"/>
          </a:solidFill>
          <a:ln w="12700">
            <a:solidFill>
              <a:srgbClr val="ECD7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3401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3B3B"/>
                </a:solidFill>
              </a:rPr>
              <a:t>Critical rule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47104" y="3822192"/>
            <a:ext cx="44805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3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modify a send buffer before its non-blocking send completes.</a:t>
            </a:r>
            <a:endParaRPr lang="en-US" sz="1340" dirty="0"/>
          </a:p>
          <a:p>
            <a:r>
              <a:rPr lang="en-US" sz="13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use received data before the non-blocking receive completes.</a:t>
            </a:r>
            <a:endParaRPr lang="en-US" sz="1340" dirty="0"/>
          </a:p>
          <a:p>
            <a:r>
              <a:rPr lang="en-US" sz="13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Non-blocking does not mean “finished”; it means “started without waiting.”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1645920" y="5504688"/>
            <a:ext cx="8887968" cy="603504"/>
          </a:xfrm>
          <a:prstGeom prst="roundRect">
            <a:avLst>
              <a:gd name="adj" fmla="val 9091"/>
            </a:avLst>
          </a:prstGeom>
          <a:solidFill>
            <a:srgbClr val="EEF5FA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83664" y="56875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5F"/>
                </a:solidFill>
              </a:rPr>
              <a:t>Best payoff: overlap communication with useful computation → less idle time and better parallel efficiency.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NJIT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Blocking vs Non-Blocking MPI Point-to-Point Communication</dc:title>
  <dc:subject>MPI point-to-point communication recap</dc:subject>
  <dc:creator>CS455</dc:creator>
  <cp:lastModifiedBy>CS455</cp:lastModifiedBy>
  <cp:revision>1</cp:revision>
  <dcterms:created xsi:type="dcterms:W3CDTF">2026-09-13T21:59:44Z</dcterms:created>
  <dcterms:modified xsi:type="dcterms:W3CDTF">2026-09-13T21:59:44Z</dcterms:modified>
</cp:coreProperties>
</file>