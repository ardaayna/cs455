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CS455 • Intro GPU Cluster Programming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13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Flynn Taxonomy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2E3"/>
                </a:solidFill>
              </a:rPr>
              <a:t>Four architectural models based on instruction streams and data streams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2494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7CE"/>
                </a:solidFill>
              </a:rPr>
              <a:t>Instruction streams 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84848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B7CE"/>
                </a:solidFill>
              </a:rPr>
              <a:t>DATA STREAMS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13832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FD8E8"/>
                </a:solidFill>
              </a:rPr>
              <a:t>Single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6676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FD8E8"/>
                </a:solidFill>
              </a:rPr>
              <a:t>Multiple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41648" y="28072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FD8E8"/>
                </a:solidFill>
              </a:rPr>
              <a:t>Single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0" y="419709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FD8E8"/>
                </a:solidFill>
              </a:rPr>
              <a:t>Multiple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74920" y="2615184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182640"/>
          </a:solidFill>
          <a:ln w="12700">
            <a:solidFill>
              <a:srgbClr val="3141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4648" y="2752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SISD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30998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A"/>
                </a:solidFill>
              </a:rPr>
              <a:t>Single Instruction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7DEEA"/>
                </a:solidFill>
              </a:rPr>
              <a:t>Single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36992" y="2615184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173B62"/>
          </a:solidFill>
          <a:ln w="12700">
            <a:solidFill>
              <a:srgbClr val="3141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752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SIMD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74152" y="30998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A"/>
                </a:solidFill>
              </a:rPr>
              <a:t>Single Instruction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7DEEA"/>
                </a:solidFill>
              </a:rPr>
              <a:t>Multiple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4920" y="4005072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3B2D22"/>
          </a:solidFill>
          <a:ln w="12700">
            <a:solidFill>
              <a:srgbClr val="3141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4648" y="41422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MISD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448970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A"/>
                </a:solidFill>
              </a:rPr>
              <a:t>Multiple Instructions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7DEEA"/>
                </a:solidFill>
              </a:rPr>
              <a:t>Single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36992" y="4005072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193B31"/>
          </a:solidFill>
          <a:ln w="12700">
            <a:solidFill>
              <a:srgbClr val="3141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41422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MIMD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74152" y="448970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A"/>
                </a:solidFill>
              </a:rPr>
              <a:t>Multiple Instructions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7DEEA"/>
                </a:solidFill>
              </a:rPr>
              <a:t>Multiple Data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5797296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E6F8"/>
                </a:solidFill>
              </a:rPr>
              <a:t>For CS455, the two models we will use most are SIMD-like GPU execution and MIMD CPU/cluster execution.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Four Models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Same two questions: How many instruction streams? How many data streams?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38074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BFF"/>
                </a:solidFill>
              </a:rPr>
              <a:t>SISD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8952" y="1783080"/>
            <a:ext cx="2322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1 instruction stream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1 data stream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235915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Typical sequential execution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715768"/>
            <a:ext cx="234086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76606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BFF"/>
                </a:solidFill>
              </a:rPr>
              <a:t>Background / baseline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93008" y="12344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E7F7F1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38074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</a:rPr>
              <a:t>SIMD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1783080"/>
            <a:ext cx="2322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1 instruction stream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many data elements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35915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Vector-style data parallelism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48456" y="2715768"/>
            <a:ext cx="234086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76606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A673"/>
                </a:solidFill>
              </a:rPr>
              <a:t>Important for GPU thinking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91656" y="12344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4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138074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MISD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56248" y="1783080"/>
            <a:ext cx="2322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many instruction streams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1 data stream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56248" y="235915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Rare in general-purpose systems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47104" y="2715768"/>
            <a:ext cx="234086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276606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Know the category; less central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290304" y="1234440"/>
            <a:ext cx="2286000" cy="1874520"/>
          </a:xfrm>
          <a:prstGeom prst="roundRect">
            <a:avLst>
              <a:gd name="adj" fmla="val 3902"/>
            </a:avLst>
          </a:prstGeom>
          <a:solidFill>
            <a:srgbClr val="FDEBED"/>
          </a:solidFill>
          <a:ln w="12700">
            <a:solidFill>
              <a:srgbClr val="E74C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54896" y="1380744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5B"/>
                </a:solidFill>
              </a:rPr>
              <a:t>MIMD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54896" y="1783080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many instruction streams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many data elements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54896" y="235915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Multicore / distributed systems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445752" y="2715768"/>
            <a:ext cx="197510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0616" y="276606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5B"/>
                </a:solidFill>
              </a:rPr>
              <a:t>Very important for MPI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" y="379476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Key idea: Flynn’s taxonomy classifies the execution architecture — it does not describe how you write the program.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97280" y="4498848"/>
            <a:ext cx="9966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4736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FF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29000" y="46725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7085"/>
                </a:solidFill>
              </a:rPr>
              <a:t>≠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069080" y="4736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A673"/>
                </a:solidFill>
              </a:rPr>
              <a:t>Programming model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29400" y="47000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</a:rPr>
              <a:t>Example: MIMD hardware can run an SPMD MPI program.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Flynn Taxonomy Fits CS455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MPI and CUDA expose different kinds of parallel execution.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16152"/>
            <a:ext cx="5349240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481328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FDEBED"/>
          </a:solidFill>
          <a:ln w="12700">
            <a:solidFill>
              <a:srgbClr val="FDEB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53162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5B"/>
                </a:solidFill>
              </a:rPr>
              <a:t>MPI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29968" y="1435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5B"/>
                </a:solidFill>
              </a:rPr>
              <a:t>MIMD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41832" y="196596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Multiple MPI processes can execute different instructions on different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9264" y="2788920"/>
            <a:ext cx="1325880" cy="393192"/>
          </a:xfrm>
          <a:prstGeom prst="roundRect">
            <a:avLst>
              <a:gd name="adj" fmla="val 11628"/>
            </a:avLst>
          </a:prstGeom>
          <a:solidFill>
            <a:srgbClr val="FDEBED"/>
          </a:solidFill>
          <a:ln w="12700">
            <a:solidFill>
              <a:srgbClr val="E74C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5B"/>
                </a:solidFill>
              </a:rPr>
              <a:t>Rank 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42032" y="2843784"/>
            <a:ext cx="384048" cy="283464"/>
          </a:xfrm>
          <a:prstGeom prst="chevron">
            <a:avLst/>
          </a:prstGeom>
          <a:solidFill>
            <a:srgbClr val="C8CFDC"/>
          </a:solidFill>
          <a:ln w="12700">
            <a:solidFill>
              <a:srgbClr val="C8CF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282549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data chunk 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15968" y="2825496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7085"/>
                </a:solidFill>
              </a:rPr>
              <a:t>sum()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9264" y="3401568"/>
            <a:ext cx="1325880" cy="393192"/>
          </a:xfrm>
          <a:prstGeom prst="roundRect">
            <a:avLst>
              <a:gd name="adj" fmla="val 11628"/>
            </a:avLst>
          </a:prstGeom>
          <a:solidFill>
            <a:srgbClr val="FDEBED"/>
          </a:solidFill>
          <a:ln w="12700">
            <a:solidFill>
              <a:srgbClr val="E74C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493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5B"/>
                </a:solidFill>
              </a:rPr>
              <a:t>Rank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42032" y="3456432"/>
            <a:ext cx="384048" cy="283464"/>
          </a:xfrm>
          <a:prstGeom prst="chevron">
            <a:avLst/>
          </a:prstGeom>
          <a:solidFill>
            <a:srgbClr val="C8CFDC"/>
          </a:solidFill>
          <a:ln w="12700">
            <a:solidFill>
              <a:srgbClr val="C8CF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72384" y="34381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data chunk 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15968" y="343814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7085"/>
                </a:solidFill>
              </a:rPr>
              <a:t>filter()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9264" y="4014216"/>
            <a:ext cx="1325880" cy="393192"/>
          </a:xfrm>
          <a:prstGeom prst="roundRect">
            <a:avLst>
              <a:gd name="adj" fmla="val 11628"/>
            </a:avLst>
          </a:prstGeom>
          <a:solidFill>
            <a:srgbClr val="FDEBED"/>
          </a:solidFill>
          <a:ln w="12700">
            <a:solidFill>
              <a:srgbClr val="E74C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1056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5B"/>
                </a:solidFill>
              </a:rPr>
              <a:t>Rank 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42032" y="4069080"/>
            <a:ext cx="384048" cy="283464"/>
          </a:xfrm>
          <a:prstGeom prst="chevron">
            <a:avLst/>
          </a:prstGeom>
          <a:solidFill>
            <a:srgbClr val="C8CFDC"/>
          </a:solidFill>
          <a:ln w="12700">
            <a:solidFill>
              <a:srgbClr val="C8CF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72384" y="40507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data chunk 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15968" y="4050792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7085"/>
                </a:solidFill>
              </a:rPr>
              <a:t>compute()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9264" y="4626864"/>
            <a:ext cx="1325880" cy="393192"/>
          </a:xfrm>
          <a:prstGeom prst="roundRect">
            <a:avLst>
              <a:gd name="adj" fmla="val 11628"/>
            </a:avLst>
          </a:prstGeom>
          <a:solidFill>
            <a:srgbClr val="FDEBED"/>
          </a:solidFill>
          <a:ln w="12700">
            <a:solidFill>
              <a:srgbClr val="E74C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718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5B"/>
                </a:solidFill>
              </a:rPr>
              <a:t>Rank 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42032" y="4681728"/>
            <a:ext cx="384048" cy="283464"/>
          </a:xfrm>
          <a:prstGeom prst="chevron">
            <a:avLst/>
          </a:prstGeom>
          <a:solidFill>
            <a:srgbClr val="C8CFDC"/>
          </a:solidFill>
          <a:ln w="12700">
            <a:solidFill>
              <a:srgbClr val="C8CF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72384" y="46634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data chunk 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15968" y="466344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7085"/>
                </a:solidFill>
              </a:rPr>
              <a:t>communicate()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50976" y="51663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4C5B"/>
                </a:solidFill>
              </a:rPr>
              <a:t>In our course: MPI distributes work across CPU cores and later across multiple laptops/nodes.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90488" y="1216152"/>
            <a:ext cx="5349240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73952" y="1481328"/>
            <a:ext cx="987552" cy="310896"/>
          </a:xfrm>
          <a:prstGeom prst="roundRect">
            <a:avLst>
              <a:gd name="adj" fmla="val 17647"/>
            </a:avLst>
          </a:prstGeom>
          <a:solidFill>
            <a:srgbClr val="E7F7F1"/>
          </a:solidFill>
          <a:ln w="12700">
            <a:solidFill>
              <a:srgbClr val="E7F7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8816" y="15316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A673"/>
                </a:solidFill>
              </a:rPr>
              <a:t>CUDA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71816" y="14356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</a:rPr>
              <a:t>SIMD-like → SIMT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473952" y="196596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Many GPU threads execute the same kernel, usually on different data elements.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30568" y="26974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A673"/>
                </a:solidFill>
              </a:rPr>
              <a:t>same kernel: add()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01968" y="3108960"/>
            <a:ext cx="950976" cy="566928"/>
          </a:xfrm>
          <a:prstGeom prst="roundRect">
            <a:avLst>
              <a:gd name="adj" fmla="val 8065"/>
            </a:avLst>
          </a:prstGeom>
          <a:solidFill>
            <a:srgbClr val="E7F7F1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65976" y="3218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A673"/>
                </a:solidFill>
              </a:rPr>
              <a:t>Thread 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94576" y="3794760"/>
            <a:ext cx="347472" cy="274320"/>
          </a:xfrm>
          <a:prstGeom prst="chevron">
            <a:avLst/>
          </a:prstGeom>
          <a:solidFill>
            <a:srgbClr val="C8CFDC"/>
          </a:solidFill>
          <a:ln w="12700">
            <a:solidFill>
              <a:srgbClr val="C8CF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39128" y="42062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A[0]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754112" y="3108960"/>
            <a:ext cx="950976" cy="566928"/>
          </a:xfrm>
          <a:prstGeom prst="roundRect">
            <a:avLst>
              <a:gd name="adj" fmla="val 8065"/>
            </a:avLst>
          </a:prstGeom>
          <a:solidFill>
            <a:srgbClr val="E7F7F1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3218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A673"/>
                </a:solidFill>
              </a:rPr>
              <a:t>Thread 1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046720" y="3794760"/>
            <a:ext cx="347472" cy="274320"/>
          </a:xfrm>
          <a:prstGeom prst="chevron">
            <a:avLst/>
          </a:prstGeom>
          <a:solidFill>
            <a:srgbClr val="C8CFDC"/>
          </a:solidFill>
          <a:ln w="12700">
            <a:solidFill>
              <a:srgbClr val="C8CF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91272" y="42062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A[1]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906256" y="3108960"/>
            <a:ext cx="950976" cy="566928"/>
          </a:xfrm>
          <a:prstGeom prst="roundRect">
            <a:avLst>
              <a:gd name="adj" fmla="val 8065"/>
            </a:avLst>
          </a:prstGeom>
          <a:solidFill>
            <a:srgbClr val="E7F7F1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70264" y="3218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A673"/>
                </a:solidFill>
              </a:rPr>
              <a:t>Thread 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198864" y="3794760"/>
            <a:ext cx="347472" cy="274320"/>
          </a:xfrm>
          <a:prstGeom prst="chevron">
            <a:avLst/>
          </a:prstGeom>
          <a:solidFill>
            <a:srgbClr val="C8CFDC"/>
          </a:solidFill>
          <a:ln w="12700">
            <a:solidFill>
              <a:srgbClr val="C8CF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43416" y="42062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A[2]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058400" y="3108960"/>
            <a:ext cx="950976" cy="566928"/>
          </a:xfrm>
          <a:prstGeom prst="roundRect">
            <a:avLst>
              <a:gd name="adj" fmla="val 8065"/>
            </a:avLst>
          </a:prstGeom>
          <a:solidFill>
            <a:srgbClr val="E7F7F1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22408" y="3218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A673"/>
                </a:solidFill>
              </a:rPr>
              <a:t>Thread 3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351008" y="3794760"/>
            <a:ext cx="347472" cy="274320"/>
          </a:xfrm>
          <a:prstGeom prst="chevron">
            <a:avLst/>
          </a:prstGeom>
          <a:solidFill>
            <a:srgbClr val="C8CFDC"/>
          </a:solidFill>
          <a:ln w="12700">
            <a:solidFill>
              <a:srgbClr val="C8CF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95560" y="42062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A[3]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73952" y="4882896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A673"/>
                </a:solidFill>
              </a:rPr>
              <a:t>NVIDIA GPUs are more precisely described as SIMT, but Flynn’s SIMD gives the right data-parallel intuition.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CS455 Mental Model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MPI across machines + CUDA within each GPU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69080" y="11430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Hybrid MPI + CUDA program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89904" y="1591056"/>
            <a:ext cx="0" cy="36576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1956816"/>
            <a:ext cx="7516368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1956816"/>
            <a:ext cx="0" cy="329184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9904" y="1956816"/>
            <a:ext cx="0" cy="329184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088" y="1956816"/>
            <a:ext cx="0" cy="329184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28600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4688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4C5B"/>
                </a:solidFill>
              </a:rPr>
              <a:t>Laptop / Node 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572768" y="2880360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FDEBED"/>
          </a:solidFill>
          <a:ln w="12700">
            <a:solidFill>
              <a:srgbClr val="FDEB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27632" y="293065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5B"/>
                </a:solidFill>
              </a:rPr>
              <a:t>MPI Rank 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84248" y="341985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A673"/>
                </a:solidFill>
              </a:rPr>
              <a:t>GPU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89304" y="3749040"/>
            <a:ext cx="429768" cy="384048"/>
          </a:xfrm>
          <a:prstGeom prst="roundRect">
            <a:avLst>
              <a:gd name="adj" fmla="val 9524"/>
            </a:avLst>
          </a:prstGeom>
          <a:solidFill>
            <a:srgbClr val="E7F7F1"/>
          </a:solidFill>
          <a:ln w="11430">
            <a:solidFill>
              <a:srgbClr val="17A6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9304" y="3849624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673"/>
                </a:solidFill>
              </a:rPr>
              <a:t>T0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37944" y="3749040"/>
            <a:ext cx="429768" cy="384048"/>
          </a:xfrm>
          <a:prstGeom prst="roundRect">
            <a:avLst>
              <a:gd name="adj" fmla="val 9524"/>
            </a:avLst>
          </a:prstGeom>
          <a:solidFill>
            <a:srgbClr val="E7F7F1"/>
          </a:solidFill>
          <a:ln w="11430">
            <a:solidFill>
              <a:srgbClr val="17A6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37944" y="3849624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673"/>
                </a:solidFill>
              </a:rPr>
              <a:t>T1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86584" y="3749040"/>
            <a:ext cx="429768" cy="384048"/>
          </a:xfrm>
          <a:prstGeom prst="roundRect">
            <a:avLst>
              <a:gd name="adj" fmla="val 9524"/>
            </a:avLst>
          </a:prstGeom>
          <a:solidFill>
            <a:srgbClr val="E7F7F1"/>
          </a:solidFill>
          <a:ln w="11430">
            <a:solidFill>
              <a:srgbClr val="17A6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86584" y="3849624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673"/>
                </a:solidFill>
              </a:rPr>
              <a:t>T2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35224" y="3749040"/>
            <a:ext cx="429768" cy="384048"/>
          </a:xfrm>
          <a:prstGeom prst="roundRect">
            <a:avLst>
              <a:gd name="adj" fmla="val 9524"/>
            </a:avLst>
          </a:prstGeom>
          <a:solidFill>
            <a:srgbClr val="E7F7F1"/>
          </a:solidFill>
          <a:ln w="11430">
            <a:solidFill>
              <a:srgbClr val="17A6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35224" y="3849624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673"/>
                </a:solidFill>
              </a:rPr>
              <a:t>T3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8304" y="228600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24688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4C5B"/>
                </a:solidFill>
              </a:rPr>
              <a:t>Laptop / Node 1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330952" y="2880360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FDEBED"/>
          </a:solidFill>
          <a:ln w="12700">
            <a:solidFill>
              <a:srgbClr val="FDEB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85816" y="293065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5B"/>
                </a:solidFill>
              </a:rPr>
              <a:t>MPI Rank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42432" y="341985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A673"/>
                </a:solidFill>
              </a:rPr>
              <a:t>GPU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47488" y="3749040"/>
            <a:ext cx="429768" cy="384048"/>
          </a:xfrm>
          <a:prstGeom prst="roundRect">
            <a:avLst>
              <a:gd name="adj" fmla="val 9524"/>
            </a:avLst>
          </a:prstGeom>
          <a:solidFill>
            <a:srgbClr val="E7F7F1"/>
          </a:solidFill>
          <a:ln w="11430">
            <a:solidFill>
              <a:srgbClr val="17A6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3849624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673"/>
                </a:solidFill>
              </a:rPr>
              <a:t>T0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96128" y="3749040"/>
            <a:ext cx="429768" cy="384048"/>
          </a:xfrm>
          <a:prstGeom prst="roundRect">
            <a:avLst>
              <a:gd name="adj" fmla="val 9524"/>
            </a:avLst>
          </a:prstGeom>
          <a:solidFill>
            <a:srgbClr val="E7F7F1"/>
          </a:solidFill>
          <a:ln w="11430">
            <a:solidFill>
              <a:srgbClr val="17A6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96128" y="3849624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673"/>
                </a:solidFill>
              </a:rPr>
              <a:t>T1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44768" y="3749040"/>
            <a:ext cx="429768" cy="384048"/>
          </a:xfrm>
          <a:prstGeom prst="roundRect">
            <a:avLst>
              <a:gd name="adj" fmla="val 9524"/>
            </a:avLst>
          </a:prstGeom>
          <a:solidFill>
            <a:srgbClr val="E7F7F1"/>
          </a:solidFill>
          <a:ln w="11430">
            <a:solidFill>
              <a:srgbClr val="17A6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3849624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673"/>
                </a:solidFill>
              </a:rPr>
              <a:t>T2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93408" y="3749040"/>
            <a:ext cx="429768" cy="384048"/>
          </a:xfrm>
          <a:prstGeom prst="roundRect">
            <a:avLst>
              <a:gd name="adj" fmla="val 9524"/>
            </a:avLst>
          </a:prstGeom>
          <a:solidFill>
            <a:srgbClr val="E7F7F1"/>
          </a:solidFill>
          <a:ln w="11430">
            <a:solidFill>
              <a:srgbClr val="17A6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93408" y="3849624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673"/>
                </a:solidFill>
              </a:rPr>
              <a:t>T3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476488" y="228600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41080" y="24688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4C5B"/>
                </a:solidFill>
              </a:rPr>
              <a:t>Laptop / Node 2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089136" y="2880360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FDEBED"/>
          </a:solidFill>
          <a:ln w="12700">
            <a:solidFill>
              <a:srgbClr val="FDEB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293065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5B"/>
                </a:solidFill>
              </a:rPr>
              <a:t>MPI Rank 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500616" y="341985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A673"/>
                </a:solidFill>
              </a:rPr>
              <a:t>GPU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805672" y="3749040"/>
            <a:ext cx="429768" cy="384048"/>
          </a:xfrm>
          <a:prstGeom prst="roundRect">
            <a:avLst>
              <a:gd name="adj" fmla="val 9524"/>
            </a:avLst>
          </a:prstGeom>
          <a:solidFill>
            <a:srgbClr val="E7F7F1"/>
          </a:solidFill>
          <a:ln w="11430">
            <a:solidFill>
              <a:srgbClr val="17A6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05672" y="3849624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673"/>
                </a:solidFill>
              </a:rPr>
              <a:t>T0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354312" y="3749040"/>
            <a:ext cx="429768" cy="384048"/>
          </a:xfrm>
          <a:prstGeom prst="roundRect">
            <a:avLst>
              <a:gd name="adj" fmla="val 9524"/>
            </a:avLst>
          </a:prstGeom>
          <a:solidFill>
            <a:srgbClr val="E7F7F1"/>
          </a:solidFill>
          <a:ln w="11430">
            <a:solidFill>
              <a:srgbClr val="17A6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54312" y="3849624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673"/>
                </a:solidFill>
              </a:rPr>
              <a:t>T1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902952" y="3749040"/>
            <a:ext cx="429768" cy="384048"/>
          </a:xfrm>
          <a:prstGeom prst="roundRect">
            <a:avLst>
              <a:gd name="adj" fmla="val 9524"/>
            </a:avLst>
          </a:prstGeom>
          <a:solidFill>
            <a:srgbClr val="E7F7F1"/>
          </a:solidFill>
          <a:ln w="11430">
            <a:solidFill>
              <a:srgbClr val="17A6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02952" y="3849624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673"/>
                </a:solidFill>
              </a:rPr>
              <a:t>T2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451592" y="3749040"/>
            <a:ext cx="429768" cy="384048"/>
          </a:xfrm>
          <a:prstGeom prst="roundRect">
            <a:avLst>
              <a:gd name="adj" fmla="val 9524"/>
            </a:avLst>
          </a:prstGeom>
          <a:solidFill>
            <a:srgbClr val="E7F7F1"/>
          </a:solidFill>
          <a:ln w="11430">
            <a:solidFill>
              <a:srgbClr val="17A67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51592" y="3849624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A673"/>
                </a:solidFill>
              </a:rPr>
              <a:t>T3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77824" y="4892040"/>
            <a:ext cx="4800600" cy="731520"/>
          </a:xfrm>
          <a:prstGeom prst="roundRect">
            <a:avLst>
              <a:gd name="adj" fmla="val 7500"/>
            </a:avLst>
          </a:prstGeom>
          <a:solidFill>
            <a:srgbClr val="FDEBED"/>
          </a:solidFill>
          <a:ln w="12700">
            <a:solidFill>
              <a:srgbClr val="E74C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7280" y="5074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4C5B"/>
                </a:solidFill>
              </a:rPr>
              <a:t>Across nodes: MIMD + MPI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492240" y="4892040"/>
            <a:ext cx="4800600" cy="731520"/>
          </a:xfrm>
          <a:prstGeom prst="roundRect">
            <a:avLst>
              <a:gd name="adj" fmla="val 7500"/>
            </a:avLst>
          </a:prstGeom>
          <a:solidFill>
            <a:srgbClr val="E7F7F1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507492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A673"/>
                </a:solidFill>
              </a:rPr>
              <a:t>Inside a GPU: SIMT / data parallelism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87552" y="5907024"/>
            <a:ext cx="10195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SPMD is the programming model: each MPI rank runs the same program, but rank IDs let different processes work on different data or take different code paths.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4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CS455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Flynn Taxonomy and CS455</dc:title>
  <dc:subject>CS455 Flynn Taxonomy</dc:subject>
  <dc:creator>OpenAI</dc:creator>
  <cp:lastModifiedBy>OpenAI</cp:lastModifiedBy>
  <cp:revision>1</cp:revision>
  <dcterms:created xsi:type="dcterms:W3CDTF">2026-09-07T03:24:19Z</dcterms:created>
  <dcterms:modified xsi:type="dcterms:W3CDTF">2026-09-07T03:24:19Z</dcterms:modified>
</cp:coreProperties>
</file>