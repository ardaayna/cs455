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86e3ad6cb84da0" /><Relationship Type="http://schemas.openxmlformats.org/officeDocument/2006/relationships/extended-properties" Target="/docProps/app.xml" Id="Re2aeccb5279d461c" /><Relationship Type="http://schemas.openxmlformats.org/officeDocument/2006/relationships/officeDocument" Target="/ppt/presentation.xml" Id="R32cd508ee9f745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183b2bfcc448f1"/>
  </p:sldMasterIdLst>
  <p:notesMasterIdLst>
    <p:notesMasterId xmlns:r="http://schemas.openxmlformats.org/officeDocument/2006/relationships" r:id="R115f17e63eb64174"/>
  </p:notesMasterIdLst>
  <p:sldIdLst>
    <p:sldId xmlns:r="http://schemas.openxmlformats.org/officeDocument/2006/relationships" id="256" r:id="Reb53cc3106394f2d"/>
    <p:sldId xmlns:r="http://schemas.openxmlformats.org/officeDocument/2006/relationships" id="257" r:id="Rbc65feb96daa4020"/>
    <p:sldId xmlns:r="http://schemas.openxmlformats.org/officeDocument/2006/relationships" id="258" r:id="R7bb396fbb2034ba2"/>
    <p:sldId xmlns:r="http://schemas.openxmlformats.org/officeDocument/2006/relationships" id="259" r:id="R3a58a3a6fea647c3"/>
    <p:sldId xmlns:r="http://schemas.openxmlformats.org/officeDocument/2006/relationships" id="260" r:id="Rf8c382f048a54d7d"/>
    <p:sldId xmlns:r="http://schemas.openxmlformats.org/officeDocument/2006/relationships" id="261" r:id="Re0074df6d3084077"/>
    <p:sldId xmlns:r="http://schemas.openxmlformats.org/officeDocument/2006/relationships" id="262" r:id="R1c68857ec969437d"/>
    <p:sldId xmlns:r="http://schemas.openxmlformats.org/officeDocument/2006/relationships" id="263" r:id="Rbeedd5a8c40e4877"/>
    <p:sldId xmlns:r="http://schemas.openxmlformats.org/officeDocument/2006/relationships" id="264" r:id="Rffecf056db174c6d"/>
    <p:sldId xmlns:r="http://schemas.openxmlformats.org/officeDocument/2006/relationships" id="265" r:id="R45913551e15b41b4"/>
    <p:sldId xmlns:r="http://schemas.openxmlformats.org/officeDocument/2006/relationships" id="266" r:id="R4c6a8d2485df4b94"/>
    <p:sldId xmlns:r="http://schemas.openxmlformats.org/officeDocument/2006/relationships" id="267" r:id="Rfcf6ff23e7ef4b83"/>
    <p:sldId xmlns:r="http://schemas.openxmlformats.org/officeDocument/2006/relationships" id="268" r:id="R03d19d019c664f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dc31857c194b42" /><Relationship Type="http://schemas.openxmlformats.org/officeDocument/2006/relationships/slideMaster" Target="/ppt/slideMasters/slideMaster1.xml" Id="R4f183b2bfcc448f1" /><Relationship Type="http://schemas.openxmlformats.org/officeDocument/2006/relationships/notesMaster" Target="/ppt/notesMasters/notesMaster1.xml" Id="R115f17e63eb64174" /><Relationship Type="http://schemas.openxmlformats.org/officeDocument/2006/relationships/presProps" Target="/ppt/presProps.xml" Id="R2c9022dd9e3047f3" /><Relationship Type="http://schemas.openxmlformats.org/officeDocument/2006/relationships/tableStyles" Target="/ppt/tableStyles.xml" Id="R5b6e5b5b26c7440f" /><Relationship Type="http://schemas.openxmlformats.org/officeDocument/2006/relationships/slide" Target="/ppt/slides/slide1.xml" Id="Reb53cc3106394f2d" /><Relationship Type="http://schemas.openxmlformats.org/officeDocument/2006/relationships/slide" Target="/ppt/slides/slide2.xml" Id="Rbc65feb96daa4020" /><Relationship Type="http://schemas.openxmlformats.org/officeDocument/2006/relationships/slide" Target="/ppt/slides/slide3.xml" Id="R7bb396fbb2034ba2" /><Relationship Type="http://schemas.openxmlformats.org/officeDocument/2006/relationships/slide" Target="/ppt/slides/slide4.xml" Id="R3a58a3a6fea647c3" /><Relationship Type="http://schemas.openxmlformats.org/officeDocument/2006/relationships/slide" Target="/ppt/slides/slide5.xml" Id="Rf8c382f048a54d7d" /><Relationship Type="http://schemas.openxmlformats.org/officeDocument/2006/relationships/slide" Target="/ppt/slides/slide6.xml" Id="Re0074df6d3084077" /><Relationship Type="http://schemas.openxmlformats.org/officeDocument/2006/relationships/slide" Target="/ppt/slides/slide7.xml" Id="R1c68857ec969437d" /><Relationship Type="http://schemas.openxmlformats.org/officeDocument/2006/relationships/slide" Target="/ppt/slides/slide8.xml" Id="Rbeedd5a8c40e4877" /><Relationship Type="http://schemas.openxmlformats.org/officeDocument/2006/relationships/slide" Target="/ppt/slides/slide9.xml" Id="Rffecf056db174c6d" /><Relationship Type="http://schemas.openxmlformats.org/officeDocument/2006/relationships/slide" Target="/ppt/slides/slide10.xml" Id="R45913551e15b41b4" /><Relationship Type="http://schemas.openxmlformats.org/officeDocument/2006/relationships/slide" Target="/ppt/slides/slide11.xml" Id="R4c6a8d2485df4b94" /><Relationship Type="http://schemas.openxmlformats.org/officeDocument/2006/relationships/slide" Target="/ppt/slides/slide12.xml" Id="Rfcf6ff23e7ef4b83" /><Relationship Type="http://schemas.openxmlformats.org/officeDocument/2006/relationships/slide" Target="/ppt/slides/slide13.xml" Id="R03d19d019c664f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c2b313678848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a9cae6a11641a2" /><Relationship Type="http://schemas.openxmlformats.org/officeDocument/2006/relationships/notesMaster" Target="/ppt/notesMasters/notesMaster1.xml" Id="R0c4d774ae73c46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95df1e56dd4bb6" /><Relationship Type="http://schemas.openxmlformats.org/officeDocument/2006/relationships/notesMaster" Target="/ppt/notesMasters/notesMaster1.xml" Id="Rbefc6660a37040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57b2e59aa44edc" /><Relationship Type="http://schemas.openxmlformats.org/officeDocument/2006/relationships/notesMaster" Target="/ppt/notesMasters/notesMaster1.xml" Id="Rf7b1a38f66894d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dfc5c55048408d" /><Relationship Type="http://schemas.openxmlformats.org/officeDocument/2006/relationships/notesMaster" Target="/ppt/notesMasters/notesMaster1.xml" Id="R9277b46efbe345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598c41915c459e" /><Relationship Type="http://schemas.openxmlformats.org/officeDocument/2006/relationships/notesMaster" Target="/ppt/notesMasters/notesMaster1.xml" Id="R152c26bda9434a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1c13408ef94737" /><Relationship Type="http://schemas.openxmlformats.org/officeDocument/2006/relationships/notesMaster" Target="/ppt/notesMasters/notesMaster1.xml" Id="R5f5b03067c834e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dacc03ebc5432d" /><Relationship Type="http://schemas.openxmlformats.org/officeDocument/2006/relationships/notesMaster" Target="/ppt/notesMasters/notesMaster1.xml" Id="Rb2595323d3ea4f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3967c8e01d4427" /><Relationship Type="http://schemas.openxmlformats.org/officeDocument/2006/relationships/notesMaster" Target="/ppt/notesMasters/notesMaster1.xml" Id="R944b3b1baa324f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a8b468c8da482c" /><Relationship Type="http://schemas.openxmlformats.org/officeDocument/2006/relationships/notesMaster" Target="/ppt/notesMasters/notesMaster1.xml" Id="R892b8d4791974c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3727da11ce426f" /><Relationship Type="http://schemas.openxmlformats.org/officeDocument/2006/relationships/notesMaster" Target="/ppt/notesMasters/notesMaster1.xml" Id="R818a0c1d135544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47d2748067477e" /><Relationship Type="http://schemas.openxmlformats.org/officeDocument/2006/relationships/notesMaster" Target="/ppt/notesMasters/notesMaster1.xml" Id="Rcf2c1d5c76c541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10266451464eca" /><Relationship Type="http://schemas.openxmlformats.org/officeDocument/2006/relationships/notesMaster" Target="/ppt/notesMasters/notesMaster1.xml" Id="R927afc96ab4e46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87a8dc573348a9" /><Relationship Type="http://schemas.openxmlformats.org/officeDocument/2006/relationships/notesMaster" Target="/ppt/notesMasters/notesMaster1.xml" Id="R41b86c34683145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89266ad444b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d93390645d4fdb" /><Relationship Type="http://schemas.openxmlformats.org/officeDocument/2006/relationships/slideLayout" Target="/ppt/slideLayouts/slideLayout1.xml" Id="Rfaad237129c24f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ad237129c24f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a5948ae714de2" /><Relationship Type="http://schemas.openxmlformats.org/officeDocument/2006/relationships/notesSlide" Target="/ppt/notesSlides/notesSlide1.xml" Id="R1c83ba5fe0ef42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bbcda75bf48b4" /><Relationship Type="http://schemas.openxmlformats.org/officeDocument/2006/relationships/notesSlide" Target="/ppt/notesSlides/notesSlide2.xml" Id="R5eb0d2e203f940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a9556a0c64a5a" /><Relationship Type="http://schemas.openxmlformats.org/officeDocument/2006/relationships/notesSlide" Target="/ppt/notesSlides/notesSlide3.xml" Id="Rc9b91224c2784f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8c159910f4a1a" /><Relationship Type="http://schemas.openxmlformats.org/officeDocument/2006/relationships/notesSlide" Target="/ppt/notesSlides/notesSlide4.xml" Id="R450e1ed3d7e047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2328194994262" /><Relationship Type="http://schemas.openxmlformats.org/officeDocument/2006/relationships/notesSlide" Target="/ppt/notesSlides/notesSlide5.xml" Id="R5439510aefdd4f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c023ab09b430d" /><Relationship Type="http://schemas.openxmlformats.org/officeDocument/2006/relationships/notesSlide" Target="/ppt/notesSlides/notesSlide6.xml" Id="Rf72b17e70bbf4a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7a63c725d4ea4" /><Relationship Type="http://schemas.openxmlformats.org/officeDocument/2006/relationships/notesSlide" Target="/ppt/notesSlides/notesSlide7.xml" Id="R9d35379aa44840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3fc194b2049b9" /><Relationship Type="http://schemas.openxmlformats.org/officeDocument/2006/relationships/notesSlide" Target="/ppt/notesSlides/notesSlide8.xml" Id="Rd24d22afec474c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eb7ed3f5646c6" /><Relationship Type="http://schemas.openxmlformats.org/officeDocument/2006/relationships/notesSlide" Target="/ppt/notesSlides/notesSlide9.xml" Id="Rdfbfbf733da64e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146142f534c7a" /><Relationship Type="http://schemas.openxmlformats.org/officeDocument/2006/relationships/notesSlide" Target="/ppt/notesSlides/notesSlide10.xml" Id="R9e9f51f9060c40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73ebe8eb140a8" /><Relationship Type="http://schemas.openxmlformats.org/officeDocument/2006/relationships/notesSlide" Target="/ppt/notesSlides/notesSlide11.xml" Id="R9782dd54d6894c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b1c1aba3e44cc" /><Relationship Type="http://schemas.openxmlformats.org/officeDocument/2006/relationships/notesSlide" Target="/ppt/notesSlides/notesSlide12.xml" Id="R7220e57c3dd042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fc685c7794392" /><Relationship Type="http://schemas.openxmlformats.org/officeDocument/2006/relationships/notesSlide" Target="/ppt/notesSlides/notesSlide13.xml" Id="Rb7b543994b0548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49221-8329-4879-86F8-4DEF4086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646C"/>
                </a:solidFill>
              </a:defRPr>
            </a:pPr>
            <a:r>
              <a:rPr sz="1350" b="1">
                <a:solidFill>
                  <a:srgbClr val="60646C"/>
                </a:solidFill>
              </a:rPr>
              <a:t>CS455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13DC3-F2D7-496F-B526-242FCA9D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Linux Commands for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MPI + CUDA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7A660-5731-4FD5-923B-86F06892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647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0646C"/>
                </a:solidFill>
              </a:defRPr>
            </a:pPr>
            <a:r>
              <a:rPr sz="2025" b="0">
                <a:solidFill>
                  <a:srgbClr val="60646C"/>
                </a:solidFill>
              </a:rPr>
              <a:t>The practical command-line skills needed to work on a GPU cluster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42819-0A61-44C8-BC63-4C57D86E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38200"/>
            <a:ext cx="33147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113E7-543F-4F52-850A-17AA9BE2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D69C"/>
                </a:solidFill>
              </a:defRPr>
            </a:pPr>
            <a:r>
              <a:rPr sz="1950" b="1">
                <a:solidFill>
                  <a:srgbClr val="73D69C"/>
                </a:solidFill>
              </a:rPr>
              <a:t>student@gpu01:~$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DD03A-1C3F-43A9-9091-20AF91B4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mpirun -np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6B790-A8DB-49A0-B296-E0A64F93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./mpi_cuda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34D28-1C54-4CD3-9ECC-217ECBC9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433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3D69C"/>
                </a:solidFill>
              </a:defRPr>
            </a:pPr>
            <a:r>
              <a:rPr sz="2100" b="0">
                <a:solidFill>
                  <a:srgbClr val="73D69C"/>
                </a:solidFill>
              </a:rPr>
              <a:t>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2822B-5929-49C1-81C4-2FDBE5BB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4946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0E0BE-22C6-4E55-AC2A-8DEDC93B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78D78-B11D-4B52-AF74-48FDB689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terminal is a text interface to Linux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80E8C-7AFE-46D8-ADE3-907849D1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9F7FA-AEFB-4B34-AAC2-D87E0D4A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DAB4A-DC57-4AF6-9662-78AE9FE1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46C"/>
                </a:solidFill>
              </a:defRPr>
            </a:pPr>
            <a:r>
              <a:rPr sz="1950" b="0">
                <a:solidFill>
                  <a:srgbClr val="60646C"/>
                </a:solidFill>
              </a:rPr>
              <a:t>A shell reads a command, runs a program, and prints its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228DC-AC16-4B6C-BDC0-366547CF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03632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36856-B236-4298-B704-3B6A4359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student@gpu01:~/cs455$ pwd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64C0C-D28C-43AE-BAF6-34570BA8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3D69C"/>
                </a:solidFill>
              </a:defRPr>
            </a:pPr>
            <a:r>
              <a:rPr sz="1800" b="0">
                <a:solidFill>
                  <a:srgbClr val="73D69C"/>
                </a:solidFill>
              </a:rPr>
              <a:t>/home/student/cs455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098EE-6B50-41EA-8909-5A827859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95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5ABC9-89EE-4C55-AC20-699CC67D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95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machine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C9043-B7EE-40E7-8901-14C5979E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95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current directory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F5BC5-005C-48B0-859F-089D6ADB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95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725031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5E441E-1081-4612-9730-BCF35CAF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4C6F3-824B-43A4-8EE7-B7678D3A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Navigate the filesystem before running anything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9F68E-8262-4E46-94A1-9998468B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DB20C-E87F-4FB8-8BF3-55A16AD0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D35FD-709E-4A26-9192-D6D878E3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D52D2-4CDF-4F91-88D8-CE3E51D4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502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pwd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4E4B9-9EE0-48EC-8143-B54CC5CB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812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show the current directory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3B456-12A0-4FA3-987C-D87495FF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F6B21-F31B-4F6C-84F8-AA26D726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0502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ls -lah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95EE0-EAC8-4A02-9648-BD5BF6C4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812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list files, including hidden files and sizes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AE7C1-7C9C-458A-B512-7FDCE187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CADAF-0AA4-45C7-A764-26B47B26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8617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cd ~/cs455/project1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28A57-2B2F-42B7-85A6-F2A99051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624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move into a directory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35BD5-8991-4AB0-997D-857AC480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73572-7E0C-4BBE-9729-56A3E6D7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8617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cd 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13067-ECDE-4076-B992-74461442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624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move to the parent directory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FA8D2-0B50-42C5-A810-D48A8E5C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153"/>
                </a:solidFill>
              </a:defRPr>
            </a:pPr>
            <a:r>
              <a:rPr sz="1725" b="1">
                <a:solidFill>
                  <a:srgbClr val="183153"/>
                </a:solidFill>
              </a:rPr>
              <a:t>Tip: press Tab to complete a filename or directory name.</a:t>
            </a:r>
          </a:p>
        </p:txBody>
      </p:sp>
    </p:spTree>
    <p:extLst>
      <p:ext uri="{BB962C8B-B14F-4D97-AF65-F5344CB8AC3E}">
        <p14:creationId xmlns:p14="http://schemas.microsoft.com/office/powerpoint/2010/main" val="1268645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C9BE4-C706-4C40-9E59-31B3205C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A8AD6-6BA1-4AA1-B1D8-6B118599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Create, copy, rename, and remove files carefully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67927-70DD-4172-9E95-8D27DE41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926B8-E7B8-457D-A7C3-FA87308B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45F09-BA97-4324-9010-E0A15787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mkdir 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4DE52-0CE8-44FB-AF69-D6535D0A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28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create a directory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802F4-6100-42F5-A476-8C210B3A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47E0E-BE38-4D8B-948D-E221F3D3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touch notes.txt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A2EF2-28DF-44B5-8CB6-DE07FEC8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09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create an empty 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CE101-48FF-471C-A93B-72303370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91565-D71F-49AB-81F1-D44FD74F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cp main.c backup.c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6F039-5AB5-4CEC-A0A6-5104E5FD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90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copy a 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C5A27-6444-4C4C-BE1F-52CCA894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572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3001C-DAF7-4B02-AA9B-187D3BEE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mv old.c new.c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3BEF36-93E9-4ACC-BC17-AA247612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719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move or rename a 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1C27C-933A-464A-A9CF-A24A3364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8CCEF-61B1-4FDA-8B46-AC3DC28D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rm output.txt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892E5-7E7D-46FD-879C-F7450DA0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53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delete a 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41F6F-3509-4BDB-8004-C857F146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5782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0F47C-0E6C-4F52-A65A-C6CE9668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28800"/>
            <a:ext cx="17526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46982-1060-47AF-9256-39728E15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526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153"/>
                </a:solidFill>
              </a:defRPr>
            </a:pPr>
            <a:r>
              <a:rPr sz="1725" b="1">
                <a:solidFill>
                  <a:srgbClr val="183153"/>
                </a:solidFill>
              </a:rPr>
              <a:t>CAUTION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0036E-E247-4440-A36B-1092B7B4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81300"/>
            <a:ext cx="13525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153"/>
                </a:solidFill>
              </a:defRPr>
            </a:pPr>
            <a:r>
              <a:rPr sz="1500" b="1">
                <a:solidFill>
                  <a:srgbClr val="183153"/>
                </a:solidFill>
              </a:rPr>
              <a:t>rm does not use a recycle bin.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183153"/>
                </a:solidFill>
              </a:defRPr>
            </a:pPr>
            <a:r>
              <a:rPr sz="1500" b="1">
                <a:solidFill>
                  <a:srgbClr val="183153"/>
                </a:solidFill>
              </a:rPr>
              <a:t>Check the path before pressing Enter.</a:t>
            </a:r>
          </a:p>
        </p:txBody>
      </p:sp>
    </p:spTree>
    <p:extLst>
      <p:ext uri="{BB962C8B-B14F-4D97-AF65-F5344CB8AC3E}">
        <p14:creationId xmlns:p14="http://schemas.microsoft.com/office/powerpoint/2010/main" val="858811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4C9D1E-BBDF-4A97-A388-2AB008BD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2FB06-245F-407B-8FC4-19B64CA5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Inspect and edit source files from the 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FD6BA-A479-43B1-A8D2-88BCD212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8C2F5-4A62-43D5-ACBB-C094499F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2B859-E1CC-4B39-B5F5-4F02C397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68014-85ED-4657-824B-8C490AE7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9072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cat hello.c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0F0A0-31C3-4C6C-8A7B-E1DE53F1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print a short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1E768-8EF0-42F2-9F7D-F31AEAB0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C154D-ACF4-4A1C-A0E1-5AF354E8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072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less output.log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B086F-3769-4CA1-9D41-9CD7FC4C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669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scroll through a long file; press q to exit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7EB34-6A89-484C-92A3-FE1E9DB3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73549-E207-4228-9C5C-CC1C75FF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head -n 20 output.log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66190-BC7A-4A59-86C7-978DF1BF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290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show the first 20 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FC417-240E-4376-AD2F-216C6B26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471AC-86DE-48E1-84E3-A1077692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5282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tail -f run.log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E4D6E-0D27-493A-AC5F-D3BDCB9E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follow new log output in real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11990-3640-485F-9A12-FBB68184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153"/>
                </a:solidFill>
              </a:defRPr>
            </a:pPr>
            <a:r>
              <a:rPr sz="1725" b="1">
                <a:solidFill>
                  <a:srgbClr val="183153"/>
                </a:solidFill>
              </a:rPr>
              <a:t>Editors: nano hello.c   •   vim hello.c   •   code hello.c</a:t>
            </a:r>
          </a:p>
        </p:txBody>
      </p:sp>
    </p:spTree>
    <p:extLst>
      <p:ext uri="{BB962C8B-B14F-4D97-AF65-F5344CB8AC3E}">
        <p14:creationId xmlns:p14="http://schemas.microsoft.com/office/powerpoint/2010/main" val="13559066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F3144-4213-4FD3-9F29-EE61B982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7612D-D921-49B9-A1DA-EFA99A5E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Permissions determine who may run a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0AEF7-7E14-43B6-9CCF-4DA527C4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1EFE1-4542-4B32-B3D3-BF719823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8B5BA-0E92-457A-A90C-4E5E858C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42E20-F346-44D3-8196-C5B379D1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ls -l mpi_program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2B794-3BF2-4353-86CC-8EF224EB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-rwxr-xr-x  1 student student 24576 Sep 2 mpi_program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7FD6F-B30C-40A7-B911-19662C88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104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173EA-30F6-4993-958B-C29CD191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 =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3D12B-0F72-40D0-9C94-6D395EA2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90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w = write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4DA83-87FA-4A0B-9077-44856A8B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90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x = execute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81EEA-AC2F-440A-895E-7EFF3F1D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chmod +x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58291-48BE-40EB-A491-5557A46F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D6AB7-2837-4D76-9A65-EE94BA80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chmod +x mpi_program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EC569-8DD8-4861-BBDB-99BBDBB3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46C"/>
                </a:solidFill>
              </a:defRPr>
            </a:pPr>
            <a:r>
              <a:rPr sz="1650" b="0">
                <a:solidFill>
                  <a:srgbClr val="60646C"/>
                </a:solidFill>
              </a:rPr>
              <a:t>Adds execute permission to the file.</a:t>
            </a:r>
          </a:p>
        </p:txBody>
      </p:sp>
    </p:spTree>
    <p:extLst>
      <p:ext uri="{BB962C8B-B14F-4D97-AF65-F5344CB8AC3E}">
        <p14:creationId xmlns:p14="http://schemas.microsoft.com/office/powerpoint/2010/main" val="948717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7ED9D-9FDF-441D-92B2-7585D8F7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5A7A9-69CD-4D48-A37A-CE1F43E3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SSH opens a shell on another cluster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4876A-6733-47E4-8A80-5FE48E83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FB19B-712B-4CCC-A499-9856B9EE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C4215-39A6-42EB-99F0-0CEBB564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685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E04F4-9637-485F-9F4F-1E3FE00C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651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ssh student@192.168.1.20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A2AE2-B2EE-43A8-AC08-1994811A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Connect to a remote laptop or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A8C53-E5D6-4341-819E-13ADFD87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72C2B-FE5D-43D1-A5EF-EFAF6F4D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hostname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633B0-B114-49A8-B08D-C04EAE65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AAE43-1833-4811-A839-31031984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290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whoami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D14CF-452F-46E6-B588-0C3E8622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Which machine am I using?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6527A-F169-4265-87A5-161D880D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Which user am I?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49845-F126-4564-8ECE-7C53E1A9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CBE40-9B11-461E-92EF-D44AF56C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exit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06324-E44E-4FD6-B826-9F81AAE1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Close the remote shell</a:t>
            </a:r>
          </a:p>
        </p:txBody>
      </p:sp>
    </p:spTree>
    <p:extLst>
      <p:ext uri="{BB962C8B-B14F-4D97-AF65-F5344CB8AC3E}">
        <p14:creationId xmlns:p14="http://schemas.microsoft.com/office/powerpoint/2010/main" val="19516137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5C972-4FF1-4206-B3DA-D1F97C52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50551-4BA6-4D12-BD7B-4E3B39B5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Copy project files between machines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4C91F-8F34-419E-BA8D-2F703EC6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DEB4F-49F2-4140-9DDA-FC4CA636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57BD7-9451-49F4-95FB-95C2BA6F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066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EF1ED-9A73-4C5F-8CB4-3BF2860E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scp main.c student@gpu02:~/cs455/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13D0E-95E3-40C1-9289-4CBF52E8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Copy one file to gpu02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40DC4-BFA3-46B6-9C7E-F6DE2215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066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1B391-AD0D-49FB-B7FB-A11E85D2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scp -r project1/ student@gpu02:~/cs455/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AF470-6DCE-4C14-800C-EAB63478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Copy an entire directory recursively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610D2-FFBC-4EF3-8839-31A53626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1066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7875B-2F5B-44B8-963D-250A96B0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rsync -av project1/ student@gpu02:~/cs455/project1/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3574A-6384-483D-99E9-6AD4EB47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Synchronize changed files during repeated testing</a:t>
            </a:r>
          </a:p>
        </p:txBody>
      </p:sp>
    </p:spTree>
    <p:extLst>
      <p:ext uri="{BB962C8B-B14F-4D97-AF65-F5344CB8AC3E}">
        <p14:creationId xmlns:p14="http://schemas.microsoft.com/office/powerpoint/2010/main" val="612677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6CF15-660B-49B2-B408-528418DB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A1294-1458-402D-9C7C-72ECAD11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Verify the compilers and GPU before debugging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E87DC-BFD0-48E5-B2CD-B9A7FFDD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BAB70-CEA4-4232-9048-3E678F81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0C8BF-8162-4341-B82D-D7CADC2B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8BD6D-0009-4A3A-B806-9F9395D7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gcc --version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90D24-8D86-4F02-88E6-B31487D9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C compiler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C3CA7-29BE-4FBD-A3D2-3B071D34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0ABAF-3172-4243-AE56-408B3458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mpicc --version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AD11A-011D-42F8-B047-ACFE6432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MPI compiler wrapper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CAAC8-00C2-4EC8-B95A-D1141FF7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FFFD2-F9C8-4A9E-B800-FE2BA31E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mpirun --version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828FC-120C-47C3-AC50-9FE87CE6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MPI launcher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859CB-EDED-4310-9060-F9BF4262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45601-4142-47AC-9ED3-E301F6BE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99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nvcc --version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87C7B-A872-4F07-BEAE-490DC901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CUDA compiler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84B1B-2F1F-4C25-A6B0-2AFD8A54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CD80D-F573-404F-BB42-786977FB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nvidia-smi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C455C0-E9F2-48BD-9D7B-9055B6E8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GPU and driver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F97D2-CBD2-415F-B861-2E50324C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5193B-345B-4F1D-9558-FC198C9E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672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which nvcc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CF644-4B0F-4AF2-9390-77873187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46C"/>
                </a:solidFill>
              </a:defRPr>
            </a:pPr>
            <a:r>
              <a:rPr sz="1425" b="0">
                <a:solidFill>
                  <a:srgbClr val="60646C"/>
                </a:solidFill>
              </a:rPr>
              <a:t>location of a command</a:t>
            </a:r>
          </a:p>
        </p:txBody>
      </p:sp>
    </p:spTree>
    <p:extLst>
      <p:ext uri="{BB962C8B-B14F-4D97-AF65-F5344CB8AC3E}">
        <p14:creationId xmlns:p14="http://schemas.microsoft.com/office/powerpoint/2010/main" val="10350886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22B37-EEF7-41C1-8DAE-F30E3A43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78030-9BFB-4BF0-9717-20B8FB88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Compile MPI and CUDA programs with different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808A0-F2D1-4D4B-B242-631B55BB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ADBC2-B737-4206-862D-81F4F7DB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78B35-BF71-43E1-AA65-C06ED659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MPI C 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2A12B-8C13-4685-9AAF-0A27E9B3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066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88781-2B65-4821-BD46-425B3EBF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86025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mpicc hello_mpi.c -o hello_mpi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3322C-DDFF-4C71-AA2D-7EE18971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CUDA program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52A9F-0DEC-4E72-B421-61A45A52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066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B6F1A-5AA2-4D34-A0DC-41D6E19E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nvcc vector_add.cu -o vector_add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9D2C0-90B9-41B8-B392-1F893E2E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MPI + CUDA program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659B0-82DC-44C0-B666-47A62D39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066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CC638-9EB2-4E83-9562-DE2388FB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nvcc mpi_cuda.cu -o mpi_cuda -lmpi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9AB2C-1C0A-40B5-84AD-916F7B4D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The exact combined command may vary with the MPI installation.</a:t>
            </a:r>
          </a:p>
        </p:txBody>
      </p:sp>
    </p:spTree>
    <p:extLst>
      <p:ext uri="{BB962C8B-B14F-4D97-AF65-F5344CB8AC3E}">
        <p14:creationId xmlns:p14="http://schemas.microsoft.com/office/powerpoint/2010/main" val="2681234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90765-62C3-47BE-9761-9052A198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80988-D64B-4E31-AB98-23AB4D49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Start locally, then run across multiple machines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15396-4715-4D10-8AF5-2399EE80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4A4A8-1935-4AF2-B1E7-02E9477D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640AC-DFE9-4B63-9347-D81BCAF6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One 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8F3F3-25B9-4021-9A3F-9603B3DA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6E993-360A-4980-B591-798353C5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./hello_mpi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A62BE-A47F-4BF2-89F3-2753ADCC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Four MPI processes on one machine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6C902-3458-4E09-B681-36238A6E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DD04C-A607-42BF-A2AB-F75F02D4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9077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mpirun -np 4 ./hello_mpi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9AC16-FB6E-45F9-8B2D-D83CFF04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Multiple machines using a hostfile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391C1-D7F8-4845-8050-22CE10D2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0744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554E7-CD6D-477A-A7A2-3EBE4923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$ mpirun -np 4 --hostfile hosts ./mpi_cuda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150D9-8363-4019-AEE4-1EAC40FC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0744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C56E6-9C19-45F4-96A6-10516253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17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153"/>
                </a:solidFill>
              </a:defRPr>
            </a:pPr>
            <a:r>
              <a:rPr sz="1650" b="1">
                <a:solidFill>
                  <a:srgbClr val="183153"/>
                </a:solidFill>
              </a:rPr>
              <a:t>hosts file example:   gpu01 slots=1    gpu02 slots=1</a:t>
            </a:r>
          </a:p>
        </p:txBody>
      </p:sp>
    </p:spTree>
    <p:extLst>
      <p:ext uri="{BB962C8B-B14F-4D97-AF65-F5344CB8AC3E}">
        <p14:creationId xmlns:p14="http://schemas.microsoft.com/office/powerpoint/2010/main" val="21065972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4E2A0-FC56-40E2-82D4-F3FD5DF2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3E0DA-1730-4FB1-9A0C-F8116A2D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Monitor CPU, memory, storage, and GPU 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2A209-48D5-41AA-AC0F-D0325704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610E9-15DF-48FF-8C65-411FCA6E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2B1C9-8281-4FC0-AB96-D70E5EF8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top / htop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32A3A-03B2-42EB-91E5-33E4CCFD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907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running processes and 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03ACD-AE32-4FDF-8DBD-C3E5AA2B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193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037EE-5801-4617-BD23-725DED1D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ps aux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4B235-8D27-451E-9C71-30C238B4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process 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73760-6448-4510-955E-6B3A401B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A6C79-E94F-4622-BC04-1BEF22D1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free -h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5D947-A80F-48B1-82D0-4640FB26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623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RAM usage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8663D-B548-49D7-A342-75037DB0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909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21198-3FC3-4551-B647-EA23250C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df -h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6794C-AF9D-4DEB-A596-4C1D15A1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481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filesystem 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19E97-4951-4299-AD6F-C3D48E92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70A6C-95FE-418B-A0FB-AC4E0F3C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du -sh project1/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E6C66-B9F1-4BC4-B90C-B594E682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339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directory size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696504-E765-44A9-BDD3-DAB0582F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7BFDCB-E4A9-4337-992E-6806C9F5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watch -n 1 nvidia-smi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09FBA3-6985-4653-97C7-964493BD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refresh GPU usage every second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CD982-D9B7-45C7-A86A-C0D60DB9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68896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6F29C8-966F-4E33-ABE8-D773863A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237ED-9CEB-40FC-B039-7829BDD0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 repeatable workflow prevents most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EF7EE-5445-4425-9F7C-58C2033F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D9A6B-99A7-49E9-97D0-763798BD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D56E9-0469-4F27-91C0-0F82EEB4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29CD3-E11C-4B5B-9D16-357A43E8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9AD77-B76B-468B-9175-E5121A32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383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Connect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A09F2-4DE1-46A7-9230-30BEBAA2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ssh student@gpu01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CC702-1D94-484D-A3A7-D41E8BAB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86690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0D48B-88AE-4D09-9286-F0588195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383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415D2-C083-4171-B9CE-FA827D40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383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Locate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D652D-8B8D-4E47-8461-02C85B28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098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cd ~/cs455/project1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E5C8-96AB-4001-B8B8-42064E4A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E4363-0B22-4425-A439-EA8C6694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6B86F-7FEC-4DCA-B1B0-6F090F0A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383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4C6CB-3618-43AC-93D0-DDB55E17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nvidia-smi &amp;&amp; mpicc --version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5C0A1-D7CF-4412-808B-F689868C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A1856-73B4-41CC-8C98-1E97C51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6878E-2E6E-4774-9FE3-A55E2884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Compile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A340E-CDA8-4994-A242-2A2DE5A6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mpicc main.c -o 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30160-062A-4BC3-ABCC-364432B7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65760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B8C979-E4E2-42F9-8590-ED7363F4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8290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B0C2C-755F-442E-92B3-A033347C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8290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169FA2-E13C-4DB0-95BE-F6A47157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4005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mpirun -np 2 ./main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74DA40-C7EC-4530-9DD1-5A93F738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5760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335D7A-F0BE-4D01-BEAE-405FF223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892AED-C8E3-4494-B678-700D1F3C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Inspect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768750-E9B0-41FA-BCA5-9F04E16A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check output and resource usage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67E5DE-EA6A-42DE-9AE8-E27B120B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153"/>
                </a:solidFill>
              </a:defRPr>
            </a:pPr>
            <a:r>
              <a:rPr sz="1650" b="1">
                <a:solidFill>
                  <a:srgbClr val="183153"/>
                </a:solidFill>
              </a:rPr>
              <a:t>When something fails, identify the machine, directory, command, and exact error message.</a:t>
            </a:r>
          </a:p>
        </p:txBody>
      </p:sp>
    </p:spTree>
    <p:extLst>
      <p:ext uri="{BB962C8B-B14F-4D97-AF65-F5344CB8AC3E}">
        <p14:creationId xmlns:p14="http://schemas.microsoft.com/office/powerpoint/2010/main" val="325903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2026-09-02T00:59:33.8760000Z</dcterms:created>
  <dcterms:modified xsi:type="dcterms:W3CDTF">2026-09-02T00:59:33.8760000Z</dcterms:modified>
</coreProperties>
</file>