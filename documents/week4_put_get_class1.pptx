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7B1"/>
          </a:solidFill>
          <a:ln w="12700">
            <a:solidFill>
              <a:srgbClr val="2367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CS455 • Intro GPU Cluster Programming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412480" y="651052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 One-Sided Communication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 APIs Covered So Far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Two-sided point-to-point communication and collective communication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45352" y="132588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276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B63"/>
                </a:solidFill>
              </a:rPr>
              <a:t>Point-to-Point Communication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20299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Two processes communicate directly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542032"/>
            <a:ext cx="1965960" cy="45720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6426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MPI_Send()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63240" y="26426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939"/>
                </a:solidFill>
              </a:rPr>
              <a:t>Blocking send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200400"/>
            <a:ext cx="1965960" cy="45720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30098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MPI_Recv()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63240" y="33009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939"/>
                </a:solidFill>
              </a:rPr>
              <a:t>Blocking receive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858768"/>
            <a:ext cx="1965960" cy="457200"/>
          </a:xfrm>
          <a:prstGeom prst="roundRect">
            <a:avLst/>
          </a:prstGeom>
          <a:solidFill>
            <a:srgbClr val="DFF3F7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9593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MPI_Isend()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63240" y="3959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939"/>
                </a:solidFill>
              </a:rPr>
              <a:t>Non-blocking send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4517136"/>
            <a:ext cx="1965960" cy="457200"/>
          </a:xfrm>
          <a:prstGeom prst="roundRect">
            <a:avLst/>
          </a:prstGeom>
          <a:solidFill>
            <a:srgbClr val="DFF3F7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617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MPI_IRecv()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63240" y="4617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939"/>
                </a:solidFill>
              </a:rPr>
              <a:t>Non-blocking receive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9672" y="16276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B63"/>
                </a:solidFill>
              </a:rPr>
              <a:t>Collective Communication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519672" y="20299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A group of processes participates in one operation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37960" y="2505456"/>
            <a:ext cx="2011680" cy="411480"/>
          </a:xfrm>
          <a:prstGeom prst="roundRect">
            <a:avLst/>
          </a:prstGeom>
          <a:solidFill>
            <a:srgbClr val="E7F6F1"/>
          </a:solidFill>
          <a:ln w="12700">
            <a:solidFill>
              <a:srgbClr val="CDE8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2587752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MPI_Bcast()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32520" y="2587752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939"/>
                </a:solidFill>
              </a:rPr>
              <a:t>broadcast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37960" y="3081528"/>
            <a:ext cx="2011680" cy="411480"/>
          </a:xfrm>
          <a:prstGeom prst="roundRect">
            <a:avLst/>
          </a:prstGeom>
          <a:solidFill>
            <a:srgbClr val="E7F6F1"/>
          </a:solidFill>
          <a:ln w="12700">
            <a:solidFill>
              <a:srgbClr val="CDE8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3163824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MPI_Scatter()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32520" y="3163824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939"/>
                </a:solidFill>
              </a:rPr>
              <a:t>distribute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37960" y="3657600"/>
            <a:ext cx="2011680" cy="411480"/>
          </a:xfrm>
          <a:prstGeom prst="roundRect">
            <a:avLst/>
          </a:prstGeom>
          <a:solidFill>
            <a:srgbClr val="E7F6F1"/>
          </a:solidFill>
          <a:ln w="12700">
            <a:solidFill>
              <a:srgbClr val="CDE8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47688" y="3739896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MPI_Gather()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732520" y="3739896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939"/>
                </a:solidFill>
              </a:rPr>
              <a:t>collect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37960" y="4233672"/>
            <a:ext cx="2011680" cy="411480"/>
          </a:xfrm>
          <a:prstGeom prst="roundRect">
            <a:avLst/>
          </a:prstGeom>
          <a:solidFill>
            <a:srgbClr val="E7F6F1"/>
          </a:solidFill>
          <a:ln w="12700">
            <a:solidFill>
              <a:srgbClr val="CDE8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47688" y="4315968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MPI_Barrier()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732520" y="4315968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939"/>
                </a:solidFill>
              </a:rPr>
              <a:t>synchronize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37960" y="4809744"/>
            <a:ext cx="2011680" cy="411480"/>
          </a:xfrm>
          <a:prstGeom prst="roundRect">
            <a:avLst/>
          </a:prstGeom>
          <a:solidFill>
            <a:srgbClr val="E7F6F1"/>
          </a:solidFill>
          <a:ln w="12700">
            <a:solidFill>
              <a:srgbClr val="CDE8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47688" y="4892040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MPI_Scan()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732520" y="4892040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939"/>
                </a:solidFill>
              </a:rPr>
              <a:t>prefix reduction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926080" y="5925312"/>
            <a:ext cx="6355080" cy="41148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35808" y="5998464"/>
            <a:ext cx="613562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Next: one-sided communication (Remote Memory Access / RMA)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Analogy: Receiving a Package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target does not need a matching receive call for every one-sided transfer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45352" y="132588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27632"/>
            <a:ext cx="2011680" cy="310896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64208"/>
            <a:ext cx="1865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67B1"/>
                </a:solidFill>
              </a:rPr>
              <a:t>NORMAL MPI / TWO-SIDED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1627632"/>
            <a:ext cx="1645920" cy="310896"/>
          </a:xfrm>
          <a:prstGeom prst="roundRect">
            <a:avLst/>
          </a:prstGeom>
          <a:solidFill>
            <a:srgbClr val="E7F6F1"/>
          </a:solidFill>
          <a:ln w="12700">
            <a:solidFill>
              <a:srgbClr val="E7F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1664208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856B"/>
                </a:solidFill>
              </a:rPr>
              <a:t>ONE-SIDED / RMA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" y="2240280"/>
            <a:ext cx="914400" cy="73152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7680" y="2148840"/>
            <a:ext cx="1051560" cy="9144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057400" y="2606040"/>
            <a:ext cx="2011680" cy="0"/>
          </a:xfrm>
          <a:prstGeom prst="line">
            <a:avLst/>
          </a:prstGeom>
          <a:noFill/>
          <a:ln w="38100">
            <a:solidFill>
              <a:srgbClr val="2367B1"/>
            </a:solidFill>
            <a:prstDash val="solid"/>
            <a:headEnd type="none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960120" y="3291840"/>
            <a:ext cx="45262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02939"/>
                </a:solidFill>
              </a:rPr>
              <a:t>Delivery requires someone to be present and receive the package.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1143000" y="4709160"/>
            <a:ext cx="4160520" cy="566928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07592" y="4855464"/>
            <a:ext cx="38313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MPI_Send(...)     MPI_Recv(...)</a:t>
            </a:r>
            <a:endParaRPr lang="en-US" sz="1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0" y="2240280"/>
            <a:ext cx="914400" cy="73152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12680" y="2148840"/>
            <a:ext cx="1051560" cy="914400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52760" y="2816352"/>
            <a:ext cx="411480" cy="36576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7726680" y="2606040"/>
            <a:ext cx="2057400" cy="0"/>
          </a:xfrm>
          <a:prstGeom prst="line">
            <a:avLst/>
          </a:prstGeom>
          <a:noFill/>
          <a:ln w="38100">
            <a:solidFill>
              <a:srgbClr val="16856B"/>
            </a:solidFill>
            <a:prstDash val="solid"/>
            <a:headEnd type="none"/>
            <a:tailEnd type="triangle"/>
          </a:ln>
        </p:spPr>
      </p:sp>
      <p:sp>
        <p:nvSpPr>
          <p:cNvPr id="20" name="Text 13"/>
          <p:cNvSpPr/>
          <p:nvPr/>
        </p:nvSpPr>
        <p:spPr>
          <a:xfrm>
            <a:off x="6565392" y="3291840"/>
            <a:ext cx="45262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202939"/>
                </a:solidFill>
              </a:rPr>
              <a:t>The delivery person can leave the package in a designated place; no matching receive is required at that moment.</a:t>
            </a:r>
            <a:endParaRPr lang="en-US" sz="1750" dirty="0"/>
          </a:p>
        </p:txBody>
      </p:sp>
      <p:sp>
        <p:nvSpPr>
          <p:cNvPr id="21" name="Shape 14"/>
          <p:cNvSpPr/>
          <p:nvPr/>
        </p:nvSpPr>
        <p:spPr>
          <a:xfrm>
            <a:off x="6812280" y="4709160"/>
            <a:ext cx="4160520" cy="566928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976872" y="4855464"/>
            <a:ext cx="38313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MPI_Put(...)  →  exposed window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1920240" y="5989320"/>
            <a:ext cx="8366760" cy="347472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D7E3EF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2084832" y="60533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3B63"/>
                </a:solidFill>
              </a:rPr>
              <a:t>Normal MPI: communicate with another process.    One-sided MPI: operate on another process’s memory window.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Formal Introduction: MPI Remote Memory Access (RMA)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77240" y="135331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23B63"/>
                </a:solidFill>
              </a:rPr>
              <a:t>MPI offers routines for remote memory access (RMA), also called one-sided communication.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1097280" y="1993392"/>
            <a:ext cx="100584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02939"/>
                </a:solidFill>
              </a:rPr>
              <a:t>A process can read, write, or update data in another process, provided that the target memory has been made available through a special MPI memory window.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60120" y="3246120"/>
            <a:ext cx="102412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3703320"/>
            <a:ext cx="2377440" cy="114300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BDD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3977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67B1"/>
                </a:solidFill>
              </a:rPr>
              <a:t>Origin Process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367B1"/>
                </a:solidFill>
              </a:rPr>
              <a:t>issues RMA operation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183880" y="3584448"/>
            <a:ext cx="2423160" cy="1371600"/>
          </a:xfrm>
          <a:prstGeom prst="roundRect">
            <a:avLst/>
          </a:prstGeom>
          <a:solidFill>
            <a:srgbClr val="E7F6F1"/>
          </a:solidFill>
          <a:ln w="12700">
            <a:solidFill>
              <a:srgbClr val="BFE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58200" y="37307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856B"/>
                </a:solidFill>
              </a:rPr>
              <a:t>Target Process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549640" y="4160520"/>
            <a:ext cx="16916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685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13648" y="42793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856B"/>
                </a:solidFill>
              </a:rPr>
              <a:t>Memory Window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77640" y="4133088"/>
            <a:ext cx="3840480" cy="0"/>
          </a:xfrm>
          <a:prstGeom prst="line">
            <a:avLst/>
          </a:prstGeom>
          <a:noFill/>
          <a:ln w="38100">
            <a:solidFill>
              <a:srgbClr val="2367B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160520" y="3767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MPI_Put / MPI_Get / MPI_Accumulate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286000" y="5120640"/>
            <a:ext cx="7589520" cy="38404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95728" y="5193792"/>
            <a:ext cx="73700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Only the memory region exposed through the window is accessible through that RMA window.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Fence-Based RMA: Basic Pattern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first class, we use MPI_Win_fence() to define the communication phase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331720" y="1508760"/>
            <a:ext cx="7543800" cy="306324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96312" y="1655064"/>
            <a:ext cx="7214616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MPI_Win_fence(0, win);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Put / Get / Accumulate */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MPI_Win_fence(0, win);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280160" y="5074920"/>
            <a:ext cx="502920" cy="502920"/>
          </a:xfrm>
          <a:prstGeom prst="ellipse">
            <a:avLst/>
          </a:prstGeom>
          <a:solidFill>
            <a:srgbClr val="EAF3FB"/>
          </a:solidFill>
          <a:ln w="19050">
            <a:solidFill>
              <a:srgbClr val="2367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520293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67B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38528" y="5157216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939"/>
                </a:solidFill>
              </a:rPr>
              <a:t>Start RMA epoch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389120" y="5074920"/>
            <a:ext cx="502920" cy="502920"/>
          </a:xfrm>
          <a:prstGeom prst="ellipse">
            <a:avLst/>
          </a:prstGeom>
          <a:solidFill>
            <a:srgbClr val="E7F6F1"/>
          </a:solidFill>
          <a:ln w="19050">
            <a:solidFill>
              <a:srgbClr val="1685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520293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856B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47488" y="5157216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939"/>
                </a:solidFill>
              </a:rPr>
              <a:t>Perform RMA operations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98080" y="5074920"/>
            <a:ext cx="502920" cy="502920"/>
          </a:xfrm>
          <a:prstGeom prst="ellipse">
            <a:avLst/>
          </a:prstGeom>
          <a:solidFill>
            <a:srgbClr val="EAF3FB"/>
          </a:solidFill>
          <a:ln w="19050">
            <a:solidFill>
              <a:srgbClr val="2367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520293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67B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56448" y="5157216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939"/>
                </a:solidFill>
              </a:rPr>
              <a:t>Complete / synchronize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3657600" y="5321808"/>
            <a:ext cx="502920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66560" y="5321808"/>
            <a:ext cx="502920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148840" y="5897880"/>
            <a:ext cx="7909560" cy="384048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FFF7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58568" y="5971032"/>
            <a:ext cx="769010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Important: MPI_Win_fence() is synchronization, not a lock that excludes all other processes.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MPI_Win_create(): Expose Memory for RMA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60120" y="1280160"/>
            <a:ext cx="10241280" cy="658368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4712" y="1426464"/>
            <a:ext cx="99120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MPI_Win_create(base, size, disp_unit, info, comm, &amp;win);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212848"/>
            <a:ext cx="1508760" cy="38404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C8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2951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651760" y="2276856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2939"/>
                </a:solidFill>
              </a:rPr>
              <a:t>Starting address of the local memory to expose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1508760" cy="38404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C8DD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25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651760" y="2807208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2939"/>
                </a:solidFill>
              </a:rPr>
              <a:t>Number of bytes exposed by this process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14400" y="3273552"/>
            <a:ext cx="1508760" cy="38404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C8DD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3558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disp_unit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651760" y="333756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2939"/>
                </a:solidFill>
              </a:rPr>
              <a:t>Bytes represented by one unit of target_disp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14400" y="3803904"/>
            <a:ext cx="1508760" cy="384048"/>
          </a:xfrm>
          <a:prstGeom prst="roundRect">
            <a:avLst/>
          </a:prstGeom>
          <a:solidFill>
            <a:srgbClr val="FFF1E7"/>
          </a:solidFill>
          <a:ln w="12700">
            <a:solidFill>
              <a:srgbClr val="F5D5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8862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66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651760" y="386791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2939"/>
                </a:solidFill>
              </a:rPr>
              <a:t>Optional implementation/performance hints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914400" y="4334256"/>
            <a:ext cx="1508760" cy="38404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C8DD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4165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651760" y="4398264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2939"/>
                </a:solidFill>
              </a:rPr>
              <a:t>Processes participating in this window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14400" y="4864608"/>
            <a:ext cx="1508760" cy="38404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C8DD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49469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&amp;win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2651760" y="4928616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2939"/>
                </a:solidFill>
              </a:rPr>
              <a:t>Output handle identifying the MPI window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583680" y="5440680"/>
            <a:ext cx="4572000" cy="713232"/>
          </a:xfrm>
          <a:prstGeom prst="roundRect">
            <a:avLst/>
          </a:prstGeom>
          <a:solidFill>
            <a:srgbClr val="FFF1E7"/>
          </a:solidFill>
          <a:ln w="12700">
            <a:solidFill>
              <a:srgbClr val="F3CD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55595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6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MPI_INFO_NULL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75320" y="55046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939"/>
                </a:solidFill>
              </a:rPr>
              <a:t>predefined MPI_Info handle (often exposed as a macro) meaning “no extra hints.”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14400" y="5257800"/>
            <a:ext cx="5257800" cy="98755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5404104"/>
            <a:ext cx="49286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data[4] = {10,20,30,40};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 win;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MPI_Win_create(data, 4*sizeof(int), sizeof(int),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MPI_INFO_NULL, MPI_COMM_WORLD, &amp;win);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MPI_Win_fence(): Synchronize an RMA Phase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14400" y="1261872"/>
            <a:ext cx="5029200" cy="585216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" y="1408176"/>
            <a:ext cx="47000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MPI_Win_fence(int assert, MPI_Win win);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20574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2860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B63"/>
                </a:solidFill>
              </a:rPr>
              <a:t>Arguments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70432" y="27432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57400" y="26883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939"/>
                </a:solidFill>
              </a:rPr>
              <a:t>Optimization assertions; use 0 for the normal/default case.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70432" y="32918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57400" y="32552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939"/>
                </a:solidFill>
              </a:rPr>
              <a:t>The MPI window being synchronized.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63640" y="1261872"/>
            <a:ext cx="4937760" cy="4453128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400" y="1856232"/>
            <a:ext cx="685800" cy="685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52360" y="187452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B63"/>
                </a:solidFill>
              </a:rPr>
              <a:t>Construction-phase analogy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6629400" y="2606040"/>
            <a:ext cx="1371600" cy="41148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C8DD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48272" y="27066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67B1"/>
                </a:solidFill>
              </a:rPr>
              <a:t>Fence 1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75320" y="26243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939"/>
                </a:solidFill>
              </a:rPr>
              <a:t>“Work phase opens.”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629400" y="3502152"/>
            <a:ext cx="1371600" cy="411480"/>
          </a:xfrm>
          <a:prstGeom prst="roundRect">
            <a:avLst/>
          </a:prstGeom>
          <a:solidFill>
            <a:srgbClr val="E7F6F1"/>
          </a:solidFill>
          <a:ln w="12700">
            <a:solidFill>
              <a:srgbClr val="C5E8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48272" y="360273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856B"/>
                </a:solidFill>
              </a:rPr>
              <a:t>RMA calls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75320" y="3520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939"/>
                </a:solidFill>
              </a:rPr>
              <a:t>Workers perform Put / Get / Accumulate.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629400" y="4398264"/>
            <a:ext cx="1371600" cy="41148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C8DD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48272" y="44988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67B1"/>
                </a:solidFill>
              </a:rPr>
              <a:t>Fence 2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275320" y="44165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939"/>
                </a:solidFill>
              </a:rPr>
              <a:t>“All work in this phase is complete before moving on.”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914400" y="4251960"/>
            <a:ext cx="5029200" cy="14173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78992" y="4398264"/>
            <a:ext cx="4700016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MPI_Win_fence(0, win);   // start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MPI_Put(...);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MPI_Win_fence(0, win);   // end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005840" y="5907024"/>
            <a:ext cx="10058400" cy="384048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FFF7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15568" y="5980176"/>
            <a:ext cx="983894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Fence is collective over the group of the window. It coordinates the phase; it is not mutual exclusion.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MPI_Put(): Remote Write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origin process writes data into the target process’s exposed memory window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19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B63"/>
                </a:solidFill>
              </a:rPr>
              <a:t>Delivery analogy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2377440"/>
            <a:ext cx="868680" cy="7315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3400" y="2267712"/>
            <a:ext cx="960120" cy="841248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83480" y="2871216"/>
            <a:ext cx="384048" cy="34747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057400" y="2724912"/>
            <a:ext cx="2057400" cy="0"/>
          </a:xfrm>
          <a:prstGeom prst="line">
            <a:avLst/>
          </a:prstGeom>
          <a:noFill/>
          <a:ln w="38100">
            <a:solidFill>
              <a:srgbClr val="16856B"/>
            </a:solidFill>
            <a:prstDash val="solid"/>
            <a:headEnd type="none"/>
            <a:tailEnd type="triangle"/>
          </a:ln>
        </p:spPr>
      </p:sp>
      <p:sp>
        <p:nvSpPr>
          <p:cNvPr id="10" name="Text 5"/>
          <p:cNvSpPr/>
          <p:nvPr/>
        </p:nvSpPr>
        <p:spPr>
          <a:xfrm>
            <a:off x="1234440" y="347472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856B"/>
                </a:solidFill>
              </a:rPr>
              <a:t>“I leave a package on your designated porch.”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234440" y="4160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939"/>
                </a:solidFill>
              </a:rPr>
              <a:t>No matching MPI_Recv() is required for that transfer.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263640" y="141732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EAF3FB"/>
          </a:solidFill>
          <a:ln w="12700">
            <a:solidFill>
              <a:srgbClr val="C8DDF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5120" y="1874520"/>
            <a:ext cx="731520" cy="7315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89520" y="1920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MPI_Put()</a:t>
            </a:r>
            <a:endParaRPr lang="en-US" sz="2300" dirty="0"/>
          </a:p>
        </p:txBody>
      </p:sp>
      <p:sp>
        <p:nvSpPr>
          <p:cNvPr id="15" name="Text 9"/>
          <p:cNvSpPr/>
          <p:nvPr/>
        </p:nvSpPr>
        <p:spPr>
          <a:xfrm>
            <a:off x="6675120" y="2788920"/>
            <a:ext cx="42062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02939"/>
                </a:solidFill>
              </a:rPr>
              <a:t>copies data from the origin process into a location in the target process’s window.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667512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63"/>
                </a:solidFill>
              </a:rPr>
              <a:t>Direction: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8001000" y="4114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8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memory   →   Remote memory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6675120" y="4892040"/>
            <a:ext cx="4160520" cy="384048"/>
          </a:xfrm>
          <a:prstGeom prst="roundRect">
            <a:avLst/>
          </a:prstGeom>
          <a:solidFill>
            <a:srgbClr val="E7F6F1"/>
          </a:solidFill>
          <a:ln w="12700">
            <a:solidFill>
              <a:srgbClr val="E7F6F1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784848" y="4965192"/>
            <a:ext cx="39410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Think: PUSH data to a remote window.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MPI_Put(): Arguments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3931920" cy="452628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" y="1380744"/>
            <a:ext cx="3602736" cy="4251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MPI_Put(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origin_addr,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origin_count,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origin_datatype,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target_rank,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target_disp,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target_count,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target_datatype,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83480" y="13533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origin_addr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903720" y="13350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dirty="0">
                <a:solidFill>
                  <a:srgbClr val="202939"/>
                </a:solidFill>
              </a:rPr>
              <a:t>Address of the local data to send</a:t>
            </a:r>
            <a:endParaRPr lang="en-US" sz="1470" dirty="0"/>
          </a:p>
        </p:txBody>
      </p:sp>
      <p:sp>
        <p:nvSpPr>
          <p:cNvPr id="7" name="Text 5"/>
          <p:cNvSpPr/>
          <p:nvPr/>
        </p:nvSpPr>
        <p:spPr>
          <a:xfrm>
            <a:off x="4983480" y="19385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origin_count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903720" y="1920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dirty="0">
                <a:solidFill>
                  <a:srgbClr val="202939"/>
                </a:solidFill>
              </a:rPr>
              <a:t>Number of local elements</a:t>
            </a:r>
            <a:endParaRPr lang="en-US" sz="1470" dirty="0"/>
          </a:p>
        </p:txBody>
      </p:sp>
      <p:sp>
        <p:nvSpPr>
          <p:cNvPr id="9" name="Text 7"/>
          <p:cNvSpPr/>
          <p:nvPr/>
        </p:nvSpPr>
        <p:spPr>
          <a:xfrm>
            <a:off x="4983480" y="252374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origin_datatype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903720" y="25054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dirty="0">
                <a:solidFill>
                  <a:srgbClr val="202939"/>
                </a:solidFill>
              </a:rPr>
              <a:t>Datatype of local elements</a:t>
            </a:r>
            <a:endParaRPr lang="en-US" sz="1470" dirty="0"/>
          </a:p>
        </p:txBody>
      </p:sp>
      <p:sp>
        <p:nvSpPr>
          <p:cNvPr id="11" name="Text 9"/>
          <p:cNvSpPr/>
          <p:nvPr/>
        </p:nvSpPr>
        <p:spPr>
          <a:xfrm>
            <a:off x="4983480" y="31089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target_rank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903720" y="30906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dirty="0">
                <a:solidFill>
                  <a:srgbClr val="202939"/>
                </a:solidFill>
              </a:rPr>
              <a:t>Which process owns the target window region</a:t>
            </a:r>
            <a:endParaRPr lang="en-US" sz="1470" dirty="0"/>
          </a:p>
        </p:txBody>
      </p:sp>
      <p:sp>
        <p:nvSpPr>
          <p:cNvPr id="13" name="Text 11"/>
          <p:cNvSpPr/>
          <p:nvPr/>
        </p:nvSpPr>
        <p:spPr>
          <a:xfrm>
            <a:off x="4983480" y="36941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66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target_disp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903720" y="36758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dirty="0">
                <a:solidFill>
                  <a:srgbClr val="202939"/>
                </a:solidFill>
              </a:rPr>
              <a:t>Starting displacement inside the target window</a:t>
            </a:r>
            <a:endParaRPr lang="en-US" sz="1470" dirty="0"/>
          </a:p>
        </p:txBody>
      </p:sp>
      <p:sp>
        <p:nvSpPr>
          <p:cNvPr id="15" name="Text 13"/>
          <p:cNvSpPr/>
          <p:nvPr/>
        </p:nvSpPr>
        <p:spPr>
          <a:xfrm>
            <a:off x="4983480" y="42793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target_count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903720" y="42611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dirty="0">
                <a:solidFill>
                  <a:srgbClr val="202939"/>
                </a:solidFill>
              </a:rPr>
              <a:t>Number of elements at the target</a:t>
            </a:r>
            <a:endParaRPr lang="en-US" sz="1470" dirty="0"/>
          </a:p>
        </p:txBody>
      </p:sp>
      <p:sp>
        <p:nvSpPr>
          <p:cNvPr id="17" name="Text 15"/>
          <p:cNvSpPr/>
          <p:nvPr/>
        </p:nvSpPr>
        <p:spPr>
          <a:xfrm>
            <a:off x="4983480" y="486460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target_datatype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903720" y="4846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dirty="0">
                <a:solidFill>
                  <a:srgbClr val="202939"/>
                </a:solidFill>
              </a:rPr>
              <a:t>Datatype at the target</a:t>
            </a:r>
            <a:endParaRPr lang="en-US" sz="1470" dirty="0"/>
          </a:p>
        </p:txBody>
      </p:sp>
      <p:sp>
        <p:nvSpPr>
          <p:cNvPr id="19" name="Text 17"/>
          <p:cNvSpPr/>
          <p:nvPr/>
        </p:nvSpPr>
        <p:spPr>
          <a:xfrm>
            <a:off x="4983480" y="544982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903720" y="543153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dirty="0">
                <a:solidFill>
                  <a:srgbClr val="202939"/>
                </a:solidFill>
              </a:rPr>
              <a:t>Window used for the operation</a:t>
            </a:r>
            <a:endParaRPr lang="en-US" sz="1470" dirty="0"/>
          </a:p>
        </p:txBody>
      </p:sp>
      <p:sp>
        <p:nvSpPr>
          <p:cNvPr id="21" name="Shape 19"/>
          <p:cNvSpPr/>
          <p:nvPr/>
        </p:nvSpPr>
        <p:spPr>
          <a:xfrm>
            <a:off x="4983480" y="6080760"/>
            <a:ext cx="6217920" cy="384048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93208" y="6153912"/>
            <a:ext cx="59984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Quick reading: What data? → Which process? → Where in its window? → Which window?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Understanding target_disp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target_rank chooses the process; target_disp chooses the starting location inside that process’s window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6583680" cy="11430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380744"/>
            <a:ext cx="6254496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data[4] = {10, 20, 30, 40};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MPI_Win_create(data, 4*sizeof(int), sizeof(int),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MPI_INFO_NULL, MPI_COMM_WORLD, &amp;win);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587752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B63"/>
                </a:solidFill>
              </a:rPr>
              <a:t>Because disp_unit = sizeof(int), target_disp behaves like an array index.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target_disp = 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60120" y="3383280"/>
            <a:ext cx="1371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6393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939"/>
                </a:solidFill>
              </a:rPr>
              <a:t>10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4343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data[0]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31720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target_disp = 1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331720" y="3383280"/>
            <a:ext cx="1371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36393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939"/>
                </a:solidFill>
              </a:rPr>
              <a:t>20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331720" y="4343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data[1]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03320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6A1F"/>
                </a:solidFill>
              </a:rPr>
              <a:t>target_disp = 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703320" y="3383280"/>
            <a:ext cx="1371600" cy="822960"/>
          </a:xfrm>
          <a:prstGeom prst="rect">
            <a:avLst/>
          </a:prstGeom>
          <a:solidFill>
            <a:srgbClr val="FFF1E7"/>
          </a:solidFill>
          <a:ln w="25400">
            <a:solidFill>
              <a:srgbClr val="D66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36393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66A1F"/>
                </a:solidFill>
              </a:rPr>
              <a:t>30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703320" y="4343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data[2]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74920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target_disp = 3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74920" y="3383280"/>
            <a:ext cx="1371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6393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939"/>
                </a:solidFill>
              </a:rPr>
              <a:t>40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074920" y="4343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data[3]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26680" y="1234440"/>
            <a:ext cx="3611880" cy="42519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B63"/>
                </a:solidFill>
              </a:rPr>
              <a:t>Address calculation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046720" y="2148840"/>
            <a:ext cx="27889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address =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+ target_disp × disp_unit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46720" y="3246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939"/>
                </a:solidFill>
              </a:rPr>
              <a:t>Example: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046720" y="3611880"/>
            <a:ext cx="2788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target_disp = 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disp_unit = sizeof(int)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access data[2]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28432" y="4892040"/>
            <a:ext cx="2834640" cy="420624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FFF7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4965192"/>
            <a:ext cx="2615184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target_disp is a displacement, not always a raw byte offset.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60120" y="5074920"/>
            <a:ext cx="5486400" cy="57607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4712" y="5221224"/>
            <a:ext cx="51572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MPI_Put(&amp;value, 1, MPI_INT, 1, 2, 1, MPI_INT, win);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51560" y="5806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856B"/>
                </a:solidFill>
              </a:rPr>
              <a:t>writes to Process 1 → data[2]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MPI_Put()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0 writes 100 into Process 1’s data[2]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6675120" cy="498348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289304"/>
            <a:ext cx="6345936" cy="4709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data[4] = {10, 20, 30, 40};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 win;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MPI_Win_create(data, 4*sizeof(int), sizeof(int),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MPI_INFO_NULL, MPI_COMM_WORLD, &amp;win);</a:t>
            </a:r>
            <a:endParaRPr lang="en-US" sz="1330" dirty="0"/>
          </a:p>
          <a:p>
            <a:pPr indent="0" marL="0">
              <a:buNone/>
            </a:pP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MPI_Win_fence(0, win);</a:t>
            </a:r>
            <a:endParaRPr lang="en-US" sz="1330" dirty="0"/>
          </a:p>
          <a:p>
            <a:pPr indent="0" marL="0">
              <a:buNone/>
            </a:pP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(rank == 0) {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value = 100;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MPI_Put(&amp;value, 1, MPI_INT,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1, 2, 1, MPI_INT, win);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30" dirty="0"/>
          </a:p>
          <a:p>
            <a:pPr indent="0" marL="0">
              <a:buNone/>
            </a:pP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MPI_Win_fence(0, win);</a:t>
            </a:r>
            <a:endParaRPr lang="en-US" sz="1330" dirty="0"/>
          </a:p>
        </p:txBody>
      </p:sp>
      <p:sp>
        <p:nvSpPr>
          <p:cNvPr id="6" name="Shape 4"/>
          <p:cNvSpPr/>
          <p:nvPr/>
        </p:nvSpPr>
        <p:spPr>
          <a:xfrm>
            <a:off x="7543800" y="1234440"/>
            <a:ext cx="3977640" cy="475488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09560" y="1600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B63"/>
                </a:solidFill>
              </a:rPr>
              <a:t>Process 1 window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55280" y="2240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67085"/>
                </a:solidFill>
              </a:rPr>
              <a:t>Before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23960" y="2194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[ 10, 20, 30, 40 ]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509760" y="2743200"/>
            <a:ext cx="0" cy="594360"/>
          </a:xfrm>
          <a:prstGeom prst="line">
            <a:avLst/>
          </a:prstGeom>
          <a:noFill/>
          <a:ln w="38100">
            <a:solidFill>
              <a:srgbClr val="16856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909560" y="34747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8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MPI_Put(value=100, target_disp=2)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509760" y="4096512"/>
            <a:ext cx="0" cy="475488"/>
          </a:xfrm>
          <a:prstGeom prst="line">
            <a:avLst/>
          </a:prstGeom>
          <a:noFill/>
          <a:ln w="38100">
            <a:solidFill>
              <a:srgbClr val="16856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955280" y="47274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67085"/>
                </a:solidFill>
              </a:rPr>
              <a:t>After closing fence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41080" y="5120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6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[ 10, 20, 100, 40 ]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MPI_Get(): Remote Read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origin process reads data from the target process’s exposed memory window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19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B63"/>
                </a:solidFill>
              </a:rPr>
              <a:t>Pickup analogy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280" y="2258568"/>
            <a:ext cx="960120" cy="84124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9072" y="2871216"/>
            <a:ext cx="384048" cy="347472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0560" y="2359152"/>
            <a:ext cx="868680" cy="7315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206240" y="2724912"/>
            <a:ext cx="-1965960" cy="0"/>
          </a:xfrm>
          <a:prstGeom prst="line">
            <a:avLst/>
          </a:prstGeom>
          <a:noFill/>
          <a:ln w="38100">
            <a:solidFill>
              <a:srgbClr val="16856B"/>
            </a:solidFill>
            <a:prstDash val="solid"/>
            <a:headEnd type="none"/>
            <a:tailEnd type="triangle"/>
          </a:ln>
        </p:spPr>
      </p:sp>
      <p:sp>
        <p:nvSpPr>
          <p:cNvPr id="10" name="Text 5"/>
          <p:cNvSpPr/>
          <p:nvPr/>
        </p:nvSpPr>
        <p:spPr>
          <a:xfrm>
            <a:off x="1234440" y="347472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856B"/>
                </a:solidFill>
              </a:rPr>
              <a:t>“I pick up a package from your designated porch.”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234440" y="4160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939"/>
                </a:solidFill>
              </a:rPr>
              <a:t>The target does not execute a matching send for this read.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263640" y="141732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EAF3FB"/>
          </a:solidFill>
          <a:ln w="12700">
            <a:solidFill>
              <a:srgbClr val="C8DDF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5120" y="1874520"/>
            <a:ext cx="731520" cy="7315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89520" y="1920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MPI_Get()</a:t>
            </a:r>
            <a:endParaRPr lang="en-US" sz="2300" dirty="0"/>
          </a:p>
        </p:txBody>
      </p:sp>
      <p:sp>
        <p:nvSpPr>
          <p:cNvPr id="15" name="Text 9"/>
          <p:cNvSpPr/>
          <p:nvPr/>
        </p:nvSpPr>
        <p:spPr>
          <a:xfrm>
            <a:off x="6675120" y="2788920"/>
            <a:ext cx="42062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02939"/>
                </a:solidFill>
              </a:rPr>
              <a:t>copies data from a location in the target window into local memory at the origin process.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667512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63"/>
                </a:solidFill>
              </a:rPr>
              <a:t>Direction: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8001000" y="4114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8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memory   ←   Remote memory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6675120" y="4892040"/>
            <a:ext cx="4160520" cy="384048"/>
          </a:xfrm>
          <a:prstGeom prst="roundRect">
            <a:avLst/>
          </a:prstGeom>
          <a:solidFill>
            <a:srgbClr val="E7F6F1"/>
          </a:solidFill>
          <a:ln w="12700">
            <a:solidFill>
              <a:srgbClr val="E7F6F1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784848" y="4965192"/>
            <a:ext cx="39410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Think: PULL data from a remote window.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MPI_Get(): Arguments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3931920" cy="452628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" y="1380744"/>
            <a:ext cx="3602736" cy="4251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MPI_Get(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origin_addr,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origin_count,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origin_datatype,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target_rank,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target_disp,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target_count,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target_datatype,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83480" y="13533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origin_addr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903720" y="13350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dirty="0">
                <a:solidFill>
                  <a:srgbClr val="202939"/>
                </a:solidFill>
              </a:rPr>
              <a:t>Local buffer where retrieved data will be stored</a:t>
            </a:r>
            <a:endParaRPr lang="en-US" sz="1470" dirty="0"/>
          </a:p>
        </p:txBody>
      </p:sp>
      <p:sp>
        <p:nvSpPr>
          <p:cNvPr id="7" name="Text 5"/>
          <p:cNvSpPr/>
          <p:nvPr/>
        </p:nvSpPr>
        <p:spPr>
          <a:xfrm>
            <a:off x="4983480" y="19385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origin_count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903720" y="1920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dirty="0">
                <a:solidFill>
                  <a:srgbClr val="202939"/>
                </a:solidFill>
              </a:rPr>
              <a:t>Number of local elements to receive</a:t>
            </a:r>
            <a:endParaRPr lang="en-US" sz="1470" dirty="0"/>
          </a:p>
        </p:txBody>
      </p:sp>
      <p:sp>
        <p:nvSpPr>
          <p:cNvPr id="9" name="Text 7"/>
          <p:cNvSpPr/>
          <p:nvPr/>
        </p:nvSpPr>
        <p:spPr>
          <a:xfrm>
            <a:off x="4983480" y="252374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origin_datatype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903720" y="25054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dirty="0">
                <a:solidFill>
                  <a:srgbClr val="202939"/>
                </a:solidFill>
              </a:rPr>
              <a:t>Datatype of the local buffer</a:t>
            </a:r>
            <a:endParaRPr lang="en-US" sz="1470" dirty="0"/>
          </a:p>
        </p:txBody>
      </p:sp>
      <p:sp>
        <p:nvSpPr>
          <p:cNvPr id="11" name="Text 9"/>
          <p:cNvSpPr/>
          <p:nvPr/>
        </p:nvSpPr>
        <p:spPr>
          <a:xfrm>
            <a:off x="4983480" y="31089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target_rank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903720" y="30906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dirty="0">
                <a:solidFill>
                  <a:srgbClr val="202939"/>
                </a:solidFill>
              </a:rPr>
              <a:t>Which process owns the source window region</a:t>
            </a:r>
            <a:endParaRPr lang="en-US" sz="1470" dirty="0"/>
          </a:p>
        </p:txBody>
      </p:sp>
      <p:sp>
        <p:nvSpPr>
          <p:cNvPr id="13" name="Text 11"/>
          <p:cNvSpPr/>
          <p:nvPr/>
        </p:nvSpPr>
        <p:spPr>
          <a:xfrm>
            <a:off x="4983480" y="36941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66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target_disp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903720" y="36758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dirty="0">
                <a:solidFill>
                  <a:srgbClr val="202939"/>
                </a:solidFill>
              </a:rPr>
              <a:t>Starting displacement inside the target window</a:t>
            </a:r>
            <a:endParaRPr lang="en-US" sz="1470" dirty="0"/>
          </a:p>
        </p:txBody>
      </p:sp>
      <p:sp>
        <p:nvSpPr>
          <p:cNvPr id="15" name="Text 13"/>
          <p:cNvSpPr/>
          <p:nvPr/>
        </p:nvSpPr>
        <p:spPr>
          <a:xfrm>
            <a:off x="4983480" y="42793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target_count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903720" y="42611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dirty="0">
                <a:solidFill>
                  <a:srgbClr val="202939"/>
                </a:solidFill>
              </a:rPr>
              <a:t>Number of elements to read from the target</a:t>
            </a:r>
            <a:endParaRPr lang="en-US" sz="1470" dirty="0"/>
          </a:p>
        </p:txBody>
      </p:sp>
      <p:sp>
        <p:nvSpPr>
          <p:cNvPr id="17" name="Text 15"/>
          <p:cNvSpPr/>
          <p:nvPr/>
        </p:nvSpPr>
        <p:spPr>
          <a:xfrm>
            <a:off x="4983480" y="486460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target_datatype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903720" y="4846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dirty="0">
                <a:solidFill>
                  <a:srgbClr val="202939"/>
                </a:solidFill>
              </a:rPr>
              <a:t>Datatype at the target</a:t>
            </a:r>
            <a:endParaRPr lang="en-US" sz="1470" dirty="0"/>
          </a:p>
        </p:txBody>
      </p:sp>
      <p:sp>
        <p:nvSpPr>
          <p:cNvPr id="19" name="Text 17"/>
          <p:cNvSpPr/>
          <p:nvPr/>
        </p:nvSpPr>
        <p:spPr>
          <a:xfrm>
            <a:off x="4983480" y="544982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903720" y="543153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dirty="0">
                <a:solidFill>
                  <a:srgbClr val="202939"/>
                </a:solidFill>
              </a:rPr>
              <a:t>Window used for the operation</a:t>
            </a:r>
            <a:endParaRPr lang="en-US" sz="1470" dirty="0"/>
          </a:p>
        </p:txBody>
      </p:sp>
      <p:sp>
        <p:nvSpPr>
          <p:cNvPr id="21" name="Shape 19"/>
          <p:cNvSpPr/>
          <p:nvPr/>
        </p:nvSpPr>
        <p:spPr>
          <a:xfrm>
            <a:off x="4983480" y="6080760"/>
            <a:ext cx="6217920" cy="384048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93208" y="6153912"/>
            <a:ext cx="599846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MPI_Put and MPI_Get have nearly identical argument structure; the direction of data movement changes.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MPI_Get()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0 reads Process 1’s data[2]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6720840" cy="50749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243584"/>
            <a:ext cx="6391656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data[4] = {10, 20, 30, 40};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 win;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MPI_Win_create(data, 4*sizeof(int), sizeof(int),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MPI_INFO_NULL, MPI_COMM_WORLD, &amp;win);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received = -1;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MPI_Win_fence(0, win);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(rank == 0)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MPI_Get(&amp;received, 1, MPI_INT,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1, 2, 1, MPI_INT, win);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MPI_Win_fence(0, win);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43800" y="1234440"/>
            <a:ext cx="3977640" cy="475488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09560" y="16276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B63"/>
                </a:solidFill>
              </a:rPr>
              <a:t>Process 1 window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75320" y="2331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0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[ 10, 20, 30, 40 ]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66760" y="2926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6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target_disp = 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509760" y="3383280"/>
            <a:ext cx="0" cy="594360"/>
          </a:xfrm>
          <a:prstGeom prst="line">
            <a:avLst/>
          </a:prstGeom>
          <a:noFill/>
          <a:ln w="38100">
            <a:solidFill>
              <a:srgbClr val="16856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909560" y="41605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63"/>
                </a:solidFill>
              </a:rPr>
              <a:t>Process 0 local buffer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5320" y="47548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8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received = 30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955280" y="5440680"/>
            <a:ext cx="3154680" cy="384048"/>
          </a:xfrm>
          <a:prstGeom prst="roundRect">
            <a:avLst/>
          </a:prstGeom>
          <a:solidFill>
            <a:srgbClr val="E7F6F1"/>
          </a:solidFill>
          <a:ln w="12700">
            <a:solidFill>
              <a:srgbClr val="E7F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5513832"/>
            <a:ext cx="2935224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 value is safe to use after the closing fence completes.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Put vs Get: The Core Idea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47548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463040"/>
            <a:ext cx="47548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828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MPI_Put()</a:t>
            </a:r>
            <a:endParaRPr lang="en-US" sz="2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3040" y="2606040"/>
            <a:ext cx="530352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94560" y="2862072"/>
            <a:ext cx="2057400" cy="0"/>
          </a:xfrm>
          <a:prstGeom prst="line">
            <a:avLst/>
          </a:prstGeom>
          <a:noFill/>
          <a:ln w="38100">
            <a:solidFill>
              <a:srgbClr val="16856B"/>
            </a:solidFill>
            <a:prstDash val="solid"/>
            <a:headEnd type="none"/>
            <a:tailEnd type="triangle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4840" y="2468880"/>
            <a:ext cx="868680" cy="777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566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856B"/>
                </a:solidFill>
              </a:rPr>
              <a:t>“I leave a package on your porch.”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325880" y="4343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02939"/>
                </a:solidFill>
              </a:rPr>
              <a:t>Write data into remote memory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25880" y="4937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 →  Remote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903720" y="1828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MPI_Get()</a:t>
            </a:r>
            <a:endParaRPr lang="en-US" sz="25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03720" y="2468880"/>
            <a:ext cx="868680" cy="7772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692640" y="2862072"/>
            <a:ext cx="-1691640" cy="0"/>
          </a:xfrm>
          <a:prstGeom prst="line">
            <a:avLst/>
          </a:prstGeom>
          <a:noFill/>
          <a:ln w="38100">
            <a:solidFill>
              <a:srgbClr val="16856B"/>
            </a:solidFill>
            <a:prstDash val="solid"/>
            <a:headEnd type="none"/>
            <a:tailEnd type="triangle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12680" y="2606040"/>
            <a:ext cx="530352" cy="502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03720" y="3566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856B"/>
                </a:solidFill>
              </a:rPr>
              <a:t>“I pick up a package from your designated porch.”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6903720" y="4343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02939"/>
                </a:solidFill>
              </a:rPr>
              <a:t>Read data from remote memory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903720" y="4937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67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 ←  Remote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2011680" y="5989320"/>
            <a:ext cx="8183880" cy="365760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121408" y="6062472"/>
            <a:ext cx="796442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Both operate on memory that the target has exposed through an MPI window.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Use One-Sided Communication?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RMA is more complex than standard two-sided MPI, but it can provide useful control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5074920" cy="3474720"/>
          </a:xfrm>
          <a:prstGeom prst="roundRect">
            <a:avLst>
              <a:gd name="adj" fmla="val 2632"/>
            </a:avLst>
          </a:prstGeom>
          <a:solidFill>
            <a:srgbClr val="EAF3FB"/>
          </a:solidFill>
          <a:ln w="12700">
            <a:solidFill>
              <a:srgbClr val="2367B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1920240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18745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367B1"/>
                </a:solidFill>
              </a:rPr>
              <a:t>More granular control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234440" y="2743200"/>
            <a:ext cx="42519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939"/>
                </a:solidFill>
              </a:rPr>
              <a:t>RMA can provide finer control over synchronization and data movement, which can improve performance in suitable communication patterns.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554480"/>
            <a:ext cx="5074920" cy="3474720"/>
          </a:xfrm>
          <a:prstGeom prst="roundRect">
            <a:avLst>
              <a:gd name="adj" fmla="val 2632"/>
            </a:avLst>
          </a:prstGeom>
          <a:solidFill>
            <a:srgbClr val="E7F6F1"/>
          </a:solidFill>
          <a:ln w="12700">
            <a:solidFill>
              <a:srgbClr val="16856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7960" y="1920240"/>
            <a:ext cx="658368" cy="6583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60920" y="18745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856B"/>
                </a:solidFill>
              </a:rPr>
              <a:t>Overlap communication and computation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6629400" y="2743200"/>
            <a:ext cx="42519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939"/>
                </a:solidFill>
              </a:rPr>
              <a:t>The RMA synchronization model can be a natural fit when a program wants useful computation to proceed while data movement is in progress.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1920240" y="5440680"/>
            <a:ext cx="83210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94560" y="559612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97480" y="55504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63"/>
                </a:solidFill>
              </a:rPr>
              <a:t>RMA is especially useful when the communication pattern is naturally expressed as remote reads, writes, or updates rather than matched sends and receives.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NJIT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MPI One-Sided Communication: Windows, Fence, Put, Get</dc:title>
  <dc:subject>CS455 - MPI One-Sided Communication</dc:subject>
  <dc:creator>OpenAI</dc:creator>
  <cp:lastModifiedBy>OpenAI</cp:lastModifiedBy>
  <cp:revision>1</cp:revision>
  <dcterms:created xsi:type="dcterms:W3CDTF">2026-09-21T00:31:00Z</dcterms:created>
  <dcterms:modified xsi:type="dcterms:W3CDTF">2026-09-21T00:31:00Z</dcterms:modified>
</cp:coreProperties>
</file>