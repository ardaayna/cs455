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f746172b4e4cd5" /><Relationship Type="http://schemas.openxmlformats.org/officeDocument/2006/relationships/extended-properties" Target="/docProps/app.xml" Id="R4094cb6adb094d81" /><Relationship Type="http://schemas.openxmlformats.org/officeDocument/2006/relationships/officeDocument" Target="/ppt/presentation.xml" Id="Rbe110eaec24b4a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2cd1dbceb540de"/>
  </p:sldMasterIdLst>
  <p:notesMasterIdLst>
    <p:notesMasterId xmlns:r="http://schemas.openxmlformats.org/officeDocument/2006/relationships" r:id="R467bfdc65ffc45d2"/>
  </p:notesMasterIdLst>
  <p:sldIdLst>
    <p:sldId xmlns:r="http://schemas.openxmlformats.org/officeDocument/2006/relationships" id="256" r:id="R60ec78b775c84646"/>
    <p:sldId xmlns:r="http://schemas.openxmlformats.org/officeDocument/2006/relationships" id="257" r:id="R575975d880174945"/>
    <p:sldId xmlns:r="http://schemas.openxmlformats.org/officeDocument/2006/relationships" id="258" r:id="Rd61315c0a4ef4dba"/>
    <p:sldId xmlns:r="http://schemas.openxmlformats.org/officeDocument/2006/relationships" id="259" r:id="R1d426f2cf1da41e0"/>
    <p:sldId xmlns:r="http://schemas.openxmlformats.org/officeDocument/2006/relationships" id="260" r:id="Rd314da19462a45ad"/>
    <p:sldId xmlns:r="http://schemas.openxmlformats.org/officeDocument/2006/relationships" id="261" r:id="R404bc67318eb4d1d"/>
    <p:sldId xmlns:r="http://schemas.openxmlformats.org/officeDocument/2006/relationships" id="262" r:id="Rc0f7a51f2ff149e8"/>
    <p:sldId xmlns:r="http://schemas.openxmlformats.org/officeDocument/2006/relationships" id="263" r:id="Rf1e6de0b43c54fc3"/>
    <p:sldId xmlns:r="http://schemas.openxmlformats.org/officeDocument/2006/relationships" id="264" r:id="R387a886048894368"/>
    <p:sldId xmlns:r="http://schemas.openxmlformats.org/officeDocument/2006/relationships" id="265" r:id="Rdcc6f8fcc703402b"/>
    <p:sldId xmlns:r="http://schemas.openxmlformats.org/officeDocument/2006/relationships" id="266" r:id="Rfe156f90125a43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4b97fcb4b046e6" /><Relationship Type="http://schemas.openxmlformats.org/officeDocument/2006/relationships/slideMaster" Target="/ppt/slideMasters/slideMaster1.xml" Id="Rf42cd1dbceb540de" /><Relationship Type="http://schemas.openxmlformats.org/officeDocument/2006/relationships/notesMaster" Target="/ppt/notesMasters/notesMaster1.xml" Id="R467bfdc65ffc45d2" /><Relationship Type="http://schemas.openxmlformats.org/officeDocument/2006/relationships/presProps" Target="/ppt/presProps.xml" Id="R9186c972499a46fd" /><Relationship Type="http://schemas.openxmlformats.org/officeDocument/2006/relationships/tableStyles" Target="/ppt/tableStyles.xml" Id="Rc7be48bc99034815" /><Relationship Type="http://schemas.openxmlformats.org/officeDocument/2006/relationships/slide" Target="/ppt/slides/slide1.xml" Id="R60ec78b775c84646" /><Relationship Type="http://schemas.openxmlformats.org/officeDocument/2006/relationships/slide" Target="/ppt/slides/slide2.xml" Id="R575975d880174945" /><Relationship Type="http://schemas.openxmlformats.org/officeDocument/2006/relationships/slide" Target="/ppt/slides/slide3.xml" Id="Rd61315c0a4ef4dba" /><Relationship Type="http://schemas.openxmlformats.org/officeDocument/2006/relationships/slide" Target="/ppt/slides/slide4.xml" Id="R1d426f2cf1da41e0" /><Relationship Type="http://schemas.openxmlformats.org/officeDocument/2006/relationships/slide" Target="/ppt/slides/slide5.xml" Id="Rd314da19462a45ad" /><Relationship Type="http://schemas.openxmlformats.org/officeDocument/2006/relationships/slide" Target="/ppt/slides/slide6.xml" Id="R404bc67318eb4d1d" /><Relationship Type="http://schemas.openxmlformats.org/officeDocument/2006/relationships/slide" Target="/ppt/slides/slide7.xml" Id="Rc0f7a51f2ff149e8" /><Relationship Type="http://schemas.openxmlformats.org/officeDocument/2006/relationships/slide" Target="/ppt/slides/slide8.xml" Id="Rf1e6de0b43c54fc3" /><Relationship Type="http://schemas.openxmlformats.org/officeDocument/2006/relationships/slide" Target="/ppt/slides/slide9.xml" Id="R387a886048894368" /><Relationship Type="http://schemas.openxmlformats.org/officeDocument/2006/relationships/slide" Target="/ppt/slides/slide10.xml" Id="Rdcc6f8fcc703402b" /><Relationship Type="http://schemas.openxmlformats.org/officeDocument/2006/relationships/slide" Target="/ppt/slides/slide11.xml" Id="Rfe156f90125a43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2e5abc06004f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8843ec42714fdb" /><Relationship Type="http://schemas.openxmlformats.org/officeDocument/2006/relationships/notesMaster" Target="/ppt/notesMasters/notesMaster1.xml" Id="R20e413d81a1046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f8680b6cca426e" /><Relationship Type="http://schemas.openxmlformats.org/officeDocument/2006/relationships/notesMaster" Target="/ppt/notesMasters/notesMaster1.xml" Id="Rf1a963da9aad43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4c5bb837364b86" /><Relationship Type="http://schemas.openxmlformats.org/officeDocument/2006/relationships/notesMaster" Target="/ppt/notesMasters/notesMaster1.xml" Id="Raa1d4bbf0bea45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93f9390f5c4399" /><Relationship Type="http://schemas.openxmlformats.org/officeDocument/2006/relationships/notesMaster" Target="/ppt/notesMasters/notesMaster1.xml" Id="R43e851ea591b44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c38c71c7c8414a" /><Relationship Type="http://schemas.openxmlformats.org/officeDocument/2006/relationships/notesMaster" Target="/ppt/notesMasters/notesMaster1.xml" Id="Re0a361912b8644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91ad29c88848e9" /><Relationship Type="http://schemas.openxmlformats.org/officeDocument/2006/relationships/notesMaster" Target="/ppt/notesMasters/notesMaster1.xml" Id="R74c87c49cd6347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11ddfbdd124e4a" /><Relationship Type="http://schemas.openxmlformats.org/officeDocument/2006/relationships/notesMaster" Target="/ppt/notesMasters/notesMaster1.xml" Id="R158649a3593b46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bec3043e924670" /><Relationship Type="http://schemas.openxmlformats.org/officeDocument/2006/relationships/notesMaster" Target="/ppt/notesMasters/notesMaster1.xml" Id="R8da563e716c44d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78c31f48e4495b" /><Relationship Type="http://schemas.openxmlformats.org/officeDocument/2006/relationships/notesMaster" Target="/ppt/notesMasters/notesMaster1.xml" Id="Rfa6f64396bfd40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dee11e10c7403b" /><Relationship Type="http://schemas.openxmlformats.org/officeDocument/2006/relationships/notesMaster" Target="/ppt/notesMasters/notesMaster1.xml" Id="Rae3eaec81f8349c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aa6469b29446ae" /><Relationship Type="http://schemas.openxmlformats.org/officeDocument/2006/relationships/notesMaster" Target="/ppt/notesMasters/notesMaster1.xml" Id="R88a8844b229743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eff5ff23684f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808a6a41874efe" /><Relationship Type="http://schemas.openxmlformats.org/officeDocument/2006/relationships/slideLayout" Target="/ppt/slideLayouts/slideLayout1.xml" Id="R793b6adac90b43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3b6adac90b43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104bb259740ec" /><Relationship Type="http://schemas.openxmlformats.org/officeDocument/2006/relationships/notesSlide" Target="/ppt/notesSlides/notesSlide1.xml" Id="Rb2706e9c90e949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60079ddc244a0" /><Relationship Type="http://schemas.openxmlformats.org/officeDocument/2006/relationships/notesSlide" Target="/ppt/notesSlides/notesSlide2.xml" Id="Rfc59e8cd00ad4f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19b16195542d1" /><Relationship Type="http://schemas.openxmlformats.org/officeDocument/2006/relationships/notesSlide" Target="/ppt/notesSlides/notesSlide3.xml" Id="Rb89c7a8b752d4c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f9ef842df41da" /><Relationship Type="http://schemas.openxmlformats.org/officeDocument/2006/relationships/notesSlide" Target="/ppt/notesSlides/notesSlide4.xml" Id="R055b7d3aaed949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1042fbf424a8e" /><Relationship Type="http://schemas.openxmlformats.org/officeDocument/2006/relationships/notesSlide" Target="/ppt/notesSlides/notesSlide5.xml" Id="Rdc0eae12cc8142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32aaac156462e" /><Relationship Type="http://schemas.openxmlformats.org/officeDocument/2006/relationships/notesSlide" Target="/ppt/notesSlides/notesSlide6.xml" Id="Rbb41fc09313f47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f7825c77a44a1" /><Relationship Type="http://schemas.openxmlformats.org/officeDocument/2006/relationships/notesSlide" Target="/ppt/notesSlides/notesSlide7.xml" Id="R351dcb1000d94a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8ce9be3dd467c" /><Relationship Type="http://schemas.openxmlformats.org/officeDocument/2006/relationships/notesSlide" Target="/ppt/notesSlides/notesSlide8.xml" Id="R1c76df8074ed4c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19bea683e4608" /><Relationship Type="http://schemas.openxmlformats.org/officeDocument/2006/relationships/notesSlide" Target="/ppt/notesSlides/notesSlide9.xml" Id="Rc15cd0290a664a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36ee63e994d1c" /><Relationship Type="http://schemas.openxmlformats.org/officeDocument/2006/relationships/notesSlide" Target="/ppt/notesSlides/notesSlide10.xml" Id="R99b58aa75c104d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9cd81b0b448ba" /><Relationship Type="http://schemas.openxmlformats.org/officeDocument/2006/relationships/notesSlide" Target="/ppt/notesSlides/notesSlide11.xml" Id="R3f3c0e58a1a848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77DA9C-972A-4D88-9E41-247D7859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0646C"/>
                </a:solidFill>
              </a:defRPr>
            </a:pPr>
            <a:r>
              <a:rPr sz="1350" b="1">
                <a:solidFill>
                  <a:srgbClr val="60646C"/>
                </a:solidFill>
              </a:rPr>
              <a:t>CS455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C7DF80-0B11-4C53-932D-1AFC3E34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657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11111"/>
                </a:solidFill>
              </a:defRPr>
            </a:pPr>
            <a:r>
              <a:rPr sz="4950" b="1">
                <a:solidFill>
                  <a:srgbClr val="111111"/>
                </a:solidFill>
              </a:rPr>
              <a:t>Introduction to</a:t>
            </a:r>
          </a:p>
          <a:p xmlns:a="http://schemas.openxmlformats.org/drawingml/2006/main">
            <a:pPr algn="l">
              <a:defRPr sz="4950" b="1">
                <a:solidFill>
                  <a:srgbClr val="111111"/>
                </a:solidFill>
              </a:defRPr>
            </a:pPr>
            <a:r>
              <a:rPr sz="4950" b="1">
                <a:solidFill>
                  <a:srgbClr val="111111"/>
                </a:solidFill>
              </a:rPr>
              <a:t>MPI + CUDA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E8C783-B2F0-4174-805B-750DC0E9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0646C"/>
                </a:solidFill>
              </a:defRPr>
            </a:pPr>
            <a:r>
              <a:rPr sz="2025" b="0">
                <a:solidFill>
                  <a:srgbClr val="60646C"/>
                </a:solidFill>
              </a:rPr>
              <a:t>How multiple computers and GPUs work together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71DCE-4AE6-48E0-A261-93E65347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838200"/>
            <a:ext cx="33337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FEE4E8-6550-4F3F-BC60-3151995B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811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183153"/>
                </a:solidFill>
              </a:defRPr>
            </a:pPr>
            <a:r>
              <a:rPr sz="3750" b="1">
                <a:solidFill>
                  <a:srgbClr val="183153"/>
                </a:solidFill>
              </a:rPr>
              <a:t>MPI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A34A9-1B66-4071-AD04-9C59F991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5146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C3A87-0D52-472F-93AB-A727315F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183153"/>
                </a:solidFill>
              </a:defRPr>
            </a:pPr>
            <a:r>
              <a:rPr sz="3750" b="1">
                <a:solidFill>
                  <a:srgbClr val="183153"/>
                </a:solidFill>
              </a:rPr>
              <a:t>CUDA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67FC4-C961-4C4C-B49E-7DD80229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10100"/>
            <a:ext cx="2609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0646C"/>
                </a:solidFill>
              </a:defRPr>
            </a:pPr>
            <a:r>
              <a:rPr sz="1575" b="0">
                <a:solidFill>
                  <a:srgbClr val="60646C"/>
                </a:solidFill>
              </a:rPr>
              <a:t>Beginner-friendly overview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776EAF-EC68-4AB6-B370-E9C6F661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46C"/>
                </a:solidFill>
              </a:defRPr>
            </a:pPr>
            <a:r>
              <a:rPr sz="1050" b="0">
                <a:solidFill>
                  <a:srgbClr val="60646C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88814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85146D-9633-4E2C-B4FB-8DD3D437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646C"/>
                </a:solidFill>
              </a:defRPr>
            </a:pPr>
            <a:r>
              <a:rPr sz="1200" b="1">
                <a:solidFill>
                  <a:srgbClr val="60646C"/>
                </a:solidFill>
              </a:rPr>
              <a:t>CS455 • INTRO GPU CLUSTER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21A0F-624B-4874-9A27-B8E9F6DE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Why do we need parallel programming?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913D8-BE58-4EF8-978A-8B8ED829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A9983-4FDD-4ED5-B626-A3720A23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0646C"/>
                </a:solidFill>
              </a:defRPr>
            </a:pPr>
            <a:r>
              <a:rPr sz="1950" b="0">
                <a:solidFill>
                  <a:srgbClr val="60646C"/>
                </a:solidFill>
              </a:rPr>
              <a:t>Some problems contain millions—or billions—of similar operations.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5370C1-8FAD-46C3-ACAF-BEC47BC5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Serial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B3D973-7962-4FEA-BC4A-6E52A218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914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D1570-00CB-446B-AFED-CFB5B18D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1947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Task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7C88E-E8C4-477A-8A43-4F217A34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00400"/>
            <a:ext cx="914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91017-2E18-4976-AE82-3A042D50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1947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Task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CD0A3E-FF50-402E-BFC5-6224BD51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00400"/>
            <a:ext cx="914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412BC-192F-429E-9777-D615C5F0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1947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Task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BA749-4EEC-4079-A284-81AD85E1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00400"/>
            <a:ext cx="914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E916E6-83AF-4506-8946-7CF52AB2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1947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Task 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55F7B2-A52A-47FA-8F13-B954D728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00400"/>
            <a:ext cx="914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884625-E421-4707-BE59-4A6F6EF3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1947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Task 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FF83E7-4D49-4BBB-A153-1737124D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46C"/>
                </a:solidFill>
              </a:defRPr>
            </a:pPr>
            <a:r>
              <a:rPr sz="1575" b="0">
                <a:solidFill>
                  <a:srgbClr val="60646C"/>
                </a:solidFill>
              </a:rPr>
              <a:t>one after another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AF35B1-C614-4AC8-B8F4-5CED821C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289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Parallel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CF0848-61E9-4CF3-BBA5-3DB32ED5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00400"/>
            <a:ext cx="1619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E9D192-2931-45F9-A4E4-8D3BF4B7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194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Worker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83BEAF-1295-4AD5-9781-58B58D8A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00400"/>
            <a:ext cx="1619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7D2C18-6360-4F9A-AEE3-B616B736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194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Worker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402E2A-E60E-451D-83EF-8EEBED94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91000"/>
            <a:ext cx="1619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E58115-6DFC-4AE0-A070-110CAE80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00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Worker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5F9EF8-557F-4850-80EE-D7527FA7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191000"/>
            <a:ext cx="1619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25E0F4-D9DD-496B-AEFA-5A2D164B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4100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Worker 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2A3DD3-DD13-45D0-8DAB-69537AD7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578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46C"/>
                </a:solidFill>
              </a:defRPr>
            </a:pPr>
            <a:r>
              <a:rPr sz="1575" b="0">
                <a:solidFill>
                  <a:srgbClr val="60646C"/>
                </a:solidFill>
              </a:rPr>
              <a:t>many operations at once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3056F8-F26C-4748-9DA5-C362E1D0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46C"/>
                </a:solidFill>
              </a:defRPr>
            </a:pPr>
            <a:r>
              <a:rPr sz="1050" b="0">
                <a:solidFill>
                  <a:srgbClr val="60646C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522056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883B09-A6EB-45B0-8F25-C2A2C687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646C"/>
                </a:solidFill>
              </a:defRPr>
            </a:pPr>
            <a:r>
              <a:rPr sz="1200" b="1">
                <a:solidFill>
                  <a:srgbClr val="60646C"/>
                </a:solidFill>
              </a:rPr>
              <a:t>CS455 • INTRO GPU CLUSTER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5860E-246F-4513-9B90-EA58A4C3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 cluster combines several levels of hardware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6C557-17B9-4BE7-8CB0-9D59FD85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5B4814-9A11-43D1-BA6D-0AF82D36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Cluster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91A72-3D07-49B6-BA8F-4FB56FD6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2098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B2F017-94D7-438D-A268-F9D260A7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67000"/>
            <a:ext cx="762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A2CE7-B114-4642-B6DC-D2B4A236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40957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33611D-10B7-4F14-8AB5-AB19BD3B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05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Laptop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79F597-893C-4A63-8BEE-BFE78A5D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33800"/>
            <a:ext cx="10668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7CE230-B815-4BFC-BBB7-BE448AD1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1000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CPU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C1E93E-025F-485C-8471-9A385B18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33800"/>
            <a:ext cx="10668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B54B8-CFF7-4CC0-89D0-5AF56506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81000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RAM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EBC82B-AB78-43BE-9D7E-272CC71B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33800"/>
            <a:ext cx="10668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7C759-0FB1-4961-96D1-B32436E6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81000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GPU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228235-9A3A-47B7-9A4D-F62F283C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52950"/>
            <a:ext cx="163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46C"/>
                </a:solidFill>
              </a:defRPr>
            </a:pPr>
            <a:r>
              <a:rPr sz="1350" b="0">
                <a:solidFill>
                  <a:srgbClr val="60646C"/>
                </a:solidFill>
              </a:rPr>
              <a:t>Runs the MPI process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28E1A0-B11F-47F8-972D-960C305F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55295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46C"/>
                </a:solidFill>
              </a:defRPr>
            </a:pPr>
            <a:r>
              <a:rPr sz="1350" b="0">
                <a:solidFill>
                  <a:srgbClr val="60646C"/>
                </a:solidFill>
              </a:rPr>
              <a:t>Stores host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8D3F9C-B109-49FA-B0A7-A82657CB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52950"/>
            <a:ext cx="1162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153"/>
                </a:solidFill>
              </a:defRPr>
            </a:pPr>
            <a:r>
              <a:rPr sz="1350" b="1">
                <a:solidFill>
                  <a:srgbClr val="183153"/>
                </a:solidFill>
              </a:rPr>
              <a:t>Runs CUDA kernels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D08BC9-7131-4BA6-8A6F-D37355A4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95600"/>
            <a:ext cx="40957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22815C-3D6E-432C-99FC-DE669403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Laptop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A115E4-2F96-4A19-8290-27E5373D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10668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F07C67-827F-43A4-AE9D-DE6E2B18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1000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CPU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2F45AB-09B9-4132-BA17-64522B78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33800"/>
            <a:ext cx="10668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37281F-7A14-4578-9CEE-D4D6BF60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1000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RAM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1A1522-6697-4FE2-8FAD-23F827AD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33800"/>
            <a:ext cx="10668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8D7AC0-2A5A-4552-B9AF-4C37EEAB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1000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GPU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F5762C-BE9D-4592-BEAF-7A276887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52950"/>
            <a:ext cx="163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46C"/>
                </a:solidFill>
              </a:defRPr>
            </a:pPr>
            <a:r>
              <a:rPr sz="1350" b="0">
                <a:solidFill>
                  <a:srgbClr val="60646C"/>
                </a:solidFill>
              </a:rPr>
              <a:t>Runs the MPI process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C9600E-453F-4DB1-9B16-7D158A70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55295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46C"/>
                </a:solidFill>
              </a:defRPr>
            </a:pPr>
            <a:r>
              <a:rPr sz="1350" b="0">
                <a:solidFill>
                  <a:srgbClr val="60646C"/>
                </a:solidFill>
              </a:rPr>
              <a:t>Stores host data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307B28-EFE9-4EF8-A7DE-0CBDD590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52950"/>
            <a:ext cx="1162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153"/>
                </a:solidFill>
              </a:defRPr>
            </a:pPr>
            <a:r>
              <a:rPr sz="1350" b="1">
                <a:solidFill>
                  <a:srgbClr val="183153"/>
                </a:solidFill>
              </a:rPr>
              <a:t>Runs CUDA kernels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18BE68-4E77-4080-9B66-D4ED924F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431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0646C"/>
                </a:solidFill>
              </a:defRPr>
            </a:pPr>
            <a:r>
              <a:rPr sz="1350" b="0">
                <a:solidFill>
                  <a:srgbClr val="60646C"/>
                </a:solidFill>
              </a:rPr>
              <a:t>network connection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9B739F-13A6-46F5-A581-AA31E9E2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46C"/>
                </a:solidFill>
              </a:defRPr>
            </a:pPr>
            <a:r>
              <a:rPr sz="1050" b="0">
                <a:solidFill>
                  <a:srgbClr val="60646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579390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786D7D-D24B-428F-BF4B-75103D3F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646C"/>
                </a:solidFill>
              </a:defRPr>
            </a:pPr>
            <a:r>
              <a:rPr sz="1200" b="1">
                <a:solidFill>
                  <a:srgbClr val="60646C"/>
                </a:solidFill>
              </a:rPr>
              <a:t>CS455 • INTRO GPU CLUSTER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CB665C-2257-4961-A68D-BA195738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MPI connects independent processes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1516C-619C-4303-83CB-A91FB0D6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A7490-6343-4069-B7D9-E398C3FF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MPI = Message Passing Interface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847FE-077D-46D4-B608-AB4C7A82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504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646C"/>
                </a:solidFill>
              </a:defRPr>
            </a:pPr>
            <a:r>
              <a:rPr sz="1800" b="0">
                <a:solidFill>
                  <a:srgbClr val="60646C"/>
                </a:solidFill>
              </a:rPr>
              <a:t>Each process has its own memory. Processes cooperate by explicitly sending and receiving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324C10-E4E5-41D9-AD06-8BA3079C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9800"/>
            <a:ext cx="13525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EB5FA-1ADA-4D99-92F4-A0F474FE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9555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Rank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8752DC-35E2-4D50-B441-A82D04EA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14800"/>
            <a:ext cx="13525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8B9EAF-2992-40DD-9DF1-A17886E5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76725"/>
            <a:ext cx="1352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Private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memory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570F8-F1A1-408E-BE58-58E2DE0C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57550"/>
            <a:ext cx="19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C7C686-3F8C-40E9-9D5C-D4C8BED4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13525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475B07-742A-4D0C-9DF7-07DAE209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9555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Rank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87250E-97B6-4865-B2DF-B708FFC1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14800"/>
            <a:ext cx="13525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504CF3-5B74-4642-97BE-A6D5F419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76725"/>
            <a:ext cx="1352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Private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FE4955-1774-4539-9EAE-F09C8CAC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57550"/>
            <a:ext cx="19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47264C-54B7-468F-BB5B-D7320CB4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209800"/>
            <a:ext cx="13525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2B30F8-091B-4DE1-A8C7-B03EADA5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9555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Rank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11FE76-9EC8-4D8E-878C-2750C8AD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114800"/>
            <a:ext cx="13525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3BC710-ECB5-441B-807F-0E55C716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276725"/>
            <a:ext cx="1352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Private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memory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9C6E55-080A-4259-8A8E-881D6AFC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257550"/>
            <a:ext cx="19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96F345-BB4D-4B22-BA7E-294841D3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292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Rank = unique process 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BB8A0A-B985-4FDD-B3B5-F0332058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46C"/>
                </a:solidFill>
              </a:defRPr>
            </a:pPr>
            <a:r>
              <a:rPr sz="1050" b="0">
                <a:solidFill>
                  <a:srgbClr val="60646C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439520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2DF423-D0FC-4F12-B627-0FCF8A80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646C"/>
                </a:solidFill>
              </a:defRPr>
            </a:pPr>
            <a:r>
              <a:rPr sz="1200" b="1">
                <a:solidFill>
                  <a:srgbClr val="60646C"/>
                </a:solidFill>
              </a:rPr>
              <a:t>CS455 • INTRO GPU CLUSTER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F7D8F-98AF-4241-BEE7-2C1D1FD6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MPI provides two styles of communication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4371D-49B7-463B-90A9-0C036A92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220F4-D120-45AB-AD52-A7A78838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Point-to-point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FC94B-A2C7-4BD0-BD27-7FFE5938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4953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559B7-7CC7-4BC2-8A9E-0E3E92E1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238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9852F-18A3-4A1F-A193-C5F09CE1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Rank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8769C4-5149-48DD-98C6-2446E5E8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09900"/>
            <a:ext cx="1238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2FF18A-9330-491E-B210-59F8D5A4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861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Rank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8566C-D16B-46EF-93E1-19333FD0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004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861493-5862-4FE3-BEDE-176C046E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338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Send  →  Receive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C7B676-5CC0-46AD-9383-57B1BB7B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Collective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EBC1FA-2428-49B7-972E-EF18F422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56007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ED5CC6-347A-445C-B269-1CF348F6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62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Broadcast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3FE530-1B95-4387-9831-C4E373D9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46C"/>
                </a:solidFill>
              </a:defRPr>
            </a:pPr>
            <a:r>
              <a:rPr sz="1575" b="0">
                <a:solidFill>
                  <a:srgbClr val="60646C"/>
                </a:solidFill>
              </a:rPr>
              <a:t>one → everyone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712BF6-77A6-4B64-85F4-2134D117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52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Scatter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745391-695B-4487-ADEB-B4CA2F66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528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46C"/>
                </a:solidFill>
              </a:defRPr>
            </a:pPr>
            <a:r>
              <a:rPr sz="1575" b="0">
                <a:solidFill>
                  <a:srgbClr val="60646C"/>
                </a:solidFill>
              </a:rPr>
              <a:t>divide the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2045D5-B273-4C90-8E9E-7CE0F04F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43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Gather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696217-5072-4346-9323-1BA18D97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43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46C"/>
                </a:solidFill>
              </a:defRPr>
            </a:pPr>
            <a:r>
              <a:rPr sz="1575" b="0">
                <a:solidFill>
                  <a:srgbClr val="60646C"/>
                </a:solidFill>
              </a:rPr>
              <a:t>collect the pieces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75223F-D10A-475E-90E8-27FD6C01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33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Reduce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6835A3-144A-4199-BC79-34F32FA3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339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646C"/>
                </a:solidFill>
              </a:defRPr>
            </a:pPr>
            <a:r>
              <a:rPr sz="1575" b="0">
                <a:solidFill>
                  <a:srgbClr val="60646C"/>
                </a:solidFill>
              </a:rPr>
              <a:t>combine results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032A9B-37D4-44EE-B39C-F9774E88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46C"/>
                </a:solidFill>
              </a:defRPr>
            </a:pPr>
            <a:r>
              <a:rPr sz="1050" b="0">
                <a:solidFill>
                  <a:srgbClr val="60646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801073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8B8E6C-250D-40B8-952F-524FD27A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646C"/>
                </a:solidFill>
              </a:defRPr>
            </a:pPr>
            <a:r>
              <a:rPr sz="1200" b="1">
                <a:solidFill>
                  <a:srgbClr val="60646C"/>
                </a:solidFill>
              </a:rPr>
              <a:t>CS455 • INTRO GPU CLUSTER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AC927-53E7-47F4-9359-FD70D8E2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CUDA uses many lightweight GPU threads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83D5D3-8E22-419C-B20E-1E80190F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10BC7-E104-43F2-B7EC-084F3C57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Host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1095B-57FF-4B78-897B-96966AA8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0646C"/>
                </a:solidFill>
              </a:defRPr>
            </a:pPr>
            <a:r>
              <a:rPr sz="1725" b="0">
                <a:solidFill>
                  <a:srgbClr val="60646C"/>
                </a:solidFill>
              </a:rPr>
              <a:t>CPU code controls the program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83F6A-57AA-4A06-A1D8-387374A3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907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Device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CAC6D-CBDB-446E-95B9-FCE1E7F2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6695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0646C"/>
                </a:solidFill>
              </a:defRPr>
            </a:pPr>
            <a:r>
              <a:rPr sz="1725" b="0">
                <a:solidFill>
                  <a:srgbClr val="60646C"/>
                </a:solidFill>
              </a:rPr>
              <a:t>GPU code performs parallel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1AE764-97FC-468A-B2BD-D6594528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2476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12499-10CC-4836-A9A8-5F6D404A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CPU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9284F-C37F-471E-8A49-A59C3A3B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143375"/>
            <a:ext cx="451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175CC8-0B6C-4BC3-8BA5-B12462F0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766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copy data  •  launch kernel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8329AF-C5F4-4E59-B164-D4E0A13E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57550"/>
            <a:ext cx="34861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71EA64-D839-43E1-AD5E-BBB9989C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04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89955C-EA9F-4CF8-9924-DABC814E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004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8B4995-F9BB-4D45-961F-6BFD9DE1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004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BE62F9-8B18-4DD0-826C-863FD343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004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27A905-61B9-4C8E-9DD1-AF7A029D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004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1F9B6E-503D-4C96-B3D6-B2166BCC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004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CEE7B4-8516-48F3-B9BA-C70D212D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576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9C4126-A143-48AB-B01C-23260E0E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576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4E225E-535E-4410-8D52-8824BB75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576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5D5F90-619C-4D03-ACF3-D24F9368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576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8E2163-2886-49A1-AC2C-154B2E91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576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C9CD56-6354-4FEA-8836-9C0C31D2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576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4872A3-F33A-4815-8AEF-435441B1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148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35CBCD-093C-4151-AEC7-F0FA89E4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148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541B90-B3D9-43CD-9733-EC8C5567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148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E34FFA-88E3-4D2C-98AD-55193821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5148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B4BE66-B9F6-479E-AFEE-8F8BB955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5148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DB7867-B7E4-437B-85D1-7B84C328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148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D3AD9D-CB91-447C-B355-6CD1C34C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81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0646C"/>
                </a:solidFill>
              </a:defRPr>
            </a:pPr>
            <a:r>
              <a:rPr sz="1575" b="0">
                <a:solidFill>
                  <a:srgbClr val="60646C"/>
                </a:solidFill>
              </a:rPr>
              <a:t>hundreds or thousands of threads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C6F4DE-6F9D-448C-A3EC-4BC2CE6A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46C"/>
                </a:solidFill>
              </a:defRPr>
            </a:pPr>
            <a:r>
              <a:rPr sz="1050" b="0">
                <a:solidFill>
                  <a:srgbClr val="60646C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348879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B583E5-A00C-453A-A6E3-F873772C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646C"/>
                </a:solidFill>
              </a:defRPr>
            </a:pPr>
            <a:r>
              <a:rPr sz="1200" b="1">
                <a:solidFill>
                  <a:srgbClr val="60646C"/>
                </a:solidFill>
              </a:rPr>
              <a:t>CS455 • INTRO GPU CLUSTER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CB80A-7858-43F5-8BB4-34D84417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CUDA organizes threads into a hierarchy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48D59-8065-49D9-A475-D9A93838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78BFB-616E-4E0F-9C7D-7A09BA19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3333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4267A-7EC3-4435-B5A8-6888B282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Grid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2A1EEE-99AF-40DC-AEF0-8342FD9D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46C"/>
                </a:solidFill>
              </a:defRPr>
            </a:pPr>
            <a:r>
              <a:rPr sz="1650" b="0">
                <a:solidFill>
                  <a:srgbClr val="60646C"/>
                </a:solidFill>
              </a:rPr>
              <a:t>all blocks in one kernel launch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1982C-0F66-4C7D-9E42-D1E9761A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Blocks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8FB399-8D60-4543-86D1-295E5C38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114550"/>
            <a:ext cx="3333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0148F1-6349-400A-B064-DB446F06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3840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Block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B5A9D2-885E-472D-A9F9-FE717D45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04800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46C"/>
                </a:solidFill>
              </a:defRPr>
            </a:pPr>
            <a:r>
              <a:rPr sz="1650" b="0">
                <a:solidFill>
                  <a:srgbClr val="60646C"/>
                </a:solidFill>
              </a:rPr>
              <a:t>a group of cooperating threads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68608-E852-4F59-BB3D-FABAF2FB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19100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Threads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BE8F00-75E8-4F93-8363-B6B940C2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14550"/>
            <a:ext cx="3333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BADD23-F2FF-4216-B809-AE0370FF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3840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Thread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2E1FA2-759E-4D12-9CC4-37E20C51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4800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46C"/>
                </a:solidFill>
              </a:defRPr>
            </a:pPr>
            <a:r>
              <a:rPr sz="1650" b="0">
                <a:solidFill>
                  <a:srgbClr val="60646C"/>
                </a:solidFill>
              </a:rPr>
              <a:t>handles one or more data items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40A9DF-7F9F-4A84-A80F-C4984E39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9100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e.g., C[i] = A[i] + B[i]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05BA33-3039-4021-BA44-484B0EB9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007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Global thread index = blockIdx.x × blockDim.x + threadIdx.x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AFCDDD-D3DE-4AE1-A64F-31E4F10A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46C"/>
                </a:solidFill>
              </a:defRPr>
            </a:pPr>
            <a:r>
              <a:rPr sz="1050" b="0">
                <a:solidFill>
                  <a:srgbClr val="60646C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961839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02D368-ABF0-4193-9E4C-17666679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646C"/>
                </a:solidFill>
              </a:defRPr>
            </a:pPr>
            <a:r>
              <a:rPr sz="1200" b="1">
                <a:solidFill>
                  <a:srgbClr val="60646C"/>
                </a:solidFill>
              </a:rPr>
              <a:t>CS455 • INTRO GPU CLUSTER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93091-6F55-4336-959D-CDCCA0C7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 basic CUDA program moves data, computes, then returns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AE01A-15B1-4D52-A8C5-5170FDF9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0D618-3291-4ABE-87E8-D1F30BD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1952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91AFF-FEF1-442D-8A99-B5CFE938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609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1  Allocate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4432B-1A71-477C-B1CB-F5B9C567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952750"/>
            <a:ext cx="3143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F7EF2-0C2F-437B-9C59-A598816C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00300"/>
            <a:ext cx="1952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6A1B78-8BAB-42D9-BB91-F769297A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14625"/>
            <a:ext cx="1609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2  Copy to GPU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4004B-A4CE-4318-BFB2-5F8B3682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52750"/>
            <a:ext cx="3143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BF196C-7BF7-4490-B5AB-6329CB26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00300"/>
            <a:ext cx="1952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F01DF3-DF01-4734-AE1F-EF675D65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14625"/>
            <a:ext cx="1609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3  Launch kernel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BCFDDD-208E-41ED-B782-20C584C2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52750"/>
            <a:ext cx="3143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D351F2-BBB3-4FE6-A185-6B336209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00300"/>
            <a:ext cx="1952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7D62E5-50EE-434C-8C3A-478EAF07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14625"/>
            <a:ext cx="1609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4  Copy result 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CF78CE-A119-441C-BC7D-AC756610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952750"/>
            <a:ext cx="3143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9F9D66-3C4B-4CF5-A0EF-0DE90739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00300"/>
            <a:ext cx="1952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768731-9313-49C0-B649-09214F34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14625"/>
            <a:ext cx="1609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5  Free memory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DD2AD8-95E8-4CEE-8909-420A0616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1005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153"/>
                </a:solidFill>
              </a:defRPr>
            </a:pPr>
            <a:r>
              <a:rPr sz="2025" b="1">
                <a:solidFill>
                  <a:srgbClr val="183153"/>
                </a:solidFill>
              </a:rPr>
              <a:t>Data transfer has a cost—good GPU workloads perform enough computation to justify it.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C0C283-08AF-4047-AE55-AD442782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46C"/>
                </a:solidFill>
              </a:defRPr>
            </a:pPr>
            <a:r>
              <a:rPr sz="1050" b="0">
                <a:solidFill>
                  <a:srgbClr val="60646C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256802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DF6EE1-B488-4426-A719-AB744182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646C"/>
                </a:solidFill>
              </a:defRPr>
            </a:pPr>
            <a:r>
              <a:rPr sz="1200" b="1">
                <a:solidFill>
                  <a:srgbClr val="60646C"/>
                </a:solidFill>
              </a:rPr>
              <a:t>CS455 • INTRO GPU CLUSTER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7F192-D07F-4111-B118-62D6F003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MPI + CUDA creates two levels of parallelism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474F8-AFEB-48B6-9C86-B420F73B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60B02D-710E-449D-B693-BC2FD975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</a:defRPr>
            </a:pPr>
            <a:r>
              <a:rPr sz="2025" b="1">
                <a:solidFill>
                  <a:srgbClr val="3D8DFF"/>
                </a:solidFill>
              </a:rPr>
              <a:t>MPI divides work across machines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980C98-7CCB-4313-BD04-4356F407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7625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CA020-4B6B-455A-98E5-8CE9099E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813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Laptop 1  •  MPI Rank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4100B-87F0-42B8-BB10-3EC2C905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24250"/>
            <a:ext cx="3810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69C397-DE12-45CA-876C-E989759E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433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CUDA kernel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F3701-2EEF-429A-94AC-8E5E89FB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646C"/>
                </a:solidFill>
              </a:defRPr>
            </a:pPr>
            <a:r>
              <a:rPr sz="1350" b="0">
                <a:solidFill>
                  <a:srgbClr val="60646C"/>
                </a:solidFill>
              </a:rPr>
              <a:t>many GPU threads process the local portion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85F8C-1389-462A-B166-00222199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14600"/>
            <a:ext cx="47625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B98732-B6BF-40E6-884F-004C02D5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813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Laptop 2  •  MPI Rank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8DE389-6E44-4A3F-B2B5-963714CB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24250"/>
            <a:ext cx="3810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E8D7A8-7EBB-4D5F-832E-6A663978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433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CUDA kernel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5E9232-229D-44C1-934F-E2AB814F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7195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646C"/>
                </a:solidFill>
              </a:defRPr>
            </a:pPr>
            <a:r>
              <a:rPr sz="1350" b="0">
                <a:solidFill>
                  <a:srgbClr val="60646C"/>
                </a:solidFill>
              </a:rPr>
              <a:t>many GPU threads process the local portion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C0CBF2-8EAC-4520-9F34-6AC86C68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8100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FC7E4B-23BF-4A8C-9614-483659B1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480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646C"/>
                </a:solidFill>
              </a:defRPr>
            </a:pPr>
            <a:r>
              <a:rPr sz="1200" b="0">
                <a:solidFill>
                  <a:srgbClr val="60646C"/>
                </a:solidFill>
              </a:rPr>
              <a:t>network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A84B4A-1C4E-444E-AB86-FA4101FD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46C"/>
                </a:solidFill>
              </a:defRPr>
            </a:pPr>
            <a:r>
              <a:rPr sz="1050" b="0">
                <a:solidFill>
                  <a:srgbClr val="60646C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403150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F519E6-689C-4B80-8411-3FBDE8F5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646C"/>
                </a:solidFill>
              </a:defRPr>
            </a:pPr>
            <a:r>
              <a:rPr sz="1200" b="1">
                <a:solidFill>
                  <a:srgbClr val="60646C"/>
                </a:solidFill>
              </a:rPr>
              <a:t>CS455 • INTRO GPU CLUSTER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06395-68D9-4741-A4BE-2FE277D5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Example: add two large arrays on two GPU laptops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29E8C-7089-48C6-A044-C9CC5543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140EB-D1F2-4835-954B-255B0327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6286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2D381-0961-4968-9420-79ECF872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B12F10-C6DE-4187-BCC5-54CD57FC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09775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Rank 0 creates the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C4E13-9DCA-4000-A3D9-8C638EDC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A0270-E17A-48D1-98C6-087986F9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6286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7BF96-1A00-46A9-B771-6E9498B8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3847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F1381A-43D4-417B-94DB-1E344A39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00375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MPI scatters half to each rank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9FC64A-C9D0-4C2D-84D9-4A4AE2FE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497AB9-4142-4847-B750-80FD21D6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6286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AD546-C159-438B-BB8E-E0D02C8F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2907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7E3E98-43D0-420B-AC75-3DD325D4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90975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Each GPU computes its half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D82665-7E60-4FF5-B140-572E97AA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117A66-8D72-4B66-9399-8F90329E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6286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4CC2DE-4CA1-4310-AB4B-D45E2FA7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967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23F02C-D48B-4F9F-8B4E-85DD5FFB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MPI gathers the final 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B3B2A5-6ADC-4E46-ABEF-FEF7AD36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46C"/>
                </a:solidFill>
              </a:defRPr>
            </a:pPr>
            <a:r>
              <a:rPr sz="1050" b="0">
                <a:solidFill>
                  <a:srgbClr val="60646C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845534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A27E8C-5F22-4987-A5C0-E92B0D50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646C"/>
                </a:solidFill>
              </a:defRPr>
            </a:pPr>
            <a:r>
              <a:rPr sz="1200" b="1">
                <a:solidFill>
                  <a:srgbClr val="60646C"/>
                </a:solidFill>
              </a:rPr>
              <a:t>CS455 • INTRO GPU CLUSTER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A4B2C-3BED-41CF-ADCD-BBDE1B7D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The mental model to keep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7DA10-4A99-43DF-9243-C1C245F4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AFC89-2E87-4EBA-A7C3-538066B1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</a:defRPr>
            </a:pPr>
            <a:r>
              <a:rPr sz="3000" b="1">
                <a:solidFill>
                  <a:srgbClr val="3D8DFF"/>
                </a:solidFill>
              </a:rPr>
              <a:t>MPI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65111-F6DA-4EF6-A3BB-A93342E0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419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646C"/>
                </a:solidFill>
              </a:defRPr>
            </a:pPr>
            <a:r>
              <a:rPr sz="1800" b="0">
                <a:solidFill>
                  <a:srgbClr val="60646C"/>
                </a:solidFill>
              </a:rPr>
              <a:t>distributes work across processes and machines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C9AEF-10C3-47E4-8E8E-8D6BE92C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812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</a:defRPr>
            </a:pPr>
            <a:r>
              <a:rPr sz="3000" b="1">
                <a:solidFill>
                  <a:srgbClr val="3D8DFF"/>
                </a:solidFill>
              </a:rPr>
              <a:t>CUDA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32797-7829-442D-A518-58CAE9F2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289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646C"/>
                </a:solidFill>
              </a:defRPr>
            </a:pPr>
            <a:r>
              <a:rPr sz="1800" b="0">
                <a:solidFill>
                  <a:srgbClr val="60646C"/>
                </a:solidFill>
              </a:rPr>
              <a:t>accelerates each machine’s local work on its GPU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1D69A2-D34C-44C7-B239-AA491B57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0DBFA9-2295-4DE7-976F-1A84E495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One MPI 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E5F90-9D97-4B36-8CF1-0E7A9981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148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2AACD-24EB-48FC-B74B-4DEE5D64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148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One GPU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1F70D-8984-4263-AD32-A9689DF5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148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413F28-27F8-4899-AE14-34A7B320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148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Many CUDA threads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EB3686-06AD-49E1-A28B-AB4635E4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340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153"/>
                </a:solidFill>
              </a:defRPr>
            </a:pPr>
            <a:r>
              <a:rPr sz="1725" b="1">
                <a:solidFill>
                  <a:srgbClr val="183153"/>
                </a:solidFill>
              </a:rPr>
              <a:t>Next: write and run a small MPI program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909DFF-1A4B-43C2-909D-42910156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46C"/>
                </a:solidFill>
              </a:defRPr>
            </a:pPr>
            <a:r>
              <a:rPr sz="1050" b="0">
                <a:solidFill>
                  <a:srgbClr val="60646C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504152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2026-09-02T00:50:25.7090000Z</dcterms:created>
  <dcterms:modified xsi:type="dcterms:W3CDTF">2026-09-02T00:50:25.7090000Z</dcterms:modified>
</coreProperties>
</file>