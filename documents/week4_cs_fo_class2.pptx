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D96"/>
          </a:solidFill>
          <a:ln w="12700">
            <a:solidFill>
              <a:srgbClr val="1E5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— Intro GPU Cluster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6404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 One-Sided Communication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MPI_Accumulate(): Remote Update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a local value with data already stored in a target window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754880" cy="489204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63"/>
                </a:solidFill>
              </a:rPr>
              <a:t>Core idea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411480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2938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= remote OP local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Unlike MPI_Put(), Accumulate does not have to overwrite the target value.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49300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The operation can be MPI_SUM, MPI_MAX, MPI_MIN, MPI_PROD, MPI_REPLACE, and others.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40680" y="1051560"/>
            <a:ext cx="6327648" cy="4892040"/>
          </a:xfrm>
          <a:prstGeom prst="roundRect">
            <a:avLst>
              <a:gd name="adj" fmla="val 1121"/>
            </a:avLst>
          </a:prstGeom>
          <a:solidFill>
            <a:srgbClr val="E9F8F3"/>
          </a:solidFill>
          <a:ln w="12700">
            <a:solidFill>
              <a:srgbClr val="C7E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</a:rPr>
              <a:t>Analogy: adding contributions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18745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2020824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Target counter = 10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81160" y="1965960"/>
            <a:ext cx="17373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54312" y="20208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Local value =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89720" y="2267712"/>
            <a:ext cx="-1325880" cy="0"/>
          </a:xfrm>
          <a:prstGeom prst="line">
            <a:avLst/>
          </a:prstGeom>
          <a:noFill/>
          <a:ln w="38100">
            <a:solidFill>
              <a:srgbClr val="148F77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059168" y="28163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MPI_Accumulate(..., MPI_SUM, ...)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3657600"/>
            <a:ext cx="2057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371246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8F77"/>
                </a:solidFill>
              </a:rPr>
              <a:t>Target counter = 15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89320" y="4617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Think of several processes contributing amounts to the same remote total.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MPI_Accumulate(): Arguments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3703320" cy="5074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225296"/>
            <a:ext cx="337413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MPI_Accumulate(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origin_addr,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origin_count,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origin_datatype,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target_rank,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target_disp,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target_count,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target_datatype,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26280" y="1143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origin_addr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Address of local data to contribute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26280" y="1673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origin_count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1673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Number of local elements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2203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origin_datatype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22037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Datatype of local elements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734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target_rank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7340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Process whose window is updated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264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32644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Starting displacement inside target window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794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target_count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Number of target elements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4325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target_datatype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43251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Datatype at target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8554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4855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Reduction-style operation: SUM, MAX, MIN, ...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5385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53858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Window used for the RMA operation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MPI_Accumulate():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1 adds 5 to Process 0's exposed counter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6812280" cy="5230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25296"/>
            <a:ext cx="648309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 = 0;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 win;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MPI_Win_create(&amp;counter, sizeof(int), sizeof(int),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MPI_INFO_NULL, MPI_COMM_WORLD, &amp;win);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value = 5;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(rank == 1)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MPI_Accumulate(&amp;value, 1, MPI_INT,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0, 0, 1, MPI_INT,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MPI_SUM, win);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7479792" y="1078992"/>
            <a:ext cx="4251960" cy="5230368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63"/>
                </a:solidFill>
              </a:rPr>
              <a:t>What happens?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18120" y="1975104"/>
            <a:ext cx="914400" cy="34747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91272" y="202996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D96"/>
                </a:solidFill>
              </a:rPr>
              <a:t>Before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2441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P0 counter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P1 value = 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15400" y="3383280"/>
            <a:ext cx="0" cy="594360"/>
          </a:xfrm>
          <a:prstGeom prst="line">
            <a:avLst/>
          </a:prstGeom>
          <a:noFill/>
          <a:ln w="38100">
            <a:solidFill>
              <a:srgbClr val="148F7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0" y="3529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4169664"/>
            <a:ext cx="914400" cy="347472"/>
          </a:xfrm>
          <a:prstGeom prst="roundRect">
            <a:avLst/>
          </a:prstGeom>
          <a:solidFill>
            <a:srgbClr val="E9F8F3"/>
          </a:solidFill>
          <a:ln w="12700">
            <a:solidFill>
              <a:srgbClr val="E9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422452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4681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</a:rPr>
              <a:t>P0 counter = 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18120" y="5321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786"/>
                </a:solidFill>
              </a:rPr>
              <a:t>No matching receive is required at Process 0.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Read–Modify–Write Needs Atomicity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212080" cy="4937760"/>
          </a:xfrm>
          <a:prstGeom prst="roundRect">
            <a:avLst>
              <a:gd name="adj" fmla="val 1111"/>
            </a:avLst>
          </a:prstGeom>
          <a:solidFill>
            <a:srgbClr val="EAF3FB"/>
          </a:solidFill>
          <a:ln w="12700">
            <a:solidFill>
              <a:srgbClr val="CF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898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5D96"/>
                </a:solidFill>
              </a:rPr>
              <a:t>Read–modify–write pattern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1993392"/>
            <a:ext cx="43891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139696"/>
            <a:ext cx="405993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= remote;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= old + 1;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= new;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40965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If these are separate operations, another process can access the same location between the read and the write.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16752" y="1097280"/>
            <a:ext cx="5669280" cy="4937760"/>
          </a:xfrm>
          <a:prstGeom prst="roundRect">
            <a:avLst>
              <a:gd name="adj" fmla="val 1111"/>
            </a:avLst>
          </a:prstGeom>
          <a:solidFill>
            <a:srgbClr val="FFF3E3"/>
          </a:solidFill>
          <a:ln w="12700">
            <a:solidFill>
              <a:srgbClr val="F0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389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Potential problem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635240" y="1956816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20116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Shared counter = 10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2834640"/>
            <a:ext cx="91440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241280" y="2834640"/>
            <a:ext cx="-91440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2542032"/>
            <a:ext cx="1051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596896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P0: +1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41280" y="2542032"/>
            <a:ext cx="1051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14432" y="2596896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P2: +1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703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Both may read the same old value before either writes back.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4828032"/>
            <a:ext cx="2743200" cy="5303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488289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3A3A"/>
                </a:solidFill>
              </a:rPr>
              <a:t>Race condition → lost update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Race Condition Example: Separate Get + Put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processes increment the same remote counter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4348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A63"/>
                </a:solidFill>
              </a:rPr>
              <a:t>Initial remote counter = 10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1737360"/>
            <a:ext cx="1508760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9222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Process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737360"/>
            <a:ext cx="1600200" cy="457200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59552" y="1792224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Remote target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81160" y="1737360"/>
            <a:ext cx="1508760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54312" y="179222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Process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Get → reads 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03520" y="2487168"/>
            <a:ext cx="19659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2542032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counter = 10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0684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Get → reads 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2644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computes 11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06840" y="32644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computes 11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014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33A3A"/>
                </a:solidFill>
              </a:rPr>
              <a:t>Put 11 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03520" y="3986784"/>
            <a:ext cx="19659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404164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3A3A"/>
                </a:solidFill>
              </a:rPr>
              <a:t>counter = 11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764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33A3A"/>
                </a:solidFill>
              </a:rPr>
              <a:t>← Put 11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80560" y="5532120"/>
            <a:ext cx="3291840" cy="5303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558698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3A3A"/>
                </a:solidFill>
              </a:rPr>
              <a:t>Final counter = 11  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6144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8F77"/>
                </a:solidFill>
              </a:rPr>
              <a:t>Expected final value: 12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Atomic RMA Operations Prevent Lost Updates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556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A63"/>
                </a:solidFill>
              </a:rPr>
              <a:t>Atomic means the read + update behaves like one indivisible operation.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800600" y="2267712"/>
            <a:ext cx="2606040" cy="658368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3752" y="232257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counter = 10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2880360"/>
            <a:ext cx="210312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293522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P0: atomic +1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01568" y="3163824"/>
            <a:ext cx="1307592" cy="-420624"/>
          </a:xfrm>
          <a:prstGeom prst="line">
            <a:avLst/>
          </a:prstGeom>
          <a:noFill/>
          <a:ln w="38100">
            <a:solidFill>
              <a:srgbClr val="1E5D9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3264408"/>
            <a:ext cx="2240280" cy="566928"/>
          </a:xfrm>
          <a:prstGeom prst="roundRect">
            <a:avLst/>
          </a:prstGeom>
          <a:solidFill>
            <a:srgbClr val="E9F8F3"/>
          </a:solidFill>
          <a:ln w="12700">
            <a:solidFill>
              <a:srgbClr val="E9F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331927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8F77"/>
                </a:solidFill>
              </a:rPr>
              <a:t>10 → 11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0" y="2880360"/>
            <a:ext cx="210312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9952" y="293522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P2: atomic +1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41080" y="3163824"/>
            <a:ext cx="-1280160" cy="676656"/>
          </a:xfrm>
          <a:prstGeom prst="line">
            <a:avLst/>
          </a:prstGeom>
          <a:noFill/>
          <a:ln w="38100">
            <a:solidFill>
              <a:srgbClr val="1E5D9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83480" y="4160520"/>
            <a:ext cx="2240280" cy="566928"/>
          </a:xfrm>
          <a:prstGeom prst="roundRect">
            <a:avLst/>
          </a:prstGeom>
          <a:solidFill>
            <a:srgbClr val="E9F8F3"/>
          </a:solidFill>
          <a:ln w="12700">
            <a:solidFill>
              <a:srgbClr val="E9F8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4215384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8F77"/>
                </a:solidFill>
              </a:rPr>
              <a:t>11 → 12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60520" y="50749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8F77"/>
                </a:solidFill>
              </a:rPr>
              <a:t>Final counter = 12  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56692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MPI_Fetch_and_op() and MPI_Compare_and_swap() provide atomic read–modify–write behavior.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MPI_Compare_and_swap(): Conditional Atomic Update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63"/>
                </a:solidFill>
              </a:rPr>
              <a:t>Objective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160520" cy="1600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20824"/>
            <a:ext cx="38313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= remote;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(remote == expected)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remote = new_value;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Always returns the old remote value to the origin process.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Only replaces the target value when the comparison succeeds.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96128" y="1078992"/>
            <a:ext cx="6126480" cy="4983480"/>
          </a:xfrm>
          <a:prstGeom prst="roundRect">
            <a:avLst>
              <a:gd name="adj" fmla="val 1101"/>
            </a:avLst>
          </a:prstGeom>
          <a:solidFill>
            <a:srgbClr val="F0EAFE"/>
          </a:solidFill>
          <a:ln w="12700">
            <a:solidFill>
              <a:srgbClr val="DCC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371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48A8"/>
                </a:solidFill>
              </a:rPr>
              <a:t>Analogy: replace only if the label matches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03720" y="2057400"/>
            <a:ext cx="3383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2112264"/>
            <a:ext cx="3236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Porch box label = 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048A8"/>
                </a:solidFill>
              </a:rPr>
              <a:t>“If it still says 10, replace it with 20.”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92440" y="3657600"/>
            <a:ext cx="0" cy="548640"/>
          </a:xfrm>
          <a:prstGeom prst="line">
            <a:avLst/>
          </a:prstGeom>
          <a:noFill/>
          <a:ln w="38100">
            <a:solidFill>
              <a:srgbClr val="7048A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95160" y="4370832"/>
            <a:ext cx="32004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4425696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48A8"/>
                </a:solidFill>
              </a:rPr>
              <a:t>Label becomes 20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52578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If somebody changed it first, leave it unchanged.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MPI_Compare_and_swap(): Arguments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97764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289304"/>
            <a:ext cx="364845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MPI_Compare_and_swap(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compare_addr,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datatype,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target_rank,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target_disp,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800600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origin_addr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29400" y="12618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New value to write if comparison succeeds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0600" y="1892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compare_addr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1892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Expected value used for the comparison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0600" y="25237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result_addr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23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Origin-side buffer receiving the old target 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0600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Datatype of the single element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0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target_rank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785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Process whose window contains the target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00600" y="4416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44165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Location inside that target window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00600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5047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Window used for the operation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166360" y="5650992"/>
            <a:ext cx="5394960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5705856"/>
            <a:ext cx="5248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96"/>
                </a:solidFill>
              </a:rPr>
              <a:t>CAS operates on one target element.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MPI_Compare_and_swap():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0 changes Process 1 data from 10 to 20 only if it is still 10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8912" y="1078992"/>
            <a:ext cx="617220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225296"/>
            <a:ext cx="5843016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new_value = 20;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expected  = 10;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old_value = -1;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MPI_Win_lock(MPI_LOCK_SHARED, 1, 0, win);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MPI_Compare_and_swap(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&amp;new_value,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&amp;expected,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&amp;old_value,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MPI_INT,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          // target_rank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          // target_disp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MPI_Win_unlock(1, win);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6876288" y="1078992"/>
            <a:ext cx="4800600" cy="539496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417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A63"/>
                </a:solidFill>
              </a:rPr>
              <a:t>Assume Process 1 exposed: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1874520"/>
            <a:ext cx="356616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202082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 = 10;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2697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Comparison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69480" y="30632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data == expected  →  10 == 10  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88352" y="3840480"/>
            <a:ext cx="2057400" cy="548640"/>
          </a:xfrm>
          <a:prstGeom prst="roundRect">
            <a:avLst/>
          </a:prstGeom>
          <a:solidFill>
            <a:srgbClr val="E9F8F3"/>
          </a:solidFill>
          <a:ln w="12700">
            <a:solidFill>
              <a:srgbClr val="E9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1504" y="389534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8F77"/>
                </a:solidFill>
              </a:rPr>
              <a:t>P1 data = 20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0" y="3840480"/>
            <a:ext cx="1783080" cy="5486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74352" y="3895344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P0 old_value = 10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4736592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786"/>
                </a:solidFill>
              </a:rPr>
              <a:t>target_rank + target_disp + win identify the remote variable. Its C variable name does not appear in the CAS 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Question: Can the Old Value Be Stored on the Target?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A63"/>
                </a:solidFill>
              </a:rPr>
              <a:t>After MPI_Compare_and_swap(), can the returned old value be written directly into another variable inside the target process?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4800600" cy="3246120"/>
          </a:xfrm>
          <a:prstGeom prst="roundRect">
            <a:avLst>
              <a:gd name="adj" fmla="val 1690"/>
            </a:avLst>
          </a:prstGeom>
          <a:solidFill>
            <a:srgbClr val="FDEEEE"/>
          </a:solidFill>
          <a:ln w="12700">
            <a:solidFill>
              <a:srgbClr val="F2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57400" y="2587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3A3A"/>
                </a:solidFill>
              </a:rPr>
              <a:t>Not directly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3218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result_addr is a buffer in the origin process. CAS returns the old target value there.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240280"/>
            <a:ext cx="4800600" cy="3246120"/>
          </a:xfrm>
          <a:prstGeom prst="roundRect">
            <a:avLst>
              <a:gd name="adj" fmla="val 1690"/>
            </a:avLst>
          </a:prstGeom>
          <a:solidFill>
            <a:srgbClr val="E9F8F3"/>
          </a:solidFill>
          <a:ln w="12700">
            <a:solidFill>
              <a:srgbClr val="CD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25877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8F77"/>
                </a:solidFill>
              </a:rPr>
              <a:t>How to keep a target-side copy?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3720" y="318211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238"/>
                </a:solidFill>
              </a:rPr>
              <a:t>Use a separate RMA operation (for example MPI_Put) to store old_value into another exposed target location, or let the target process copy it locally.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0" y="47731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That extra copy is NOT part of the atomic compare-and-swap operation.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MPI_Fetch_and_op(): Fetch Old Value + Update Atomically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498348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63"/>
                </a:solidFill>
              </a:rPr>
              <a:t>Objective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4160520" cy="12618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48256"/>
            <a:ext cx="3831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= remote;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= remote OP local;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Returns the previous target value to the origin process.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315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Updates the same target location using one MPI operation.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7433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Useful for counters, ticket numbers, queues, and work distribution.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0" y="1078992"/>
            <a:ext cx="6053328" cy="4983480"/>
          </a:xfrm>
          <a:prstGeom prst="roundRect">
            <a:avLst>
              <a:gd name="adj" fmla="val 1101"/>
            </a:avLst>
          </a:prstGeom>
          <a:solidFill>
            <a:srgbClr val="E9F8F3"/>
          </a:solidFill>
          <a:ln w="12700">
            <a:solidFill>
              <a:srgbClr val="C8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1371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</a:rPr>
              <a:t>Analogy: count what is there, then add yours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43800" y="1993392"/>
            <a:ext cx="2240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2" y="2048256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10 packages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76288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5D96"/>
                </a:solidFill>
              </a:rPr>
              <a:t>You note: “There were 10.”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68512" y="3364992"/>
            <a:ext cx="0" cy="502920"/>
          </a:xfrm>
          <a:prstGeom prst="line">
            <a:avLst/>
          </a:prstGeom>
          <a:noFill/>
          <a:ln w="38100">
            <a:solidFill>
              <a:srgbClr val="148F7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4041648"/>
            <a:ext cx="26060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4096512"/>
            <a:ext cx="2459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8F77"/>
                </a:solidFill>
              </a:rPr>
              <a:t>Add 5 → now 15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66560" y="5010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old_value = 10, remote = 15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MPI_Fetch_and_op(): Arguments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886200" cy="4251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289304"/>
            <a:ext cx="3557016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MPI_Fetch_and_op(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datatype,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target_rank,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target_disp,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754880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origin_addr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29400" y="1261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Local value used in the remote update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1892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result_addr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1892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Origin-side buffer receiving the old target value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4880" y="25237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237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Datatype of the single element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target_rank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Process whose window contains the target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7856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Location inside that target window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54880" y="4416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44165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Operation such as MPI_SUM, MPI_REPLACE, MPI_NO_OP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54880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5047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Window used for the operation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212080" y="5650992"/>
            <a:ext cx="5120640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5705856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96"/>
                </a:solidFill>
              </a:rPr>
              <a:t>Fetch-and-op operates on one target element.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MPI_Fetch_and_op():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0 atomically increments Process 1's counter by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6172200" cy="5285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5296"/>
            <a:ext cx="5843016" cy="499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increment = 5;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old_value = -1;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MPI_Win_lock(MPI_LOCK_SHARED, 1, 0, win);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MPI_Fetch_and_op(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&amp;increment,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&amp;old_value,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MPI_INT,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          // target_rank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          // target_disp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MPI_SUM,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MPI_Win_unlock(1, win);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03720" y="1078992"/>
            <a:ext cx="4754880" cy="5285232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51192" y="1508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A63"/>
                </a:solidFill>
              </a:rPr>
              <a:t>Assume Process 1 counter = 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182880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34072" y="238658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old_value =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26880" y="2331720"/>
            <a:ext cx="1828800" cy="566928"/>
          </a:xfrm>
          <a:prstGeom prst="roundRect">
            <a:avLst/>
          </a:prstGeom>
          <a:solidFill>
            <a:srgbClr val="E9F8F3"/>
          </a:solidFill>
          <a:ln w="12700">
            <a:solidFill>
              <a:srgbClr val="E9F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00032" y="238658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8F77"/>
                </a:solidFill>
              </a:rPr>
              <a:t>counter = 15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3273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One atomic operation performs: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60920" y="3767328"/>
            <a:ext cx="3749040" cy="10241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391363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old_value = counter;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counter + 5;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315200" y="5138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786"/>
                </a:solidFill>
              </a:rPr>
              <a:t>Another process cannot interleave halfway through this atomic read–modify–write.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Question: Can Fetch-and-Op Return the Old Value to the Target?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29844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A63"/>
                </a:solidFill>
              </a:rPr>
              <a:t>Can MPI_Fetch_and_op() place its fetched old value directly into another location inside the target process?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212848"/>
            <a:ext cx="4709160" cy="3337560"/>
          </a:xfrm>
          <a:prstGeom prst="roundRect">
            <a:avLst>
              <a:gd name="adj" fmla="val 1644"/>
            </a:avLst>
          </a:prstGeom>
          <a:solidFill>
            <a:srgbClr val="FDEEEE"/>
          </a:solidFill>
          <a:ln w="12700">
            <a:solidFill>
              <a:srgbClr val="F2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78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3A3A"/>
                </a:solidFill>
              </a:rPr>
              <a:t>No — result_addr is local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32004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The fetched value is returned to the origin process that called MPI_Fetch_and_op().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212848"/>
            <a:ext cx="4709160" cy="3337560"/>
          </a:xfrm>
          <a:prstGeom prst="roundRect">
            <a:avLst>
              <a:gd name="adj" fmla="val 1644"/>
            </a:avLst>
          </a:prstGeom>
          <a:solidFill>
            <a:srgbClr val="E9F8F3"/>
          </a:solidFill>
          <a:ln w="12700">
            <a:solidFill>
              <a:srgbClr val="CD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578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8F77"/>
                </a:solidFill>
              </a:rPr>
              <a:t>To keep a target-side copy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3720" y="313639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238"/>
                </a:solidFill>
              </a:rPr>
              <a:t>Store the returned old_value with a separate operation, or have the target copy it itself. The extra copy is separate from the atomic fetch-and-op.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MPI_Win_lock(): Passive-Target RMA Epoch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 can access a specific target without a matching synchronization call at the target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617720" cy="4434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89304"/>
            <a:ext cx="4288536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MPI_Win_lock(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MPI_LOCK_SHARED,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1,     // target rank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     // assert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MPI_Fetch_and_op(... target_rank = 1 ...);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MPI_Win_unlock(1, win);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13248" y="1143000"/>
            <a:ext cx="62636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1572768"/>
            <a:ext cx="1874520" cy="50292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33872" y="162763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D96"/>
                </a:solidFill>
              </a:rPr>
              <a:t>Process 0 (origin)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464040" y="1572768"/>
            <a:ext cx="1874520" cy="502920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37192" y="162763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Process 1 (target)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2395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Win_lock(P1)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2542032"/>
            <a:ext cx="1874520" cy="0"/>
          </a:xfrm>
          <a:prstGeom prst="line">
            <a:avLst/>
          </a:prstGeom>
          <a:noFill/>
          <a:ln w="31750">
            <a:solidFill>
              <a:srgbClr val="1E5D9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8932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RMA operation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3328416"/>
            <a:ext cx="1874520" cy="0"/>
          </a:xfrm>
          <a:prstGeom prst="line">
            <a:avLst/>
          </a:prstGeom>
          <a:noFill/>
          <a:ln w="31750">
            <a:solidFill>
              <a:srgbClr val="148F7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8978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Win_unlock(P1)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4114800"/>
            <a:ext cx="1874520" cy="0"/>
          </a:xfrm>
          <a:prstGeom prst="line">
            <a:avLst/>
          </a:prstGeom>
          <a:noFill/>
          <a:ln w="31750">
            <a:solidFill>
              <a:srgbClr val="1E5D96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732520" y="46817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Target does not call a matching lock/unlock.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8155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786"/>
                </a:solidFill>
              </a:rPr>
              <a:t>MPI_LOCK_SHARED allows compatible concurrent lock epochs; MPI_LOCK_EXCLUSIVE requests exclusive access at that target.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MPI_Win_fence() vs MPI_Win_lock()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5440680" cy="5010912"/>
          </a:xfrm>
          <a:prstGeom prst="roundRect">
            <a:avLst>
              <a:gd name="adj" fmla="val 1095"/>
            </a:avLst>
          </a:prstGeom>
          <a:solidFill>
            <a:srgbClr val="EAF3FB"/>
          </a:solidFill>
          <a:ln w="12700">
            <a:solidFill>
              <a:srgbClr val="CF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81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Active-target synchronization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Collective over the window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All participating processes call the fence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5D96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Natural for bulk, phase-based RMA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25880" y="4599432"/>
            <a:ext cx="365760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4745736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RMA operations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fence();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5440680" cy="5010912"/>
          </a:xfrm>
          <a:prstGeom prst="roundRect">
            <a:avLst>
              <a:gd name="adj" fmla="val 1095"/>
            </a:avLst>
          </a:prstGeom>
          <a:solidFill>
            <a:srgbClr val="E9F8F3"/>
          </a:solidFill>
          <a:ln w="12700">
            <a:solidFill>
              <a:srgbClr val="C9E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481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MPI_Win_lock() / unlock()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Passive-target synchronization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606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Origin selects a specific target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1546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Target and unrelated processes need no matching call at that moment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9136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Natural for irregular / asynchronous RMA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4599432"/>
            <a:ext cx="365760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4745736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lock(P1);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RMA to P1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unlock(P1);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1945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Comparing the Three RMA Update APIs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2331720" cy="566928"/>
          </a:xfrm>
          <a:prstGeom prst="round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380744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325880"/>
            <a:ext cx="2834640" cy="566928"/>
          </a:xfrm>
          <a:prstGeom prst="round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99232" y="138074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Remote effect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25880"/>
            <a:ext cx="1920240" cy="566928"/>
          </a:xfrm>
          <a:prstGeom prst="round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33872" y="138074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Returns old value?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325880"/>
            <a:ext cx="1874520" cy="566928"/>
          </a:xfrm>
          <a:prstGeom prst="round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1380744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Conditional?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55480" y="1325880"/>
            <a:ext cx="1965960" cy="566928"/>
          </a:xfrm>
          <a:prstGeom prst="round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28632" y="138074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Typical 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011680"/>
            <a:ext cx="23317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112264"/>
            <a:ext cx="21854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MPI_Accumulate()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26080" y="2011680"/>
            <a:ext cx="2834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112264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= remote OP local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201168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112264"/>
            <a:ext cx="17739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011680"/>
            <a:ext cx="1874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2112264"/>
            <a:ext cx="17282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555480" y="2011680"/>
            <a:ext cx="1965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2112264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Aggregate/update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218688"/>
            <a:ext cx="2331720" cy="1207008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319272"/>
            <a:ext cx="21854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MPI_Fetch_and_op()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926080" y="3218688"/>
            <a:ext cx="2834640" cy="1207008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19272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= remote;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= remote OP local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0720" y="3218688"/>
            <a:ext cx="1920240" cy="1207008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3319272"/>
            <a:ext cx="17739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3218688"/>
            <a:ext cx="1874520" cy="1207008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54112" y="3319272"/>
            <a:ext cx="17282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555480" y="3218688"/>
            <a:ext cx="1965960" cy="1207008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28632" y="3319272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Counters / tickets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4425696"/>
            <a:ext cx="23317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4526280"/>
            <a:ext cx="21854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5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MPI_Compare_and_swap()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926080" y="4425696"/>
            <a:ext cx="28346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4526280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= remote;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remote == expected: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remote = new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4425696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4526280"/>
            <a:ext cx="17739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80960" y="4425696"/>
            <a:ext cx="1874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4526280"/>
            <a:ext cx="17282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555480" y="4425696"/>
            <a:ext cx="1965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28632" y="4526280"/>
            <a:ext cx="1819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Locks / ownership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97280" y="5440680"/>
            <a:ext cx="1417320" cy="384048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70432" y="549554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Memory aid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97480" y="54132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23A63"/>
                </a:solidFill>
              </a:rPr>
              <a:t>Accumulate = update  |  Fetch-and-op = fetch + update  |  Compare-and-swap = compare + conditional update</a:t>
            </a:r>
            <a:endParaRPr lang="en-US" sz="1520" dirty="0"/>
          </a:p>
        </p:txBody>
      </p:sp>
      <p:sp>
        <p:nvSpPr>
          <p:cNvPr id="46" name="Text 44"/>
          <p:cNvSpPr/>
          <p:nvPr/>
        </p:nvSpPr>
        <p:spPr>
          <a:xfrm>
            <a:off x="1097280" y="6053328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786"/>
                </a:solidFill>
              </a:rPr>
              <a:t>All are RMA operations and must execute inside a valid RMA access epoch (for example fence or lock/unlock).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 One-Sided Communication — Class 2</dc:title>
  <dc:subject>CS455 MPI One-Sided Communication: Accumulate, Compare-and-Swap, Fetch-and-Op</dc:subject>
  <dc:creator>OpenAI</dc:creator>
  <cp:lastModifiedBy>OpenAI</cp:lastModifiedBy>
  <cp:revision>1</cp:revision>
  <dcterms:created xsi:type="dcterms:W3CDTF">2026-09-23T02:55:57Z</dcterms:created>
  <dcterms:modified xsi:type="dcterms:W3CDTF">2026-09-23T02:55:57Z</dcterms:modified>
</cp:coreProperties>
</file>